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4caaadd6454ffa" /><Relationship Type="http://schemas.openxmlformats.org/officeDocument/2006/relationships/extended-properties" Target="/docProps/app.xml" Id="R9023bb87c1c94b06" /><Relationship Type="http://schemas.openxmlformats.org/officeDocument/2006/relationships/officeDocument" Target="/ppt/presentation.xml" Id="R3a1fa8cab73f44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6a029045c144de"/>
  </p:sldMasterIdLst>
  <p:notesMasterIdLst>
    <p:notesMasterId xmlns:r="http://schemas.openxmlformats.org/officeDocument/2006/relationships" r:id="R52239c964e784d92"/>
  </p:notesMasterIdLst>
  <p:sldIdLst>
    <p:sldId xmlns:r="http://schemas.openxmlformats.org/officeDocument/2006/relationships" id="256" r:id="R1f7f5ac318f147ec"/>
    <p:sldId xmlns:r="http://schemas.openxmlformats.org/officeDocument/2006/relationships" id="257" r:id="Rc1543e3f96244fc4"/>
    <p:sldId xmlns:r="http://schemas.openxmlformats.org/officeDocument/2006/relationships" id="258" r:id="R5142d629ddc34764"/>
    <p:sldId xmlns:r="http://schemas.openxmlformats.org/officeDocument/2006/relationships" id="259" r:id="Rad2c63250ff04c3e"/>
    <p:sldId xmlns:r="http://schemas.openxmlformats.org/officeDocument/2006/relationships" id="260" r:id="R9231bc028e06428d"/>
    <p:sldId xmlns:r="http://schemas.openxmlformats.org/officeDocument/2006/relationships" id="261" r:id="Rd531c02ee2fe4c79"/>
    <p:sldId xmlns:r="http://schemas.openxmlformats.org/officeDocument/2006/relationships" id="262" r:id="R858c90c90fbe4184"/>
    <p:sldId xmlns:r="http://schemas.openxmlformats.org/officeDocument/2006/relationships" id="263" r:id="R0e16abfb074a473e"/>
    <p:sldId xmlns:r="http://schemas.openxmlformats.org/officeDocument/2006/relationships" id="264" r:id="Rf72bee9069014962"/>
    <p:sldId xmlns:r="http://schemas.openxmlformats.org/officeDocument/2006/relationships" id="265" r:id="R1c55baf123fe413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d5b92ca6d94f84" /><Relationship Type="http://schemas.openxmlformats.org/officeDocument/2006/relationships/slideMaster" Target="/ppt/slideMasters/slideMaster1.xml" Id="R726a029045c144de" /><Relationship Type="http://schemas.openxmlformats.org/officeDocument/2006/relationships/notesMaster" Target="/ppt/notesMasters/notesMaster1.xml" Id="R52239c964e784d92" /><Relationship Type="http://schemas.openxmlformats.org/officeDocument/2006/relationships/presProps" Target="/ppt/presProps.xml" Id="Rf8623a0c02e542dc" /><Relationship Type="http://schemas.openxmlformats.org/officeDocument/2006/relationships/tableStyles" Target="/ppt/tableStyles.xml" Id="Rdff995ca63584841" /><Relationship Type="http://schemas.openxmlformats.org/officeDocument/2006/relationships/slide" Target="/ppt/slides/slide1.xml" Id="R1f7f5ac318f147ec" /><Relationship Type="http://schemas.openxmlformats.org/officeDocument/2006/relationships/slide" Target="/ppt/slides/slide2.xml" Id="Rc1543e3f96244fc4" /><Relationship Type="http://schemas.openxmlformats.org/officeDocument/2006/relationships/slide" Target="/ppt/slides/slide3.xml" Id="R5142d629ddc34764" /><Relationship Type="http://schemas.openxmlformats.org/officeDocument/2006/relationships/slide" Target="/ppt/slides/slide4.xml" Id="Rad2c63250ff04c3e" /><Relationship Type="http://schemas.openxmlformats.org/officeDocument/2006/relationships/slide" Target="/ppt/slides/slide5.xml" Id="R9231bc028e06428d" /><Relationship Type="http://schemas.openxmlformats.org/officeDocument/2006/relationships/slide" Target="/ppt/slides/slide6.xml" Id="Rd531c02ee2fe4c79" /><Relationship Type="http://schemas.openxmlformats.org/officeDocument/2006/relationships/slide" Target="/ppt/slides/slide7.xml" Id="R858c90c90fbe4184" /><Relationship Type="http://schemas.openxmlformats.org/officeDocument/2006/relationships/slide" Target="/ppt/slides/slide8.xml" Id="R0e16abfb074a473e" /><Relationship Type="http://schemas.openxmlformats.org/officeDocument/2006/relationships/slide" Target="/ppt/slides/slide9.xml" Id="Rf72bee9069014962" /><Relationship Type="http://schemas.openxmlformats.org/officeDocument/2006/relationships/slide" Target="/ppt/slides/slide10.xml" Id="R1c55baf123fe41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0ba1525a68f4a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4d5298fb2247fb" /><Relationship Type="http://schemas.openxmlformats.org/officeDocument/2006/relationships/notesMaster" Target="/ppt/notesMasters/notesMaster1.xml" Id="R5ca5f6e326e7458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e2238395624937" /><Relationship Type="http://schemas.openxmlformats.org/officeDocument/2006/relationships/notesMaster" Target="/ppt/notesMasters/notesMaster1.xml" Id="R4ba9ddf650eb4a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d6363fac9d4f7f" /><Relationship Type="http://schemas.openxmlformats.org/officeDocument/2006/relationships/notesMaster" Target="/ppt/notesMasters/notesMaster1.xml" Id="Re42e29069ee64f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56b013e25e4485" /><Relationship Type="http://schemas.openxmlformats.org/officeDocument/2006/relationships/notesMaster" Target="/ppt/notesMasters/notesMaster1.xml" Id="R0b0a152a03574a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e58256ed3a4ba0" /><Relationship Type="http://schemas.openxmlformats.org/officeDocument/2006/relationships/notesMaster" Target="/ppt/notesMasters/notesMaster1.xml" Id="R7b728efd405d48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f19689599a4e87" /><Relationship Type="http://schemas.openxmlformats.org/officeDocument/2006/relationships/notesMaster" Target="/ppt/notesMasters/notesMaster1.xml" Id="R3f1673a4632746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b01c36695d49ac" /><Relationship Type="http://schemas.openxmlformats.org/officeDocument/2006/relationships/notesMaster" Target="/ppt/notesMasters/notesMaster1.xml" Id="R22d0512e8b764d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4c564b54ad4fde" /><Relationship Type="http://schemas.openxmlformats.org/officeDocument/2006/relationships/notesMaster" Target="/ppt/notesMasters/notesMaster1.xml" Id="R609ad89b123d43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4883240a0cb4598" /><Relationship Type="http://schemas.openxmlformats.org/officeDocument/2006/relationships/notesMaster" Target="/ppt/notesMasters/notesMaster1.xml" Id="R7b469332ed624f7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cff536c93a4308" /><Relationship Type="http://schemas.openxmlformats.org/officeDocument/2006/relationships/notesMaster" Target="/ppt/notesMasters/notesMaster1.xml" Id="R20a4bc5fdc6241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D:/texpo/logging-worker/device-event-worker/src (implementation inspected on 2026-08-26)</a:t>
            </a:r>
          </a:p>
          <a:p xmlns:a="http://schemas.openxmlformats.org/drawingml/2006/main">
            <a:r>
              <a:t>- D:/texpo/logging-worker/device-event-worker/docs/Device-Event-History-Architecture.md</a:t>
            </a:r>
          </a:p>
          <a:p xmlns:a="http://schemas.openxmlformats.org/drawingml/2006/main">
            <a:r>
              <a:t>- D:/texpo/logging-worker/device-event-worker/docs/Device-Event-History-Design.md</a:t>
            </a:r>
          </a:p>
          <a:p xmlns:a="http://schemas.openxmlformats.org/drawingml/2006/main">
            <a:r>
              <a:t>- D:/texpo/logging-worker/device-event-worker/docs/Device-Event-History-Current-Codebase.md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Cover slide for the current implementation-focused architecture visualization.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D:/texpo/logging-worker/device-event-worker/src (implementation inspected on 2026-08-26)</a:t>
            </a:r>
          </a:p>
          <a:p xmlns:a="http://schemas.openxmlformats.org/drawingml/2006/main">
            <a:r>
              <a:t>- D:/texpo/logging-worker/device-event-worker/docs/Device-Event-History-Architecture.md</a:t>
            </a:r>
          </a:p>
          <a:p xmlns:a="http://schemas.openxmlformats.org/drawingml/2006/main">
            <a:r>
              <a:t>- D:/texpo/logging-worker/device-event-worker/docs/Device-Event-History-Design.md</a:t>
            </a:r>
          </a:p>
          <a:p xmlns:a="http://schemas.openxmlformats.org/drawingml/2006/main">
            <a:r>
              <a:t>- D:/texpo/logging-worker/device-event-worker/docs/Device-Event-History-Current-Codebase.md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slide separates the implemented Sprint 1 vertical slice from future transport and product capabilities.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D:/texpo/logging-worker/device-event-worker/src (implementation inspected on 2026-08-26)</a:t>
            </a:r>
          </a:p>
          <a:p xmlns:a="http://schemas.openxmlformats.org/drawingml/2006/main">
            <a:r>
              <a:t>- D:/texpo/logging-worker/device-event-worker/docs/Device-Event-History-Architecture.md</a:t>
            </a:r>
          </a:p>
          <a:p xmlns:a="http://schemas.openxmlformats.org/drawingml/2006/main">
            <a:r>
              <a:t>- D:/texpo/logging-worker/device-event-worker/docs/Device-Event-History-Design.md</a:t>
            </a:r>
          </a:p>
          <a:p xmlns:a="http://schemas.openxmlformats.org/drawingml/2006/main">
            <a:r>
              <a:t>- D:/texpo/logging-worker/device-event-worker/docs/Device-Event-History-Current-Codebase.md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Project dependency and responsibilities reflect the current solution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D:/texpo/logging-worker/device-event-worker/src (implementation inspected on 2026-08-26)</a:t>
            </a:r>
          </a:p>
          <a:p xmlns:a="http://schemas.openxmlformats.org/drawingml/2006/main">
            <a:r>
              <a:t>- D:/texpo/logging-worker/device-event-worker/docs/Device-Event-History-Architecture.md</a:t>
            </a:r>
          </a:p>
          <a:p xmlns:a="http://schemas.openxmlformats.org/drawingml/2006/main">
            <a:r>
              <a:t>- D:/texpo/logging-worker/device-event-worker/docs/Device-Event-History-Design.md</a:t>
            </a:r>
          </a:p>
          <a:p xmlns:a="http://schemas.openxmlformats.org/drawingml/2006/main">
            <a:r>
              <a:t>- D:/texpo/logging-worker/device-event-worker/docs/Device-Event-History-Current-Codebase.md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Runtime context for the implemented raw-log path and its persistence boundary.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D:/texpo/logging-worker/device-event-worker/src (implementation inspected on 2026-08-26)</a:t>
            </a:r>
          </a:p>
          <a:p xmlns:a="http://schemas.openxmlformats.org/drawingml/2006/main">
            <a:r>
              <a:t>- D:/texpo/logging-worker/device-event-worker/docs/Device-Event-History-Architecture.md</a:t>
            </a:r>
          </a:p>
          <a:p xmlns:a="http://schemas.openxmlformats.org/drawingml/2006/main">
            <a:r>
              <a:t>- D:/texpo/logging-worker/device-event-worker/docs/Device-Event-History-Design.md</a:t>
            </a:r>
          </a:p>
          <a:p xmlns:a="http://schemas.openxmlformats.org/drawingml/2006/main">
            <a:r>
              <a:t>- D:/texpo/logging-worker/device-event-worker/docs/Device-Event-History-Current-Codebase.md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Startup order and options validation are taken from Program.cs, ServiceCollectionExtensions, and hosted services.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D:/texpo/logging-worker/device-event-worker/src (implementation inspected on 2026-08-26)</a:t>
            </a:r>
          </a:p>
          <a:p xmlns:a="http://schemas.openxmlformats.org/drawingml/2006/main">
            <a:r>
              <a:t>- D:/texpo/logging-worker/device-event-worker/docs/Device-Event-History-Architecture.md</a:t>
            </a:r>
          </a:p>
          <a:p xmlns:a="http://schemas.openxmlformats.org/drawingml/2006/main">
            <a:r>
              <a:t>- D:/texpo/logging-worker/device-event-worker/docs/Device-Event-History-Design.md</a:t>
            </a:r>
          </a:p>
          <a:p xmlns:a="http://schemas.openxmlformats.org/drawingml/2006/main">
            <a:r>
              <a:t>- D:/texpo/logging-worker/device-event-worker/docs/Device-Event-History-Current-Codebase.md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Discovery and remote/local read paths reflect the current adapter abstractions and configuration.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D:/texpo/logging-worker/device-event-worker/src (implementation inspected on 2026-08-26)</a:t>
            </a:r>
          </a:p>
          <a:p xmlns:a="http://schemas.openxmlformats.org/drawingml/2006/main">
            <a:r>
              <a:t>- D:/texpo/logging-worker/device-event-worker/docs/Device-Event-History-Architecture.md</a:t>
            </a:r>
          </a:p>
          <a:p xmlns:a="http://schemas.openxmlformats.org/drawingml/2006/main">
            <a:r>
              <a:t>- D:/texpo/logging-worker/device-event-worker/docs/Device-Event-History-Design.md</a:t>
            </a:r>
          </a:p>
          <a:p xmlns:a="http://schemas.openxmlformats.org/drawingml/2006/main">
            <a:r>
              <a:t>- D:/texpo/logging-worker/device-event-worker/docs/Device-Event-History-Current-Codebase.md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Parser, canonical mapper, and persistence responsibilities reflect the current Application and Infrastructure code.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D:/texpo/logging-worker/device-event-worker/src (implementation inspected on 2026-08-26)</a:t>
            </a:r>
          </a:p>
          <a:p xmlns:a="http://schemas.openxmlformats.org/drawingml/2006/main">
            <a:r>
              <a:t>- D:/texpo/logging-worker/device-event-worker/docs/Device-Event-History-Architecture.md</a:t>
            </a:r>
          </a:p>
          <a:p xmlns:a="http://schemas.openxmlformats.org/drawingml/2006/main">
            <a:r>
              <a:t>- D:/texpo/logging-worker/device-event-worker/docs/Device-Event-History-Design.md</a:t>
            </a:r>
          </a:p>
          <a:p xmlns:a="http://schemas.openxmlformats.org/drawingml/2006/main">
            <a:r>
              <a:t>- D:/texpo/logging-worker/device-event-worker/docs/Device-Event-History-Current-Codebase.md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slide emphasizes the write-before-checkpoint invariant and restart behavior.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D:/texpo/logging-worker/device-event-worker/src (implementation inspected on 2026-08-26)</a:t>
            </a:r>
          </a:p>
          <a:p xmlns:a="http://schemas.openxmlformats.org/drawingml/2006/main">
            <a:r>
              <a:t>- D:/texpo/logging-worker/device-event-worker/docs/Device-Event-History-Architecture.md</a:t>
            </a:r>
          </a:p>
          <a:p xmlns:a="http://schemas.openxmlformats.org/drawingml/2006/main">
            <a:r>
              <a:t>- D:/texpo/logging-worker/device-event-worker/docs/Device-Event-History-Design.md</a:t>
            </a:r>
          </a:p>
          <a:p xmlns:a="http://schemas.openxmlformats.org/drawingml/2006/main">
            <a:r>
              <a:t>- D:/texpo/logging-worker/device-event-worker/docs/Device-Event-History-Current-Codebase.md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Scheduling, observability, and current operational limitations reflect the existing Worker implementation.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D:/texpo/logging-worker/device-event-worker/src (implementation inspected on 2026-08-26)</a:t>
            </a:r>
          </a:p>
          <a:p xmlns:a="http://schemas.openxmlformats.org/drawingml/2006/main">
            <a:r>
              <a:t>- D:/texpo/logging-worker/device-event-worker/docs/Device-Event-History-Architecture.md</a:t>
            </a:r>
          </a:p>
          <a:p xmlns:a="http://schemas.openxmlformats.org/drawingml/2006/main">
            <a:r>
              <a:t>- D:/texpo/logging-worker/device-event-worker/docs/Device-Event-History-Design.md</a:t>
            </a:r>
          </a:p>
          <a:p xmlns:a="http://schemas.openxmlformats.org/drawingml/2006/main">
            <a:r>
              <a:t>- D:/texpo/logging-worker/device-event-worker/docs/Device-Event-History-Current-Codebase.md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extension map names the current seams for future work and preserves the reliability invariant.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5967e222c54cf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63081383ee4c12" /><Relationship Type="http://schemas.openxmlformats.org/officeDocument/2006/relationships/slideLayout" Target="/ppt/slideLayouts/slideLayout1.xml" Id="R5348ab0221a44b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48ab0221a44b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4ba02a342459a" /><Relationship Type="http://schemas.openxmlformats.org/officeDocument/2006/relationships/notesSlide" Target="/ppt/notesSlides/notesSlide1.xml" Id="Ra051381df9a04d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8ca65cfe1a4016" /><Relationship Type="http://schemas.openxmlformats.org/officeDocument/2006/relationships/notesSlide" Target="/ppt/notesSlides/notesSlide2.xml" Id="Rf171747c48df42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e0ebfa3c6042fd" /><Relationship Type="http://schemas.openxmlformats.org/officeDocument/2006/relationships/notesSlide" Target="/ppt/notesSlides/notesSlide3.xml" Id="Rc4f116573b144a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19187396b84b16" /><Relationship Type="http://schemas.openxmlformats.org/officeDocument/2006/relationships/notesSlide" Target="/ppt/notesSlides/notesSlide4.xml" Id="Rb5527f742c3d4d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6fea3fe21548e6" /><Relationship Type="http://schemas.openxmlformats.org/officeDocument/2006/relationships/notesSlide" Target="/ppt/notesSlides/notesSlide5.xml" Id="Rfdf17188c44249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c32c557264b2f" /><Relationship Type="http://schemas.openxmlformats.org/officeDocument/2006/relationships/notesSlide" Target="/ppt/notesSlides/notesSlide6.xml" Id="R29b86513a3954f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df8e10ac254a3b" /><Relationship Type="http://schemas.openxmlformats.org/officeDocument/2006/relationships/notesSlide" Target="/ppt/notesSlides/notesSlide7.xml" Id="R9094b06f2839498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afc88e7e04871" /><Relationship Type="http://schemas.openxmlformats.org/officeDocument/2006/relationships/notesSlide" Target="/ppt/notesSlides/notesSlide8.xml" Id="Rdde14295abf349b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6d61f5a9d54671" /><Relationship Type="http://schemas.openxmlformats.org/officeDocument/2006/relationships/notesSlide" Target="/ppt/notesSlides/notesSlide9.xml" Id="R8c154109201a48d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4fa0cebf1b46d3" /><Relationship Type="http://schemas.openxmlformats.org/officeDocument/2006/relationships/notesSlide" Target="/ppt/notesSlides/notesSlide10.xml" Id="R92dfbb9eeb214b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over-bar">
            <a:extLst xmlns:a="http://schemas.openxmlformats.org/drawingml/2006/main">
              <a:ext uri="{FF2B5EF4-FFF2-40B4-BE49-F238E27FC236}">
                <a16:creationId xmlns:a16="http://schemas.microsoft.com/office/drawing/2014/main" id="{D9F337AC-D32C-476F-8F10-53EF0057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0"/>
            <a:ext cx="76200" cy="685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98"/>
          </a:solidFill>
          <a:ln xmlns:a="http://schemas.openxmlformats.org/drawingml/2006/main" w="9525">
            <a:solidFill>
              <a:srgbClr val="159A98"/>
            </a:solidFill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B9192012-6026-4574-B6DA-CEA5F54E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763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9A9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9A98"/>
                </a:solidFill>
                <a:latin typeface="Aptos"/>
                <a:ea typeface="Aptos"/>
                <a:cs typeface="Aptos"/>
              </a:rPr>
              <a:t>DEVICE EVENT HISTORY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9CB79A6-0F16-47C3-87D9-76326D6D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Design &amp; Architecture</a:t>
            </a:r>
          </a:p>
          <a:p xmlns:a="http://schemas.openxmlformats.org/drawingml/2006/main">
            <a:pPr algn="l">
              <a:defRPr sz="270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Visualize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3718107-3F76-4D21-B068-9972C6E5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28900"/>
            <a:ext cx="466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Codebase hiện tại của raw-log Worker: từ file RFID.Antenna đến MongoDB.</a:t>
            </a:r>
          </a:p>
        </p:txBody>
      </p:sp>
      <p:sp>
        <p:nvSpPr>
          <p:cNvPr id="5" name="cover-architecture">
            <a:extLst xmlns:a="http://schemas.openxmlformats.org/drawingml/2006/main">
              <a:ext uri="{FF2B5EF4-FFF2-40B4-BE49-F238E27FC236}">
                <a16:creationId xmlns:a16="http://schemas.microsoft.com/office/drawing/2014/main" id="{C2449519-9DD6-4B73-88D7-88243B43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066800"/>
            <a:ext cx="2857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5EFF7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6" name="cover-architecture-title">
            <a:extLst xmlns:a="http://schemas.openxmlformats.org/drawingml/2006/main">
              <a:ext uri="{FF2B5EF4-FFF2-40B4-BE49-F238E27FC236}">
                <a16:creationId xmlns:a16="http://schemas.microsoft.com/office/drawing/2014/main" id="{0E2B979E-131F-4B50-9DB7-13B9BCA7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181100"/>
            <a:ext cx="2628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ARCHITECTURE</a:t>
            </a:r>
          </a:p>
        </p:txBody>
      </p:sp>
      <p:sp>
        <p:nvSpPr>
          <p:cNvPr id="7" name="cover-architecture-detail">
            <a:extLst xmlns:a="http://schemas.openxmlformats.org/drawingml/2006/main">
              <a:ext uri="{FF2B5EF4-FFF2-40B4-BE49-F238E27FC236}">
                <a16:creationId xmlns:a16="http://schemas.microsoft.com/office/drawing/2014/main" id="{F3ED6F59-FD0F-484B-8148-F8B939E3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504950"/>
            <a:ext cx="2590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Ranh giới, runtime, reliability</a:t>
            </a:r>
          </a:p>
        </p:txBody>
      </p:sp>
      <p:sp>
        <p:nvSpPr>
          <p:cNvPr id="8" name="cover-design">
            <a:extLst xmlns:a="http://schemas.openxmlformats.org/drawingml/2006/main">
              <a:ext uri="{FF2B5EF4-FFF2-40B4-BE49-F238E27FC236}">
                <a16:creationId xmlns:a16="http://schemas.microsoft.com/office/drawing/2014/main" id="{CE986549-053A-4875-B98D-303FC0B0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2857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3F4F1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9" name="cover-design-title">
            <a:extLst xmlns:a="http://schemas.openxmlformats.org/drawingml/2006/main">
              <a:ext uri="{FF2B5EF4-FFF2-40B4-BE49-F238E27FC236}">
                <a16:creationId xmlns:a16="http://schemas.microsoft.com/office/drawing/2014/main" id="{D2C0CF7B-7A67-4650-B32D-7963467D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09800"/>
            <a:ext cx="2628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DESIGN</a:t>
            </a:r>
          </a:p>
        </p:txBody>
      </p:sp>
      <p:sp>
        <p:nvSpPr>
          <p:cNvPr id="10" name="cover-design-detail">
            <a:extLst xmlns:a="http://schemas.openxmlformats.org/drawingml/2006/main">
              <a:ext uri="{FF2B5EF4-FFF2-40B4-BE49-F238E27FC236}">
                <a16:creationId xmlns:a16="http://schemas.microsoft.com/office/drawing/2014/main" id="{4D0A7532-3C9D-424A-876A-D68AF86C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33650"/>
            <a:ext cx="2590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Luồng tail → parse → persist</a:t>
            </a:r>
          </a:p>
        </p:txBody>
      </p:sp>
      <p:sp>
        <p:nvSpPr>
          <p:cNvPr id="11" name="cover-scope">
            <a:extLst xmlns:a="http://schemas.openxmlformats.org/drawingml/2006/main">
              <a:ext uri="{FF2B5EF4-FFF2-40B4-BE49-F238E27FC236}">
                <a16:creationId xmlns:a16="http://schemas.microsoft.com/office/drawing/2014/main" id="{0A6DB0F3-2A25-42A9-A620-71B39DC0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24200"/>
            <a:ext cx="2857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2" name="cover-scope-title">
            <a:extLst xmlns:a="http://schemas.openxmlformats.org/drawingml/2006/main">
              <a:ext uri="{FF2B5EF4-FFF2-40B4-BE49-F238E27FC236}">
                <a16:creationId xmlns:a16="http://schemas.microsoft.com/office/drawing/2014/main" id="{DD041D17-704E-4E08-9CD4-B7DD5C9F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38500"/>
            <a:ext cx="2628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SCOPE</a:t>
            </a:r>
          </a:p>
        </p:txBody>
      </p:sp>
      <p:sp>
        <p:nvSpPr>
          <p:cNvPr id="13" name="cover-scope-detail">
            <a:extLst xmlns:a="http://schemas.openxmlformats.org/drawingml/2006/main">
              <a:ext uri="{FF2B5EF4-FFF2-40B4-BE49-F238E27FC236}">
                <a16:creationId xmlns:a16="http://schemas.microsoft.com/office/drawing/2014/main" id="{C8748605-196C-472F-915C-22AFB365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62350"/>
            <a:ext cx="2590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Phase 1A / Sprint 1</a:t>
            </a:r>
          </a:p>
        </p:txBody>
      </p:sp>
      <p:sp>
        <p:nvSpPr>
          <p:cNvPr id="14" name="cover-caption">
            <a:extLst xmlns:a="http://schemas.openxmlformats.org/drawingml/2006/main">
              <a:ext uri="{FF2B5EF4-FFF2-40B4-BE49-F238E27FC236}">
                <a16:creationId xmlns:a16="http://schemas.microsoft.com/office/drawing/2014/main" id="{F63C53B7-5144-41A6-8134-31BC1CD2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504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Tài liệu trực quan cho developer tiếp tục mở rộng source.</a:t>
            </a:r>
          </a:p>
        </p:txBody>
      </p:sp>
      <p:sp>
        <p:nvSpPr>
          <p:cNvPr id="15" name="cover-phase">
            <a:extLst xmlns:a="http://schemas.openxmlformats.org/drawingml/2006/main">
              <a:ext uri="{FF2B5EF4-FFF2-40B4-BE49-F238E27FC236}">
                <a16:creationId xmlns:a16="http://schemas.microsoft.com/office/drawing/2014/main" id="{00E0A4EF-E0F8-45A6-A73A-9B07012B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198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9A9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9A98"/>
                </a:solidFill>
                <a:latin typeface="Aptos"/>
                <a:ea typeface="Aptos"/>
                <a:cs typeface="Aptos"/>
              </a:rPr>
              <a:t>PHASE 1 / SPRINT 1</a:t>
            </a:r>
          </a:p>
        </p:txBody>
      </p:sp>
      <p:sp>
        <p:nvSpPr>
          <p:cNvPr id="16" name="cover-date">
            <a:extLst xmlns:a="http://schemas.openxmlformats.org/drawingml/2006/main">
              <a:ext uri="{FF2B5EF4-FFF2-40B4-BE49-F238E27FC236}">
                <a16:creationId xmlns:a16="http://schemas.microsoft.com/office/drawing/2014/main" id="{0FC7BDAD-CD2D-46C0-A421-03D76B42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103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Implementation snapshot • 2026-08-26</a:t>
            </a:r>
          </a:p>
        </p:txBody>
      </p:sp>
    </p:spTree>
    <p:extLst>
      <p:ext uri="{BB962C8B-B14F-4D97-AF65-F5344CB8AC3E}">
        <p14:creationId xmlns:p14="http://schemas.microsoft.com/office/powerpoint/2010/main" val="9032746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433F815E-F7E7-49F3-ACE4-9323B17A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9A9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9A98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AC1958-5DF2-407D-992A-9D7F9036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Sprint 1 có một đường đi trung tâm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310ED67-F656-4AF4-AC7F-28D48AF0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38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Raw-log ingestion đã là vertical slice hiện tại; AppHub/SignalR vẫn là hướng mở rộng sau.</a:t>
            </a:r>
          </a:p>
        </p:txBody>
      </p:sp>
      <p:sp>
        <p:nvSpPr>
          <p:cNvPr id="4" name="slide-version">
            <a:extLst xmlns:a="http://schemas.openxmlformats.org/drawingml/2006/main">
              <a:ext uri="{FF2B5EF4-FFF2-40B4-BE49-F238E27FC236}">
                <a16:creationId xmlns:a16="http://schemas.microsoft.com/office/drawing/2014/main" id="{3EECBBD9-5A46-43BA-9856-0426C44D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8575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E7D8B"/>
                </a:solidFill>
                <a:latin typeface="Aptos"/>
                <a:ea typeface="Aptos"/>
                <a:cs typeface="Aptos"/>
              </a:rPr>
              <a:t>VISUALIZE • 02/10</a:t>
            </a:r>
          </a:p>
        </p:txBody>
      </p:sp>
      <p:sp>
        <p:nvSpPr>
          <p:cNvPr id="5" name="scope-current">
            <a:extLst xmlns:a="http://schemas.openxmlformats.org/drawingml/2006/main">
              <a:ext uri="{FF2B5EF4-FFF2-40B4-BE49-F238E27FC236}">
                <a16:creationId xmlns:a16="http://schemas.microsoft.com/office/drawing/2014/main" id="{EAB838D9-F3DC-4828-B705-F17757D7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31432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3F4F1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6" name="scope-current-title">
            <a:extLst xmlns:a="http://schemas.openxmlformats.org/drawingml/2006/main">
              <a:ext uri="{FF2B5EF4-FFF2-40B4-BE49-F238E27FC236}">
                <a16:creationId xmlns:a16="http://schemas.microsoft.com/office/drawing/2014/main" id="{014ADC73-BE08-4DDC-9EF2-57094C20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2914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9A98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9A98"/>
                </a:solidFill>
                <a:latin typeface="Georgia"/>
                <a:ea typeface="Georgia"/>
                <a:cs typeface="Georgia"/>
              </a:rPr>
              <a:t>ĐÃ CÓ • PHASE 1A</a:t>
            </a:r>
          </a:p>
        </p:txBody>
      </p:sp>
      <p:sp>
        <p:nvSpPr>
          <p:cNvPr id="7" name="scope-current-detail">
            <a:extLst xmlns:a="http://schemas.openxmlformats.org/drawingml/2006/main">
              <a:ext uri="{FF2B5EF4-FFF2-40B4-BE49-F238E27FC236}">
                <a16:creationId xmlns:a16="http://schemas.microsoft.com/office/drawing/2014/main" id="{E0B95717-1A46-464A-97CA-F56117FD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28765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RFID.Antenna raw files</a:t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Local hoặc Remote HTTP</a:t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Tail + e(0) framing</a:t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Parser + canonical mapping</a:t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Mongo history/failure/checkpoint</a:t>
            </a:r>
          </a:p>
        </p:txBody>
      </p:sp>
      <p:sp>
        <p:nvSpPr>
          <p:cNvPr id="8" name="scope-arrow-1">
            <a:extLst xmlns:a="http://schemas.openxmlformats.org/drawingml/2006/main">
              <a:ext uri="{FF2B5EF4-FFF2-40B4-BE49-F238E27FC236}">
                <a16:creationId xmlns:a16="http://schemas.microsoft.com/office/drawing/2014/main" id="{E72E5C68-F75F-4673-A58B-AA2A94C5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590800"/>
            <a:ext cx="7048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59A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cope-center">
            <a:extLst xmlns:a="http://schemas.openxmlformats.org/drawingml/2006/main">
              <a:ext uri="{FF2B5EF4-FFF2-40B4-BE49-F238E27FC236}">
                <a16:creationId xmlns:a16="http://schemas.microsoft.com/office/drawing/2014/main" id="{E15F1494-A138-4CCA-B0E6-DF6B7D2C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09750"/>
            <a:ext cx="31432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5EFF7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0" name="scope-center-title">
            <a:extLst xmlns:a="http://schemas.openxmlformats.org/drawingml/2006/main">
              <a:ext uri="{FF2B5EF4-FFF2-40B4-BE49-F238E27FC236}">
                <a16:creationId xmlns:a16="http://schemas.microsoft.com/office/drawing/2014/main" id="{F1488A28-D0F7-4B4E-81E0-12822DA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924050"/>
            <a:ext cx="2914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VERTICAL SLICE</a:t>
            </a:r>
          </a:p>
        </p:txBody>
      </p:sp>
      <p:sp>
        <p:nvSpPr>
          <p:cNvPr id="11" name="scope-center-detail">
            <a:extLst xmlns:a="http://schemas.openxmlformats.org/drawingml/2006/main">
              <a:ext uri="{FF2B5EF4-FFF2-40B4-BE49-F238E27FC236}">
                <a16:creationId xmlns:a16="http://schemas.microsoft.com/office/drawing/2014/main" id="{D297E21A-E89B-47E4-9C4E-BDD3958C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47900"/>
            <a:ext cx="28765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DeviceEventHistory.Worker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Configuration → orchestration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→ persistence → recovery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Source of truth: raw file + Mongo checkpoint</a:t>
            </a:r>
          </a:p>
        </p:txBody>
      </p:sp>
      <p:sp>
        <p:nvSpPr>
          <p:cNvPr id="12" name="scope-arrow-2">
            <a:extLst xmlns:a="http://schemas.openxmlformats.org/drawingml/2006/main">
              <a:ext uri="{FF2B5EF4-FFF2-40B4-BE49-F238E27FC236}">
                <a16:creationId xmlns:a16="http://schemas.microsoft.com/office/drawing/2014/main" id="{02A7725E-F517-498F-9B3E-1F1758EB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90800"/>
            <a:ext cx="7048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DA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cope-next">
            <a:extLst xmlns:a="http://schemas.openxmlformats.org/drawingml/2006/main">
              <a:ext uri="{FF2B5EF4-FFF2-40B4-BE49-F238E27FC236}">
                <a16:creationId xmlns:a16="http://schemas.microsoft.com/office/drawing/2014/main" id="{52EC1C21-8A6E-41F0-8653-0433B5D2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09750"/>
            <a:ext cx="23812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4" name="scope-next-title">
            <a:extLst xmlns:a="http://schemas.openxmlformats.org/drawingml/2006/main">
              <a:ext uri="{FF2B5EF4-FFF2-40B4-BE49-F238E27FC236}">
                <a16:creationId xmlns:a16="http://schemas.microsoft.com/office/drawing/2014/main" id="{2EFFDA6A-62B1-4DED-856D-0CA3DFC8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24050"/>
            <a:ext cx="2152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DA13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DA13A"/>
                </a:solidFill>
                <a:latin typeface="Georgia"/>
                <a:ea typeface="Georgia"/>
                <a:cs typeface="Georgia"/>
              </a:rPr>
              <a:t>SAU NÀY</a:t>
            </a:r>
          </a:p>
        </p:txBody>
      </p:sp>
      <p:sp>
        <p:nvSpPr>
          <p:cNvPr id="15" name="scope-next-detail">
            <a:extLst xmlns:a="http://schemas.openxmlformats.org/drawingml/2006/main">
              <a:ext uri="{FF2B5EF4-FFF2-40B4-BE49-F238E27FC236}">
                <a16:creationId xmlns:a16="http://schemas.microsoft.com/office/drawing/2014/main" id="{4EB1212F-5580-404F-9EF2-998848F0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247900"/>
            <a:ext cx="21145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AppHub adapter</a:t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Direct publisher</a:t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Projections / dashboard</a:t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Multi-worker lease</a:t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HTTP health endpoint</a:t>
            </a:r>
          </a:p>
        </p:txBody>
      </p:sp>
      <p:sp>
        <p:nvSpPr>
          <p:cNvPr id="16" name="scope-band">
            <a:extLst xmlns:a="http://schemas.openxmlformats.org/drawingml/2006/main">
              <a:ext uri="{FF2B5EF4-FFF2-40B4-BE49-F238E27FC236}">
                <a16:creationId xmlns:a16="http://schemas.microsoft.com/office/drawing/2014/main" id="{B2340A6A-7BE0-4EC3-903C-152125B9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91050"/>
            <a:ext cx="111442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7" name="scope-band-title">
            <a:extLst xmlns:a="http://schemas.openxmlformats.org/drawingml/2006/main">
              <a:ext uri="{FF2B5EF4-FFF2-40B4-BE49-F238E27FC236}">
                <a16:creationId xmlns:a16="http://schemas.microsoft.com/office/drawing/2014/main" id="{C80F1156-51A3-4ACA-A5DD-81F85D727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910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Nguyên tắc</a:t>
            </a:r>
          </a:p>
        </p:txBody>
      </p:sp>
      <p:sp>
        <p:nvSpPr>
          <p:cNvPr id="18" name="scope-band-detail">
            <a:extLst xmlns:a="http://schemas.openxmlformats.org/drawingml/2006/main">
              <a:ext uri="{FF2B5EF4-FFF2-40B4-BE49-F238E27FC236}">
                <a16:creationId xmlns:a16="http://schemas.microsoft.com/office/drawing/2014/main" id="{1318C171-E6F6-41A2-A1F9-546F1D1E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19650"/>
            <a:ext cx="847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Giữ raw payload • persist trước checkpoint • không suy đoán field • mở rộng qua boundary/interface.</a:t>
            </a:r>
          </a:p>
        </p:txBody>
      </p:sp>
      <p:sp>
        <p:nvSpPr>
          <p:cNvPr id="19" name="footer-note">
            <a:extLst xmlns:a="http://schemas.openxmlformats.org/drawingml/2006/main">
              <a:ext uri="{FF2B5EF4-FFF2-40B4-BE49-F238E27FC236}">
                <a16:creationId xmlns:a16="http://schemas.microsoft.com/office/drawing/2014/main" id="{95079555-8CE4-4EA7-9F22-04ECD291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11201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Tài liệu này mô tả codebase đang chạy, không phải cam kết các phần “SAU NÀY” đã được triển khai.</a:t>
            </a:r>
          </a:p>
        </p:txBody>
      </p:sp>
    </p:spTree>
    <p:extLst>
      <p:ext uri="{BB962C8B-B14F-4D97-AF65-F5344CB8AC3E}">
        <p14:creationId xmlns:p14="http://schemas.microsoft.com/office/powerpoint/2010/main" val="1400688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C2E291F9-FF09-4142-BC4A-54FF5D66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9A9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9A98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96384E-28EC-44DA-A79F-9131F3E4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Bốn project tạo thành pipeline có boundary rõ ràng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C52DABA-DFE1-4F76-8633-1EAA13E0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38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Dependency đi vào trong: Worker compose, Infrastructure thực thi, Application điều phối, Domain giữ contract.</a:t>
            </a:r>
          </a:p>
        </p:txBody>
      </p:sp>
      <p:sp>
        <p:nvSpPr>
          <p:cNvPr id="4" name="slide-version">
            <a:extLst xmlns:a="http://schemas.openxmlformats.org/drawingml/2006/main">
              <a:ext uri="{FF2B5EF4-FFF2-40B4-BE49-F238E27FC236}">
                <a16:creationId xmlns:a16="http://schemas.microsoft.com/office/drawing/2014/main" id="{9C3010A6-355B-4418-B8AB-15A0F903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8575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E7D8B"/>
                </a:solidFill>
                <a:latin typeface="Aptos"/>
                <a:ea typeface="Aptos"/>
                <a:cs typeface="Aptos"/>
              </a:rPr>
              <a:t>VISUALIZE • 03/10</a:t>
            </a:r>
          </a:p>
        </p:txBody>
      </p:sp>
      <p:sp>
        <p:nvSpPr>
          <p:cNvPr id="5" name="layer-arrow-0">
            <a:extLst xmlns:a="http://schemas.openxmlformats.org/drawingml/2006/main">
              <a:ext uri="{FF2B5EF4-FFF2-40B4-BE49-F238E27FC236}">
                <a16:creationId xmlns:a16="http://schemas.microsoft.com/office/drawing/2014/main" id="{B454AFE1-37D2-4813-9914-3146853A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81300"/>
            <a:ext cx="2667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layer-arrow-1">
            <a:extLst xmlns:a="http://schemas.openxmlformats.org/drawingml/2006/main">
              <a:ext uri="{FF2B5EF4-FFF2-40B4-BE49-F238E27FC236}">
                <a16:creationId xmlns:a16="http://schemas.microsoft.com/office/drawing/2014/main" id="{5B246544-B8AB-4D9D-8E30-09B3181A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781300"/>
            <a:ext cx="2667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layer-arrow-2">
            <a:extLst xmlns:a="http://schemas.openxmlformats.org/drawingml/2006/main">
              <a:ext uri="{FF2B5EF4-FFF2-40B4-BE49-F238E27FC236}">
                <a16:creationId xmlns:a16="http://schemas.microsoft.com/office/drawing/2014/main" id="{B3F1C99E-7E7B-468B-B94D-90331A80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81300"/>
            <a:ext cx="2667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ayer-domain">
            <a:extLst xmlns:a="http://schemas.openxmlformats.org/drawingml/2006/main">
              <a:ext uri="{FF2B5EF4-FFF2-40B4-BE49-F238E27FC236}">
                <a16:creationId xmlns:a16="http://schemas.microsoft.com/office/drawing/2014/main" id="{6D3CEA82-B0E2-4394-99A9-E08241D6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76400"/>
            <a:ext cx="2305050" cy="274320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9" name="layer-domain-title">
            <a:extLst xmlns:a="http://schemas.openxmlformats.org/drawingml/2006/main">
              <a:ext uri="{FF2B5EF4-FFF2-40B4-BE49-F238E27FC236}">
                <a16:creationId xmlns:a16="http://schemas.microsoft.com/office/drawing/2014/main" id="{5DE8595E-7B83-4178-854B-8A6A18DF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DOMAIN</a:t>
            </a:r>
          </a:p>
        </p:txBody>
      </p:sp>
      <p:sp>
        <p:nvSpPr>
          <p:cNvPr id="10" name="layer-domain-detail">
            <a:extLst xmlns:a="http://schemas.openxmlformats.org/drawingml/2006/main">
              <a:ext uri="{FF2B5EF4-FFF2-40B4-BE49-F238E27FC236}">
                <a16:creationId xmlns:a16="http://schemas.microsoft.com/office/drawing/2014/main" id="{9EB73068-E96B-423F-B5FC-186DAD65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14550"/>
            <a:ext cx="20383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CanonicalDeviceEvent</a:t>
            </a:r>
          </a:p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SourceContext • FactsContext</a:t>
            </a:r>
          </a:p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AppConst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Không biết file, Mongo</a:t>
            </a:r>
          </a:p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hoặc hosting.</a:t>
            </a:r>
          </a:p>
        </p:txBody>
      </p:sp>
      <p:sp>
        <p:nvSpPr>
          <p:cNvPr id="11" name="layer-application">
            <a:extLst xmlns:a="http://schemas.openxmlformats.org/drawingml/2006/main">
              <a:ext uri="{FF2B5EF4-FFF2-40B4-BE49-F238E27FC236}">
                <a16:creationId xmlns:a16="http://schemas.microsoft.com/office/drawing/2014/main" id="{2D1AB920-B90F-44CF-8FB8-26C73D65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76400"/>
            <a:ext cx="2305050" cy="274320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EDEBFA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2" name="layer-application-title">
            <a:extLst xmlns:a="http://schemas.openxmlformats.org/drawingml/2006/main">
              <a:ext uri="{FF2B5EF4-FFF2-40B4-BE49-F238E27FC236}">
                <a16:creationId xmlns:a16="http://schemas.microsoft.com/office/drawing/2014/main" id="{BF064815-D25B-412E-BEAC-383404DD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7907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D56B8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5D56B8"/>
                </a:solidFill>
                <a:latin typeface="Georgia"/>
                <a:ea typeface="Georgia"/>
                <a:cs typeface="Georgia"/>
              </a:rPr>
              <a:t>APPLICATION</a:t>
            </a:r>
          </a:p>
        </p:txBody>
      </p:sp>
      <p:sp>
        <p:nvSpPr>
          <p:cNvPr id="13" name="layer-application-detail">
            <a:extLst xmlns:a="http://schemas.openxmlformats.org/drawingml/2006/main">
              <a:ext uri="{FF2B5EF4-FFF2-40B4-BE49-F238E27FC236}">
                <a16:creationId xmlns:a16="http://schemas.microsoft.com/office/drawing/2014/main" id="{F3D83FAF-DAC4-4E7B-B2E8-C8A0AD5E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14550"/>
            <a:ext cx="20383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Parser / mapper contracts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ProcessRawFileRecordHandler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RawRecordPersistenceCoordinator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Giữ write → checkpoint.</a:t>
            </a:r>
          </a:p>
        </p:txBody>
      </p:sp>
      <p:sp>
        <p:nvSpPr>
          <p:cNvPr id="14" name="layer-infrastructure">
            <a:extLst xmlns:a="http://schemas.openxmlformats.org/drawingml/2006/main">
              <a:ext uri="{FF2B5EF4-FFF2-40B4-BE49-F238E27FC236}">
                <a16:creationId xmlns:a16="http://schemas.microsoft.com/office/drawing/2014/main" id="{C81B6ED8-33C6-4784-A483-32ED4625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76400"/>
            <a:ext cx="2305050" cy="274320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E3F4F1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5" name="layer-infrastructure-title">
            <a:extLst xmlns:a="http://schemas.openxmlformats.org/drawingml/2006/main">
              <a:ext uri="{FF2B5EF4-FFF2-40B4-BE49-F238E27FC236}">
                <a16:creationId xmlns:a16="http://schemas.microsoft.com/office/drawing/2014/main" id="{29564B74-14D1-4EF5-A871-0FD44ED3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907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9A98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9A98"/>
                </a:solidFill>
                <a:latin typeface="Georgia"/>
                <a:ea typeface="Georgia"/>
                <a:cs typeface="Georgia"/>
              </a:rPr>
              <a:t>INFRASTRUCTURE</a:t>
            </a:r>
          </a:p>
        </p:txBody>
      </p:sp>
      <p:sp>
        <p:nvSpPr>
          <p:cNvPr id="16" name="layer-infrastructure-detail">
            <a:extLst xmlns:a="http://schemas.openxmlformats.org/drawingml/2006/main">
              <a:ext uri="{FF2B5EF4-FFF2-40B4-BE49-F238E27FC236}">
                <a16:creationId xmlns:a16="http://schemas.microsoft.com/office/drawing/2014/main" id="{1D4F6D56-381D-410D-8652-72F24C7B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14550"/>
            <a:ext cx="20383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Discovery local/remote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Tail reader + framer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RFID parser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Mongo stores + indexes</a:t>
            </a:r>
          </a:p>
        </p:txBody>
      </p:sp>
      <p:sp>
        <p:nvSpPr>
          <p:cNvPr id="17" name="layer-worker">
            <a:extLst xmlns:a="http://schemas.openxmlformats.org/drawingml/2006/main">
              <a:ext uri="{FF2B5EF4-FFF2-40B4-BE49-F238E27FC236}">
                <a16:creationId xmlns:a16="http://schemas.microsoft.com/office/drawing/2014/main" id="{D234D78A-80C2-45B2-8703-CFB50521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676400"/>
            <a:ext cx="2305050" cy="274320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8" name="layer-worker-title">
            <a:extLst xmlns:a="http://schemas.openxmlformats.org/drawingml/2006/main">
              <a:ext uri="{FF2B5EF4-FFF2-40B4-BE49-F238E27FC236}">
                <a16:creationId xmlns:a16="http://schemas.microsoft.com/office/drawing/2014/main" id="{4F304790-8CED-4A9C-BDBA-2EFD41AD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7907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DA13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DA13A"/>
                </a:solidFill>
                <a:latin typeface="Georgia"/>
                <a:ea typeface="Georgia"/>
                <a:cs typeface="Georgia"/>
              </a:rPr>
              <a:t>WORKER</a:t>
            </a:r>
          </a:p>
        </p:txBody>
      </p:sp>
      <p:sp>
        <p:nvSpPr>
          <p:cNvPr id="19" name="layer-worker-detail">
            <a:extLst xmlns:a="http://schemas.openxmlformats.org/drawingml/2006/main">
              <a:ext uri="{FF2B5EF4-FFF2-40B4-BE49-F238E27FC236}">
                <a16:creationId xmlns:a16="http://schemas.microsoft.com/office/drawing/2014/main" id="{503AC484-A9C5-4F18-9498-67DD3A1E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114550"/>
            <a:ext cx="20383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Program.cs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Options + validation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Hosted services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Polling + scheduler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Health checks</a:t>
            </a:r>
          </a:p>
        </p:txBody>
      </p:sp>
      <p:sp>
        <p:nvSpPr>
          <p:cNvPr id="20" name="layer-test">
            <a:extLst xmlns:a="http://schemas.openxmlformats.org/drawingml/2006/main">
              <a:ext uri="{FF2B5EF4-FFF2-40B4-BE49-F238E27FC236}">
                <a16:creationId xmlns:a16="http://schemas.microsoft.com/office/drawing/2014/main" id="{45A6B0F2-8FCD-428A-8B23-6937E43F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95850"/>
            <a:ext cx="105346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21" name="layer-test-title">
            <a:extLst xmlns:a="http://schemas.openxmlformats.org/drawingml/2006/main">
              <a:ext uri="{FF2B5EF4-FFF2-40B4-BE49-F238E27FC236}">
                <a16:creationId xmlns:a16="http://schemas.microsoft.com/office/drawing/2014/main" id="{CBD2426E-71DA-4C8A-A213-9E3563F2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Tests bảo vệ boundary</a:t>
            </a:r>
          </a:p>
        </p:txBody>
      </p:sp>
      <p:sp>
        <p:nvSpPr>
          <p:cNvPr id="22" name="layer-test-detail">
            <a:extLst xmlns:a="http://schemas.openxmlformats.org/drawingml/2006/main">
              <a:ext uri="{FF2B5EF4-FFF2-40B4-BE49-F238E27FC236}">
                <a16:creationId xmlns:a16="http://schemas.microsoft.com/office/drawing/2014/main" id="{10DED132-73CC-48EA-9535-2B4F78D8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33975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Unit: pure logic  •  Integration: file + Mongo  •  Architecture: dependency rules</a:t>
            </a:r>
          </a:p>
        </p:txBody>
      </p:sp>
      <p:sp>
        <p:nvSpPr>
          <p:cNvPr id="23" name="footer-note">
            <a:extLst xmlns:a="http://schemas.openxmlformats.org/drawingml/2006/main">
              <a:ext uri="{FF2B5EF4-FFF2-40B4-BE49-F238E27FC236}">
                <a16:creationId xmlns:a16="http://schemas.microsoft.com/office/drawing/2014/main" id="{D2100A98-02C0-4B86-BDC2-DCBCFF68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11201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MongoDB Driver và filesystem implementation chỉ nằm trong Infrastructure.</a:t>
            </a:r>
          </a:p>
        </p:txBody>
      </p:sp>
    </p:spTree>
    <p:extLst>
      <p:ext uri="{BB962C8B-B14F-4D97-AF65-F5344CB8AC3E}">
        <p14:creationId xmlns:p14="http://schemas.microsoft.com/office/powerpoint/2010/main" val="17756461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A6C4E651-8A9E-4CA9-BAEB-FB055535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9A9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9A98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A2D19C-E867-4F7E-8426-603E637E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Worker đứng giữa raw file và ba collection MongoDB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9B877EB-4EA6-43E3-AF0B-1C7594A0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38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Input là read-only raw file; output là history, failure và durable checkpoint.</a:t>
            </a:r>
          </a:p>
        </p:txBody>
      </p:sp>
      <p:sp>
        <p:nvSpPr>
          <p:cNvPr id="4" name="slide-version">
            <a:extLst xmlns:a="http://schemas.openxmlformats.org/drawingml/2006/main">
              <a:ext uri="{FF2B5EF4-FFF2-40B4-BE49-F238E27FC236}">
                <a16:creationId xmlns:a16="http://schemas.microsoft.com/office/drawing/2014/main" id="{65302483-A9CE-441F-BB1A-EBF48A0C7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8575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E7D8B"/>
                </a:solidFill>
                <a:latin typeface="Aptos"/>
                <a:ea typeface="Aptos"/>
                <a:cs typeface="Aptos"/>
              </a:rPr>
              <a:t>VISUALIZE • 04/10</a:t>
            </a:r>
          </a:p>
        </p:txBody>
      </p:sp>
      <p:sp>
        <p:nvSpPr>
          <p:cNvPr id="5" name="runtime-source">
            <a:extLst xmlns:a="http://schemas.openxmlformats.org/drawingml/2006/main">
              <a:ext uri="{FF2B5EF4-FFF2-40B4-BE49-F238E27FC236}">
                <a16:creationId xmlns:a16="http://schemas.microsoft.com/office/drawing/2014/main" id="{83B46905-7A3D-4BDA-A2B3-4764108B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2190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6" name="runtime-source-title">
            <a:extLst xmlns:a="http://schemas.openxmlformats.org/drawingml/2006/main">
              <a:ext uri="{FF2B5EF4-FFF2-40B4-BE49-F238E27FC236}">
                <a16:creationId xmlns:a16="http://schemas.microsoft.com/office/drawing/2014/main" id="{2691265C-3038-4FBD-81AC-FDE72AC1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962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RFID.Antenna</a:t>
            </a:r>
          </a:p>
        </p:txBody>
      </p:sp>
      <p:sp>
        <p:nvSpPr>
          <p:cNvPr id="7" name="runtime-source-detail">
            <a:extLst xmlns:a="http://schemas.openxmlformats.org/drawingml/2006/main">
              <a:ext uri="{FF2B5EF4-FFF2-40B4-BE49-F238E27FC236}">
                <a16:creationId xmlns:a16="http://schemas.microsoft.com/office/drawing/2014/main" id="{2A679274-BA38-451B-9C00-1E248DEE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38400"/>
            <a:ext cx="1924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Reader → WriterPlay</a:t>
            </a:r>
          </a:p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File_{FileId}.txt</a:t>
            </a:r>
          </a:p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yyyy/MM/dd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append UTF-8 + e(0)</a:t>
            </a:r>
          </a:p>
        </p:txBody>
      </p:sp>
      <p:sp>
        <p:nvSpPr>
          <p:cNvPr id="8" name="runtime-arrow-1">
            <a:extLst xmlns:a="http://schemas.openxmlformats.org/drawingml/2006/main">
              <a:ext uri="{FF2B5EF4-FFF2-40B4-BE49-F238E27FC236}">
                <a16:creationId xmlns:a16="http://schemas.microsoft.com/office/drawing/2014/main" id="{F7999DDD-9FB9-4C94-8A87-93ADA04D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52700"/>
            <a:ext cx="4953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untime-worker">
            <a:extLst xmlns:a="http://schemas.openxmlformats.org/drawingml/2006/main">
              <a:ext uri="{FF2B5EF4-FFF2-40B4-BE49-F238E27FC236}">
                <a16:creationId xmlns:a16="http://schemas.microsoft.com/office/drawing/2014/main" id="{39D1CD1B-7033-4512-ACE3-62D6C724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714500"/>
            <a:ext cx="2952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3F4F1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0" name="runtime-worker-title">
            <a:extLst xmlns:a="http://schemas.openxmlformats.org/drawingml/2006/main">
              <a:ext uri="{FF2B5EF4-FFF2-40B4-BE49-F238E27FC236}">
                <a16:creationId xmlns:a16="http://schemas.microsoft.com/office/drawing/2014/main" id="{6D9D869D-7475-4A55-8C20-7319F0C1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28800"/>
            <a:ext cx="2724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9A98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9A98"/>
                </a:solidFill>
                <a:latin typeface="Georgia"/>
                <a:ea typeface="Georgia"/>
                <a:cs typeface="Georgia"/>
              </a:rPr>
              <a:t>DeviceEventHistory.Worker</a:t>
            </a:r>
          </a:p>
        </p:txBody>
      </p:sp>
      <p:sp>
        <p:nvSpPr>
          <p:cNvPr id="11" name="runtime-worker-detail">
            <a:extLst xmlns:a="http://schemas.openxmlformats.org/drawingml/2006/main">
              <a:ext uri="{FF2B5EF4-FFF2-40B4-BE49-F238E27FC236}">
                <a16:creationId xmlns:a16="http://schemas.microsoft.com/office/drawing/2014/main" id="{BA55975E-8362-4041-9E3B-CA537673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52650"/>
            <a:ext cx="26860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discover → tail → frame</a:t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→ parse → map → persist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SourcePollingCoordinator</a:t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FairFileScheduler</a:t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FileTurnProcessor</a:t>
            </a:r>
          </a:p>
        </p:txBody>
      </p:sp>
      <p:sp>
        <p:nvSpPr>
          <p:cNvPr id="12" name="runtime-arrow-2">
            <a:extLst xmlns:a="http://schemas.openxmlformats.org/drawingml/2006/main">
              <a:ext uri="{FF2B5EF4-FFF2-40B4-BE49-F238E27FC236}">
                <a16:creationId xmlns:a16="http://schemas.microsoft.com/office/drawing/2014/main" id="{1A8113C3-060B-4893-B7BA-43A45902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52700"/>
            <a:ext cx="4953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untime-mongo">
            <a:extLst xmlns:a="http://schemas.openxmlformats.org/drawingml/2006/main">
              <a:ext uri="{FF2B5EF4-FFF2-40B4-BE49-F238E27FC236}">
                <a16:creationId xmlns:a16="http://schemas.microsoft.com/office/drawing/2014/main" id="{3060FC44-B521-4D90-99A8-389E9B85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66850"/>
            <a:ext cx="3619500" cy="25146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4" name="runtime-mongo-title">
            <a:extLst xmlns:a="http://schemas.openxmlformats.org/drawingml/2006/main">
              <a:ext uri="{FF2B5EF4-FFF2-40B4-BE49-F238E27FC236}">
                <a16:creationId xmlns:a16="http://schemas.microsoft.com/office/drawing/2014/main" id="{E2643444-4863-4020-B299-DBB5B1A2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581150"/>
            <a:ext cx="3390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DA13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DA13A"/>
                </a:solidFill>
                <a:latin typeface="Georgia"/>
                <a:ea typeface="Georgia"/>
                <a:cs typeface="Georgia"/>
              </a:rPr>
              <a:t>MongoDB</a:t>
            </a:r>
          </a:p>
        </p:txBody>
      </p:sp>
      <p:sp>
        <p:nvSpPr>
          <p:cNvPr id="15" name="runtime-mongo-detail">
            <a:extLst xmlns:a="http://schemas.openxmlformats.org/drawingml/2006/main">
              <a:ext uri="{FF2B5EF4-FFF2-40B4-BE49-F238E27FC236}">
                <a16:creationId xmlns:a16="http://schemas.microsoft.com/office/drawing/2014/main" id="{B44551D3-79C9-4378-9E08-CEBED4D4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05000"/>
            <a:ext cx="33528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device_event_history</a:t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Canonical events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ingestion_failures</a:t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Complete but malformed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ingestion_checkpoints</a:t>
            </a:r>
          </a:p>
          <a:p xmlns:a="http://schemas.openxmlformats.org/drawingml/2006/main">
            <a:pPr algn="ctr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Byte cursor per logical file</a:t>
            </a:r>
          </a:p>
        </p:txBody>
      </p:sp>
      <p:sp>
        <p:nvSpPr>
          <p:cNvPr id="16" name="runtime-readonly">
            <a:extLst xmlns:a="http://schemas.openxmlformats.org/drawingml/2006/main">
              <a:ext uri="{FF2B5EF4-FFF2-40B4-BE49-F238E27FC236}">
                <a16:creationId xmlns:a16="http://schemas.microsoft.com/office/drawing/2014/main" id="{BEF8C5C6-FE5D-4B67-9A03-151FD79D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106870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7" name="runtime-readonly-title">
            <a:extLst xmlns:a="http://schemas.openxmlformats.org/drawingml/2006/main">
              <a:ext uri="{FF2B5EF4-FFF2-40B4-BE49-F238E27FC236}">
                <a16:creationId xmlns:a16="http://schemas.microsoft.com/office/drawing/2014/main" id="{463E7B99-998A-4DB6-8A25-5170FB4C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Boundary quan trọng</a:t>
            </a:r>
          </a:p>
        </p:txBody>
      </p:sp>
      <p:sp>
        <p:nvSpPr>
          <p:cNvPr id="18" name="runtime-readonly-detail">
            <a:extLst xmlns:a="http://schemas.openxmlformats.org/drawingml/2006/main">
              <a:ext uri="{FF2B5EF4-FFF2-40B4-BE49-F238E27FC236}">
                <a16:creationId xmlns:a16="http://schemas.microsoft.com/office/drawing/2014/main" id="{F60CB13A-4106-423F-A382-2664B8EA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8630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Worker không sửa RFID.Antenna; không dùng chung FileReader.Position của Analytics; checkpoint chỉ commit sau Mongo confirmation.</a:t>
            </a:r>
          </a:p>
        </p:txBody>
      </p:sp>
      <p:sp>
        <p:nvSpPr>
          <p:cNvPr id="19" name="footer-note">
            <a:extLst xmlns:a="http://schemas.openxmlformats.org/drawingml/2006/main">
              <a:ext uri="{FF2B5EF4-FFF2-40B4-BE49-F238E27FC236}">
                <a16:creationId xmlns:a16="http://schemas.microsoft.com/office/drawing/2014/main" id="{FE72DD28-5F0F-4B2A-8DB1-87F8FB77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11201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Raw-log là nguồn có thể đọc lại; Mongo checkpoint là durable cursor, không phải queue.</a:t>
            </a:r>
          </a:p>
        </p:txBody>
      </p:sp>
    </p:spTree>
    <p:extLst>
      <p:ext uri="{BB962C8B-B14F-4D97-AF65-F5344CB8AC3E}">
        <p14:creationId xmlns:p14="http://schemas.microsoft.com/office/powerpoint/2010/main" val="9360260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59CDCA2D-6A43-4FBE-9983-29D519E2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9A9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9A98"/>
                </a:solidFill>
                <a:latin typeface="Aptos"/>
                <a:ea typeface="Aptos"/>
                <a:cs typeface="Aptos"/>
              </a:rPr>
              <a:t>RUNTIME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BA826F0-82E6-4C6E-8D78-ED7C5378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Startup validate trước, rồi mới bắt đầu ingestion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37C96EC-BC2D-4AFE-A12F-EE8D0B6F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38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Program.cs dựng host; options được bind/validate; startup service chuẩn bị Mongo trước khi poll.</a:t>
            </a:r>
          </a:p>
        </p:txBody>
      </p:sp>
      <p:sp>
        <p:nvSpPr>
          <p:cNvPr id="4" name="slide-version">
            <a:extLst xmlns:a="http://schemas.openxmlformats.org/drawingml/2006/main">
              <a:ext uri="{FF2B5EF4-FFF2-40B4-BE49-F238E27FC236}">
                <a16:creationId xmlns:a16="http://schemas.microsoft.com/office/drawing/2014/main" id="{E10CBE4B-82AB-4978-8DB8-DE47ECFE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8575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E7D8B"/>
                </a:solidFill>
                <a:latin typeface="Aptos"/>
                <a:ea typeface="Aptos"/>
                <a:cs typeface="Aptos"/>
              </a:rPr>
              <a:t>VISUALIZE • 05/10</a:t>
            </a:r>
          </a:p>
        </p:txBody>
      </p:sp>
      <p:sp>
        <p:nvSpPr>
          <p:cNvPr id="5" name="startup-0">
            <a:extLst xmlns:a="http://schemas.openxmlformats.org/drawingml/2006/main">
              <a:ext uri="{FF2B5EF4-FFF2-40B4-BE49-F238E27FC236}">
                <a16:creationId xmlns:a16="http://schemas.microsoft.com/office/drawing/2014/main" id="{C7C69B92-097A-4F20-8420-B6FB61E5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52600"/>
            <a:ext cx="21336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6" name="startup-0-title">
            <a:extLst xmlns:a="http://schemas.openxmlformats.org/drawingml/2006/main">
              <a:ext uri="{FF2B5EF4-FFF2-40B4-BE49-F238E27FC236}">
                <a16:creationId xmlns:a16="http://schemas.microsoft.com/office/drawing/2014/main" id="{C2CF38D9-8D6F-4621-8563-74CB9D96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669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Program.cs</a:t>
            </a:r>
          </a:p>
        </p:txBody>
      </p:sp>
      <p:sp>
        <p:nvSpPr>
          <p:cNvPr id="7" name="startup-0-detail">
            <a:extLst xmlns:a="http://schemas.openxmlformats.org/drawingml/2006/main">
              <a:ext uri="{FF2B5EF4-FFF2-40B4-BE49-F238E27FC236}">
                <a16:creationId xmlns:a16="http://schemas.microsoft.com/office/drawing/2014/main" id="{439F95B8-8810-4045-8F5A-EFE1DCED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Host.CreateApplicationBuilder(args)</a:t>
            </a:r>
          </a:p>
        </p:txBody>
      </p:sp>
      <p:sp>
        <p:nvSpPr>
          <p:cNvPr id="8" name="startup-1">
            <a:extLst xmlns:a="http://schemas.openxmlformats.org/drawingml/2006/main">
              <a:ext uri="{FF2B5EF4-FFF2-40B4-BE49-F238E27FC236}">
                <a16:creationId xmlns:a16="http://schemas.microsoft.com/office/drawing/2014/main" id="{41108978-C9EA-4144-8C78-C7C200007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52600"/>
            <a:ext cx="21336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DEBFA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9" name="startup-1-title">
            <a:extLst xmlns:a="http://schemas.openxmlformats.org/drawingml/2006/main">
              <a:ext uri="{FF2B5EF4-FFF2-40B4-BE49-F238E27FC236}">
                <a16:creationId xmlns:a16="http://schemas.microsoft.com/office/drawing/2014/main" id="{01FB3877-8528-4F08-80DB-4B464112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8669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ServiceCollectionExtensions</a:t>
            </a:r>
          </a:p>
        </p:txBody>
      </p:sp>
      <p:sp>
        <p:nvSpPr>
          <p:cNvPr id="10" name="startup-1-detail">
            <a:extLst xmlns:a="http://schemas.openxmlformats.org/drawingml/2006/main">
              <a:ext uri="{FF2B5EF4-FFF2-40B4-BE49-F238E27FC236}">
                <a16:creationId xmlns:a16="http://schemas.microsoft.com/office/drawing/2014/main" id="{D82DA10F-5AED-4B02-81A4-7EA9F468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190750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bind options + register DI</a:t>
            </a:r>
          </a:p>
        </p:txBody>
      </p:sp>
      <p:sp>
        <p:nvSpPr>
          <p:cNvPr id="11" name="startup-2">
            <a:extLst xmlns:a="http://schemas.openxmlformats.org/drawingml/2006/main">
              <a:ext uri="{FF2B5EF4-FFF2-40B4-BE49-F238E27FC236}">
                <a16:creationId xmlns:a16="http://schemas.microsoft.com/office/drawing/2014/main" id="{6EB19ADA-DF3D-438A-A1E1-5412CD79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52600"/>
            <a:ext cx="21336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3F4F1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2" name="startup-2-title">
            <a:extLst xmlns:a="http://schemas.openxmlformats.org/drawingml/2006/main">
              <a:ext uri="{FF2B5EF4-FFF2-40B4-BE49-F238E27FC236}">
                <a16:creationId xmlns:a16="http://schemas.microsoft.com/office/drawing/2014/main" id="{571EC552-BB69-4E3E-9FC3-FFCD5FE0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669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ValidateOnStart()</a:t>
            </a:r>
          </a:p>
        </p:txBody>
      </p:sp>
      <p:sp>
        <p:nvSpPr>
          <p:cNvPr id="13" name="startup-2-detail">
            <a:extLst xmlns:a="http://schemas.openxmlformats.org/drawingml/2006/main">
              <a:ext uri="{FF2B5EF4-FFF2-40B4-BE49-F238E27FC236}">
                <a16:creationId xmlns:a16="http://schemas.microsoft.com/office/drawing/2014/main" id="{5175AD81-8ED9-478C-B46D-81EF45F0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190750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Worker / raw-log / Mongo validators</a:t>
            </a:r>
          </a:p>
        </p:txBody>
      </p:sp>
      <p:sp>
        <p:nvSpPr>
          <p:cNvPr id="14" name="startup-3">
            <a:extLst xmlns:a="http://schemas.openxmlformats.org/drawingml/2006/main">
              <a:ext uri="{FF2B5EF4-FFF2-40B4-BE49-F238E27FC236}">
                <a16:creationId xmlns:a16="http://schemas.microsoft.com/office/drawing/2014/main" id="{D7114484-2480-4B1E-82AB-4ACFF663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1336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5EFF7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5" name="startup-3-title">
            <a:extLst xmlns:a="http://schemas.openxmlformats.org/drawingml/2006/main">
              <a:ext uri="{FF2B5EF4-FFF2-40B4-BE49-F238E27FC236}">
                <a16:creationId xmlns:a16="http://schemas.microsoft.com/office/drawing/2014/main" id="{F0C9A1AE-D5DA-4960-9400-9D5C759D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338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StartupInitializationHostedService</a:t>
            </a:r>
          </a:p>
        </p:txBody>
      </p:sp>
      <p:sp>
        <p:nvSpPr>
          <p:cNvPr id="16" name="startup-3-detail">
            <a:extLst xmlns:a="http://schemas.openxmlformats.org/drawingml/2006/main">
              <a:ext uri="{FF2B5EF4-FFF2-40B4-BE49-F238E27FC236}">
                <a16:creationId xmlns:a16="http://schemas.microsoft.com/office/drawing/2014/main" id="{F7FDF41B-BE99-4144-A432-15A6FBC4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057650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Ping Mongo + indexes</a:t>
            </a:r>
          </a:p>
        </p:txBody>
      </p:sp>
      <p:sp>
        <p:nvSpPr>
          <p:cNvPr id="17" name="startup-4">
            <a:extLst xmlns:a="http://schemas.openxmlformats.org/drawingml/2006/main">
              <a:ext uri="{FF2B5EF4-FFF2-40B4-BE49-F238E27FC236}">
                <a16:creationId xmlns:a16="http://schemas.microsoft.com/office/drawing/2014/main" id="{02526685-9C74-444D-84E7-2142FB94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19500"/>
            <a:ext cx="21336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8" name="startup-4-title">
            <a:extLst xmlns:a="http://schemas.openxmlformats.org/drawingml/2006/main">
              <a:ext uri="{FF2B5EF4-FFF2-40B4-BE49-F238E27FC236}">
                <a16:creationId xmlns:a16="http://schemas.microsoft.com/office/drawing/2014/main" id="{BC699361-ED9B-4604-A9BA-AAE230E1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338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RawLogIngestionHostedService</a:t>
            </a:r>
          </a:p>
        </p:txBody>
      </p:sp>
      <p:sp>
        <p:nvSpPr>
          <p:cNvPr id="19" name="startup-4-detail">
            <a:extLst xmlns:a="http://schemas.openxmlformats.org/drawingml/2006/main">
              <a:ext uri="{FF2B5EF4-FFF2-40B4-BE49-F238E27FC236}">
                <a16:creationId xmlns:a16="http://schemas.microsoft.com/office/drawing/2014/main" id="{4863EF89-C2CB-4654-81EB-5B6F6C11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57650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Enabled? → polling + scheduler</a:t>
            </a:r>
          </a:p>
        </p:txBody>
      </p:sp>
      <p:sp>
        <p:nvSpPr>
          <p:cNvPr id="20" name="startup-a1">
            <a:extLst xmlns:a="http://schemas.openxmlformats.org/drawingml/2006/main">
              <a:ext uri="{FF2B5EF4-FFF2-40B4-BE49-F238E27FC236}">
                <a16:creationId xmlns:a16="http://schemas.microsoft.com/office/drawing/2014/main" id="{34A27D27-573A-4663-B662-79FE1FAD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09800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tartup-a2">
            <a:extLst xmlns:a="http://schemas.openxmlformats.org/drawingml/2006/main">
              <a:ext uri="{FF2B5EF4-FFF2-40B4-BE49-F238E27FC236}">
                <a16:creationId xmlns:a16="http://schemas.microsoft.com/office/drawing/2014/main" id="{C90004D1-C3E5-4255-A42B-B2104A52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209800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artup-a3">
            <a:extLst xmlns:a="http://schemas.openxmlformats.org/drawingml/2006/main">
              <a:ext uri="{FF2B5EF4-FFF2-40B4-BE49-F238E27FC236}">
                <a16:creationId xmlns:a16="http://schemas.microsoft.com/office/drawing/2014/main" id="{62437BAE-2839-4338-B202-6C79520D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266700" cy="723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tartup-a4">
            <a:extLst xmlns:a="http://schemas.openxmlformats.org/drawingml/2006/main">
              <a:ext uri="{FF2B5EF4-FFF2-40B4-BE49-F238E27FC236}">
                <a16:creationId xmlns:a16="http://schemas.microsoft.com/office/drawing/2014/main" id="{439D84EF-80AB-480F-8999-41324224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019550"/>
            <a:ext cx="10668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startup-callout">
            <a:extLst xmlns:a="http://schemas.openxmlformats.org/drawingml/2006/main">
              <a:ext uri="{FF2B5EF4-FFF2-40B4-BE49-F238E27FC236}">
                <a16:creationId xmlns:a16="http://schemas.microsoft.com/office/drawing/2014/main" id="{63D56CC7-347E-49C1-9442-2560F592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76850"/>
            <a:ext cx="102870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E26B61"/>
            </a:solidFill>
            <a:prstDash val="solid"/>
          </a:ln>
        </p:spPr>
      </p:sp>
      <p:sp>
        <p:nvSpPr>
          <p:cNvPr id="25" name="startup-callout-text">
            <a:extLst xmlns:a="http://schemas.openxmlformats.org/drawingml/2006/main">
              <a:ext uri="{FF2B5EF4-FFF2-40B4-BE49-F238E27FC236}">
                <a16:creationId xmlns:a16="http://schemas.microsoft.com/office/drawing/2014/main" id="{4A16E464-146D-4146-A912-A7758ADB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979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26B6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26B61"/>
                </a:solidFill>
                <a:latin typeface="Aptos"/>
                <a:ea typeface="Aptos"/>
                <a:cs typeface="Aptos"/>
              </a:rPr>
              <a:t>Enabled = false → host vẫn sống nhưng ingestion kết thúc sớm; startup log chỉ dùng metadata đã redacted.</a:t>
            </a:r>
          </a:p>
        </p:txBody>
      </p:sp>
      <p:sp>
        <p:nvSpPr>
          <p:cNvPr id="26" name="footer-note">
            <a:extLst xmlns:a="http://schemas.openxmlformats.org/drawingml/2006/main">
              <a:ext uri="{FF2B5EF4-FFF2-40B4-BE49-F238E27FC236}">
                <a16:creationId xmlns:a16="http://schemas.microsoft.com/office/drawing/2014/main" id="{B2EEC514-B4DD-4224-9FF4-73FF1E59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11201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Secret connection string không xuất hiện trong startup summary.</a:t>
            </a:r>
          </a:p>
        </p:txBody>
      </p:sp>
    </p:spTree>
    <p:extLst>
      <p:ext uri="{BB962C8B-B14F-4D97-AF65-F5344CB8AC3E}">
        <p14:creationId xmlns:p14="http://schemas.microsoft.com/office/powerpoint/2010/main" val="8832877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0550735A-8554-495E-8342-2CF2B45B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9A9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9A98"/>
                </a:solidFill>
                <a:latin typeface="Aptos"/>
                <a:ea typeface="Aptos"/>
                <a:cs typeface="Aptos"/>
              </a:rPr>
              <a:t>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488C2A3-327D-49C1-B6AD-388422C44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Discovery và tail hỗ trợ local lẫn remote HTTP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5780150-AE4E-4CB0-BBEA-7D7E98B8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38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Logical file identity ổn định giúp registry và checkpoint theo dõi đúng stream.</a:t>
            </a:r>
          </a:p>
        </p:txBody>
      </p:sp>
      <p:sp>
        <p:nvSpPr>
          <p:cNvPr id="4" name="slide-version">
            <a:extLst xmlns:a="http://schemas.openxmlformats.org/drawingml/2006/main">
              <a:ext uri="{FF2B5EF4-FFF2-40B4-BE49-F238E27FC236}">
                <a16:creationId xmlns:a16="http://schemas.microsoft.com/office/drawing/2014/main" id="{C679096B-27CB-4DDD-AE8A-FBAFFC74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8575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E7D8B"/>
                </a:solidFill>
                <a:latin typeface="Aptos"/>
                <a:ea typeface="Aptos"/>
                <a:cs typeface="Aptos"/>
              </a:rPr>
              <a:t>VISUALIZE • 06/10</a:t>
            </a:r>
          </a:p>
        </p:txBody>
      </p:sp>
      <p:sp>
        <p:nvSpPr>
          <p:cNvPr id="5" name="discover-config">
            <a:extLst xmlns:a="http://schemas.openxmlformats.org/drawingml/2006/main">
              <a:ext uri="{FF2B5EF4-FFF2-40B4-BE49-F238E27FC236}">
                <a16:creationId xmlns:a16="http://schemas.microsoft.com/office/drawing/2014/main" id="{89975E2B-8C57-4974-9D7A-7B41DF3F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23622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DEBFA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6" name="discover-config-title">
            <a:extLst xmlns:a="http://schemas.openxmlformats.org/drawingml/2006/main">
              <a:ext uri="{FF2B5EF4-FFF2-40B4-BE49-F238E27FC236}">
                <a16:creationId xmlns:a16="http://schemas.microsoft.com/office/drawing/2014/main" id="{60FA4DF8-6927-4CF0-B512-82D3890E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716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D56B8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5D56B8"/>
                </a:solidFill>
                <a:latin typeface="Georgia"/>
                <a:ea typeface="Georgia"/>
                <a:cs typeface="Georgia"/>
              </a:rPr>
              <a:t>RfidRawLogOptions</a:t>
            </a:r>
          </a:p>
        </p:txBody>
      </p:sp>
      <p:sp>
        <p:nvSpPr>
          <p:cNvPr id="7" name="discover-config-detail">
            <a:extLst xmlns:a="http://schemas.openxmlformats.org/drawingml/2006/main">
              <a:ext uri="{FF2B5EF4-FFF2-40B4-BE49-F238E27FC236}">
                <a16:creationId xmlns:a16="http://schemas.microsoft.com/office/drawing/2014/main" id="{4483A654-78F7-4F39-87FA-F1D06AF7D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Mode = Local | RemoteHttp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RootPath / RemoteBaseUrl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LookbackDays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PollInterval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StartupExistingFilePolicy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NewFilePolicy</a:t>
            </a:r>
          </a:p>
        </p:txBody>
      </p:sp>
      <p:sp>
        <p:nvSpPr>
          <p:cNvPr id="8" name="discover-a1">
            <a:extLst xmlns:a="http://schemas.openxmlformats.org/drawingml/2006/main">
              <a:ext uri="{FF2B5EF4-FFF2-40B4-BE49-F238E27FC236}">
                <a16:creationId xmlns:a16="http://schemas.microsoft.com/office/drawing/2014/main" id="{FD1B51A4-3D7E-4BC1-BBC6-95F073A0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30505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iscover-local">
            <a:extLst xmlns:a="http://schemas.openxmlformats.org/drawingml/2006/main">
              <a:ext uri="{FF2B5EF4-FFF2-40B4-BE49-F238E27FC236}">
                <a16:creationId xmlns:a16="http://schemas.microsoft.com/office/drawing/2014/main" id="{F7B3E1D7-2F4B-450D-B485-C931FE68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485900"/>
            <a:ext cx="2095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5EFF7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0" name="discover-local-title">
            <a:extLst xmlns:a="http://schemas.openxmlformats.org/drawingml/2006/main">
              <a:ext uri="{FF2B5EF4-FFF2-40B4-BE49-F238E27FC236}">
                <a16:creationId xmlns:a16="http://schemas.microsoft.com/office/drawing/2014/main" id="{8C818F85-34D6-4CCF-BBEA-5A96B336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00200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Local adapter</a:t>
            </a:r>
          </a:p>
        </p:txBody>
      </p:sp>
      <p:sp>
        <p:nvSpPr>
          <p:cNvPr id="11" name="discover-local-detail">
            <a:extLst xmlns:a="http://schemas.openxmlformats.org/drawingml/2006/main">
              <a:ext uri="{FF2B5EF4-FFF2-40B4-BE49-F238E27FC236}">
                <a16:creationId xmlns:a16="http://schemas.microsoft.com/office/drawing/2014/main" id="{D467F997-61C3-4E0C-A149-F5F1B37F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24050"/>
            <a:ext cx="1828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Directory.EnumerateFiles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filesystem authority</a:t>
            </a:r>
          </a:p>
        </p:txBody>
      </p:sp>
      <p:sp>
        <p:nvSpPr>
          <p:cNvPr id="12" name="discover-remote">
            <a:extLst xmlns:a="http://schemas.openxmlformats.org/drawingml/2006/main">
              <a:ext uri="{FF2B5EF4-FFF2-40B4-BE49-F238E27FC236}">
                <a16:creationId xmlns:a16="http://schemas.microsoft.com/office/drawing/2014/main" id="{0136CA80-3CD8-4564-8A70-D5767AC9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24150"/>
            <a:ext cx="2095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3" name="discover-remote-title">
            <a:extLst xmlns:a="http://schemas.openxmlformats.org/drawingml/2006/main">
              <a:ext uri="{FF2B5EF4-FFF2-40B4-BE49-F238E27FC236}">
                <a16:creationId xmlns:a16="http://schemas.microsoft.com/office/drawing/2014/main" id="{661A5D16-4D5D-4589-ACD4-BABEAC49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38450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Remote HTTP adapter</a:t>
            </a:r>
          </a:p>
        </p:txBody>
      </p:sp>
      <p:sp>
        <p:nvSpPr>
          <p:cNvPr id="14" name="discover-remote-detail">
            <a:extLst xmlns:a="http://schemas.openxmlformats.org/drawingml/2006/main">
              <a:ext uri="{FF2B5EF4-FFF2-40B4-BE49-F238E27FC236}">
                <a16:creationId xmlns:a16="http://schemas.microsoft.com/office/drawing/2014/main" id="{166F6ADC-08D5-4350-BCA0-CB699105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62300"/>
            <a:ext cx="1828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directory listing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HTTP Range tail</a:t>
            </a:r>
          </a:p>
        </p:txBody>
      </p:sp>
      <p:sp>
        <p:nvSpPr>
          <p:cNvPr id="15" name="discover-a2">
            <a:extLst xmlns:a="http://schemas.openxmlformats.org/drawingml/2006/main">
              <a:ext uri="{FF2B5EF4-FFF2-40B4-BE49-F238E27FC236}">
                <a16:creationId xmlns:a16="http://schemas.microsoft.com/office/drawing/2014/main" id="{165C42A4-B1DE-4792-8C72-913EEFFF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11455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iscover-a3">
            <a:extLst xmlns:a="http://schemas.openxmlformats.org/drawingml/2006/main">
              <a:ext uri="{FF2B5EF4-FFF2-40B4-BE49-F238E27FC236}">
                <a16:creationId xmlns:a16="http://schemas.microsoft.com/office/drawing/2014/main" id="{30CE71B2-7264-4601-AE9E-7A995BB68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06705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iscover-descriptor">
            <a:extLst xmlns:a="http://schemas.openxmlformats.org/drawingml/2006/main">
              <a:ext uri="{FF2B5EF4-FFF2-40B4-BE49-F238E27FC236}">
                <a16:creationId xmlns:a16="http://schemas.microsoft.com/office/drawing/2014/main" id="{C49E3E5B-2A7C-4973-9E73-AB00E65A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57350"/>
            <a:ext cx="23241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3F4F1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8" name="discover-descriptor-title">
            <a:extLst xmlns:a="http://schemas.openxmlformats.org/drawingml/2006/main">
              <a:ext uri="{FF2B5EF4-FFF2-40B4-BE49-F238E27FC236}">
                <a16:creationId xmlns:a16="http://schemas.microsoft.com/office/drawing/2014/main" id="{6339D309-3B80-4703-B473-FCA2C40C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71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9A98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9A98"/>
                </a:solidFill>
                <a:latin typeface="Georgia"/>
                <a:ea typeface="Georgia"/>
                <a:cs typeface="Georgia"/>
              </a:rPr>
              <a:t>RawLogFileDescriptor</a:t>
            </a:r>
          </a:p>
        </p:txBody>
      </p:sp>
      <p:sp>
        <p:nvSpPr>
          <p:cNvPr id="19" name="discover-descriptor-detail">
            <a:extLst xmlns:a="http://schemas.openxmlformats.org/drawingml/2006/main">
              <a:ext uri="{FF2B5EF4-FFF2-40B4-BE49-F238E27FC236}">
                <a16:creationId xmlns:a16="http://schemas.microsoft.com/office/drawing/2014/main" id="{B6462FD5-4ED1-4E7B-BAF8-71AD9789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95500"/>
            <a:ext cx="2057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SourceId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FolderDate • FileId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FileName • RelativePath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Length / LastModified</a:t>
            </a:r>
          </a:p>
        </p:txBody>
      </p:sp>
      <p:sp>
        <p:nvSpPr>
          <p:cNvPr id="20" name="discover-a4">
            <a:extLst xmlns:a="http://schemas.openxmlformats.org/drawingml/2006/main">
              <a:ext uri="{FF2B5EF4-FFF2-40B4-BE49-F238E27FC236}">
                <a16:creationId xmlns:a16="http://schemas.microsoft.com/office/drawing/2014/main" id="{FC18EFBF-64A3-455C-B189-1C9CE4BE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discover-state">
            <a:extLst xmlns:a="http://schemas.openxmlformats.org/drawingml/2006/main">
              <a:ext uri="{FF2B5EF4-FFF2-40B4-BE49-F238E27FC236}">
                <a16:creationId xmlns:a16="http://schemas.microsoft.com/office/drawing/2014/main" id="{9647E4C3-BA1E-43A5-ABAA-E955038D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657350"/>
            <a:ext cx="23241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22" name="discover-state-title">
            <a:extLst xmlns:a="http://schemas.openxmlformats.org/drawingml/2006/main">
              <a:ext uri="{FF2B5EF4-FFF2-40B4-BE49-F238E27FC236}">
                <a16:creationId xmlns:a16="http://schemas.microsoft.com/office/drawing/2014/main" id="{AFA8CC29-3873-4D61-9B76-F0A740A6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771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FileRegistry</a:t>
            </a:r>
          </a:p>
        </p:txBody>
      </p:sp>
      <p:sp>
        <p:nvSpPr>
          <p:cNvPr id="23" name="discover-state-detail">
            <a:extLst xmlns:a="http://schemas.openxmlformats.org/drawingml/2006/main">
              <a:ext uri="{FF2B5EF4-FFF2-40B4-BE49-F238E27FC236}">
                <a16:creationId xmlns:a16="http://schemas.microsoft.com/office/drawing/2014/main" id="{D1541312-9F0A-443A-846E-FB6F44CE8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95500"/>
            <a:ext cx="2057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checkpoint key</a:t>
            </a:r>
          </a:p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startup/new policy</a:t>
            </a:r>
          </a:p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framer + state</a:t>
            </a:r>
          </a:p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dedupe logical file</a:t>
            </a:r>
          </a:p>
        </p:txBody>
      </p:sp>
      <p:sp>
        <p:nvSpPr>
          <p:cNvPr id="24" name="discover-band">
            <a:extLst xmlns:a="http://schemas.openxmlformats.org/drawingml/2006/main">
              <a:ext uri="{FF2B5EF4-FFF2-40B4-BE49-F238E27FC236}">
                <a16:creationId xmlns:a16="http://schemas.microsoft.com/office/drawing/2014/main" id="{C560AC10-3038-4132-BFA6-EF86E7F5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67200"/>
            <a:ext cx="1125855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25" name="discover-band-title">
            <a:extLst xmlns:a="http://schemas.openxmlformats.org/drawingml/2006/main">
              <a:ext uri="{FF2B5EF4-FFF2-40B4-BE49-F238E27FC236}">
                <a16:creationId xmlns:a16="http://schemas.microsoft.com/office/drawing/2014/main" id="{1FACD5B1-7FE5-418A-8FB1-6465FF58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958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Logical key</a:t>
            </a:r>
          </a:p>
        </p:txBody>
      </p:sp>
      <p:sp>
        <p:nvSpPr>
          <p:cNvPr id="26" name="discover-band-key">
            <a:extLst xmlns:a="http://schemas.openxmlformats.org/drawingml/2006/main">
              <a:ext uri="{FF2B5EF4-FFF2-40B4-BE49-F238E27FC236}">
                <a16:creationId xmlns:a16="http://schemas.microsoft.com/office/drawing/2014/main" id="{782627C0-AA11-4252-A276-3AD93BFA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486275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D56B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D56B8"/>
                </a:solidFill>
                <a:latin typeface="Aptos"/>
                <a:ea typeface="Aptos"/>
                <a:cs typeface="Aptos"/>
              </a:rPr>
              <a:t>SourceId + FolderDate + FileId + RelativePath</a:t>
            </a:r>
          </a:p>
        </p:txBody>
      </p:sp>
      <p:sp>
        <p:nvSpPr>
          <p:cNvPr id="27" name="discover-band-note">
            <a:extLst xmlns:a="http://schemas.openxmlformats.org/drawingml/2006/main">
              <a:ext uri="{FF2B5EF4-FFF2-40B4-BE49-F238E27FC236}">
                <a16:creationId xmlns:a16="http://schemas.microsoft.com/office/drawing/2014/main" id="{7AA504A4-394E-44B4-ABDE-C49126B2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81575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LookbackDays là discovery window; file phải tồn tại thật trong folder ngày mới được phát hiện.</a:t>
            </a:r>
          </a:p>
        </p:txBody>
      </p:sp>
      <p:sp>
        <p:nvSpPr>
          <p:cNvPr id="28" name="footer-note">
            <a:extLst xmlns:a="http://schemas.openxmlformats.org/drawingml/2006/main">
              <a:ext uri="{FF2B5EF4-FFF2-40B4-BE49-F238E27FC236}">
                <a16:creationId xmlns:a16="http://schemas.microsoft.com/office/drawing/2014/main" id="{0E7B99C9-1382-4421-B80D-22F200D9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11201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Remote reader yêu cầu server tôn trọng byte Range; không tải lại toàn bộ file cho mỗi offset.</a:t>
            </a:r>
          </a:p>
        </p:txBody>
      </p:sp>
    </p:spTree>
    <p:extLst>
      <p:ext uri="{BB962C8B-B14F-4D97-AF65-F5344CB8AC3E}">
        <p14:creationId xmlns:p14="http://schemas.microsoft.com/office/powerpoint/2010/main" val="1414948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912BB071-71A8-41E1-B3C5-440711FB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9A9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9A98"/>
                </a:solidFill>
                <a:latin typeface="Aptos"/>
                <a:ea typeface="Aptos"/>
                <a:cs typeface="Aptos"/>
              </a:rPr>
              <a:t>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653C57-E393-468A-98D7-F4D77D51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Parse và persistence giữ nguyên raw evidence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9135016-38DE-4348-A0E0-A1115F5F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38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Record hoàn chỉnh được map thành canonical event hoặc ingestion failure; checkpoint đi sau cùng.</a:t>
            </a:r>
          </a:p>
        </p:txBody>
      </p:sp>
      <p:sp>
        <p:nvSpPr>
          <p:cNvPr id="4" name="slide-version">
            <a:extLst xmlns:a="http://schemas.openxmlformats.org/drawingml/2006/main">
              <a:ext uri="{FF2B5EF4-FFF2-40B4-BE49-F238E27FC236}">
                <a16:creationId xmlns:a16="http://schemas.microsoft.com/office/drawing/2014/main" id="{57E92CCB-C33F-47E0-8C3B-4FBE9794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8575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E7D8B"/>
                </a:solidFill>
                <a:latin typeface="Aptos"/>
                <a:ea typeface="Aptos"/>
                <a:cs typeface="Aptos"/>
              </a:rPr>
              <a:t>VISUALIZE • 07/10</a:t>
            </a:r>
          </a:p>
        </p:txBody>
      </p:sp>
      <p:sp>
        <p:nvSpPr>
          <p:cNvPr id="5" name="parse-a0">
            <a:extLst xmlns:a="http://schemas.openxmlformats.org/drawingml/2006/main">
              <a:ext uri="{FF2B5EF4-FFF2-40B4-BE49-F238E27FC236}">
                <a16:creationId xmlns:a16="http://schemas.microsoft.com/office/drawing/2014/main" id="{C2BBD4A8-23ED-4C39-BC30-B9AEB906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95500"/>
            <a:ext cx="285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arse-a1">
            <a:extLst xmlns:a="http://schemas.openxmlformats.org/drawingml/2006/main">
              <a:ext uri="{FF2B5EF4-FFF2-40B4-BE49-F238E27FC236}">
                <a16:creationId xmlns:a16="http://schemas.microsoft.com/office/drawing/2014/main" id="{1B525D21-C636-4E96-BA8E-CA612D7C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095500"/>
            <a:ext cx="285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arse-a2">
            <a:extLst xmlns:a="http://schemas.openxmlformats.org/drawingml/2006/main">
              <a:ext uri="{FF2B5EF4-FFF2-40B4-BE49-F238E27FC236}">
                <a16:creationId xmlns:a16="http://schemas.microsoft.com/office/drawing/2014/main" id="{58CB90B0-D191-4520-A8BF-4237C96D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95500"/>
            <a:ext cx="285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arse-turn">
            <a:extLst xmlns:a="http://schemas.openxmlformats.org/drawingml/2006/main">
              <a:ext uri="{FF2B5EF4-FFF2-40B4-BE49-F238E27FC236}">
                <a16:creationId xmlns:a16="http://schemas.microsoft.com/office/drawing/2014/main" id="{3FE958FB-309E-42A6-BC64-FD3040E8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20764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9" name="parse-turn-title">
            <a:extLst xmlns:a="http://schemas.openxmlformats.org/drawingml/2006/main">
              <a:ext uri="{FF2B5EF4-FFF2-40B4-BE49-F238E27FC236}">
                <a16:creationId xmlns:a16="http://schemas.microsoft.com/office/drawing/2014/main" id="{54566A69-EE46-47EF-A549-7861F71F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FileTurnProcessor</a:t>
            </a:r>
          </a:p>
        </p:txBody>
      </p:sp>
      <p:sp>
        <p:nvSpPr>
          <p:cNvPr id="10" name="parse-turn-detail">
            <a:extLst xmlns:a="http://schemas.openxmlformats.org/drawingml/2006/main">
              <a:ext uri="{FF2B5EF4-FFF2-40B4-BE49-F238E27FC236}">
                <a16:creationId xmlns:a16="http://schemas.microsoft.com/office/drawing/2014/main" id="{45D43F26-8238-45E5-B0C4-07FF03F0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38350"/>
            <a:ext cx="1809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bounded bytes / records</a:t>
            </a:r>
          </a:p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RawLogTailReader</a:t>
            </a:r>
          </a:p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RawLogRecordFramer</a:t>
            </a:r>
          </a:p>
        </p:txBody>
      </p:sp>
      <p:sp>
        <p:nvSpPr>
          <p:cNvPr id="11" name="parse-token">
            <a:extLst xmlns:a="http://schemas.openxmlformats.org/drawingml/2006/main">
              <a:ext uri="{FF2B5EF4-FFF2-40B4-BE49-F238E27FC236}">
                <a16:creationId xmlns:a16="http://schemas.microsoft.com/office/drawing/2014/main" id="{BD28A52A-E244-43BF-B2E0-ADBE3E81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00200"/>
            <a:ext cx="20764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DEBFA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2" name="parse-token-title">
            <a:extLst xmlns:a="http://schemas.openxmlformats.org/drawingml/2006/main">
              <a:ext uri="{FF2B5EF4-FFF2-40B4-BE49-F238E27FC236}">
                <a16:creationId xmlns:a16="http://schemas.microsoft.com/office/drawing/2014/main" id="{8CC9A05E-B856-42BE-8190-52EEAAEE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714500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D56B8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5D56B8"/>
                </a:solidFill>
                <a:latin typeface="Georgia"/>
                <a:ea typeface="Georgia"/>
                <a:cs typeface="Georgia"/>
              </a:rPr>
              <a:t>RfidRawRecordParser</a:t>
            </a:r>
          </a:p>
        </p:txBody>
      </p:sp>
      <p:sp>
        <p:nvSpPr>
          <p:cNvPr id="13" name="parse-token-detail">
            <a:extLst xmlns:a="http://schemas.openxmlformats.org/drawingml/2006/main">
              <a:ext uri="{FF2B5EF4-FFF2-40B4-BE49-F238E27FC236}">
                <a16:creationId xmlns:a16="http://schemas.microsoft.com/office/drawing/2014/main" id="{ED0BCC9C-FD58-46DD-81D1-6516BA27B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38350"/>
            <a:ext cx="1809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BlockTokenizer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@ • b • t • te • sp • u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parse result + warnings</a:t>
            </a:r>
          </a:p>
        </p:txBody>
      </p:sp>
      <p:sp>
        <p:nvSpPr>
          <p:cNvPr id="14" name="parse-map">
            <a:extLst xmlns:a="http://schemas.openxmlformats.org/drawingml/2006/main">
              <a:ext uri="{FF2B5EF4-FFF2-40B4-BE49-F238E27FC236}">
                <a16:creationId xmlns:a16="http://schemas.microsoft.com/office/drawing/2014/main" id="{2550CC22-9508-4322-AB6F-AE2588F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600200"/>
            <a:ext cx="20764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4F1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5" name="parse-map-title">
            <a:extLst xmlns:a="http://schemas.openxmlformats.org/drawingml/2006/main">
              <a:ext uri="{FF2B5EF4-FFF2-40B4-BE49-F238E27FC236}">
                <a16:creationId xmlns:a16="http://schemas.microsoft.com/office/drawing/2014/main" id="{7B01D8D7-4750-4D17-B2DA-A630C24B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714500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9A98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9A98"/>
                </a:solidFill>
                <a:latin typeface="Georgia"/>
                <a:ea typeface="Georgia"/>
                <a:cs typeface="Georgia"/>
              </a:rPr>
              <a:t>CanonicalDeviceEventMapper</a:t>
            </a:r>
          </a:p>
        </p:txBody>
      </p:sp>
      <p:sp>
        <p:nvSpPr>
          <p:cNvPr id="16" name="parse-map-detail">
            <a:extLst xmlns:a="http://schemas.openxmlformats.org/drawingml/2006/main">
              <a:ext uri="{FF2B5EF4-FFF2-40B4-BE49-F238E27FC236}">
                <a16:creationId xmlns:a16="http://schemas.microsoft.com/office/drawing/2014/main" id="{AAD1E4C9-DDBE-435A-9214-6C9DA6D59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38350"/>
            <a:ext cx="1809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category + source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facts + raw payload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EventIdentityFactory</a:t>
            </a:r>
          </a:p>
        </p:txBody>
      </p:sp>
      <p:sp>
        <p:nvSpPr>
          <p:cNvPr id="17" name="parse-persist">
            <a:extLst xmlns:a="http://schemas.openxmlformats.org/drawingml/2006/main">
              <a:ext uri="{FF2B5EF4-FFF2-40B4-BE49-F238E27FC236}">
                <a16:creationId xmlns:a16="http://schemas.microsoft.com/office/drawing/2014/main" id="{FE256302-CC32-47A3-AB90-114D0C80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00200"/>
            <a:ext cx="20764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8" name="parse-persist-title">
            <a:extLst xmlns:a="http://schemas.openxmlformats.org/drawingml/2006/main">
              <a:ext uri="{FF2B5EF4-FFF2-40B4-BE49-F238E27FC236}">
                <a16:creationId xmlns:a16="http://schemas.microsoft.com/office/drawing/2014/main" id="{F1FDA853-FCA7-4FB8-B019-8CD70DDB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714500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DA13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DA13A"/>
                </a:solidFill>
                <a:latin typeface="Georgia"/>
                <a:ea typeface="Georgia"/>
                <a:cs typeface="Georgia"/>
              </a:rPr>
              <a:t>RawRecordPersistenceCoordinator</a:t>
            </a:r>
          </a:p>
        </p:txBody>
      </p:sp>
      <p:sp>
        <p:nvSpPr>
          <p:cNvPr id="19" name="parse-persist-detail">
            <a:extLst xmlns:a="http://schemas.openxmlformats.org/drawingml/2006/main">
              <a:ext uri="{FF2B5EF4-FFF2-40B4-BE49-F238E27FC236}">
                <a16:creationId xmlns:a16="http://schemas.microsoft.com/office/drawing/2014/main" id="{EB4F13D1-FB98-423F-86FB-2DF171C28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038350"/>
            <a:ext cx="1809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history hoặc failure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Mongo confirmation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checkpoint advance</a:t>
            </a:r>
          </a:p>
        </p:txBody>
      </p:sp>
      <p:sp>
        <p:nvSpPr>
          <p:cNvPr id="20" name="parse-band">
            <a:extLst xmlns:a="http://schemas.openxmlformats.org/drawingml/2006/main">
              <a:ext uri="{FF2B5EF4-FFF2-40B4-BE49-F238E27FC236}">
                <a16:creationId xmlns:a16="http://schemas.microsoft.com/office/drawing/2014/main" id="{5CED0B6F-0888-43F4-874B-25E4DCCE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12585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21" name="parse-band-title">
            <a:extLst xmlns:a="http://schemas.openxmlformats.org/drawingml/2006/main">
              <a:ext uri="{FF2B5EF4-FFF2-40B4-BE49-F238E27FC236}">
                <a16:creationId xmlns:a16="http://schemas.microsoft.com/office/drawing/2014/main" id="{2BCD9C6A-931A-4C8A-9B39-C8DF4225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243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Canonical mapping hiện tại</a:t>
            </a:r>
          </a:p>
        </p:txBody>
      </p:sp>
      <p:sp>
        <p:nvSpPr>
          <p:cNvPr id="22" name="parse-band-detail">
            <a:extLst xmlns:a="http://schemas.openxmlformats.org/drawingml/2006/main">
              <a:ext uri="{FF2B5EF4-FFF2-40B4-BE49-F238E27FC236}">
                <a16:creationId xmlns:a16="http://schemas.microsoft.com/office/drawing/2014/main" id="{4F2E30B7-585E-42DE-814E-DB7A1FA8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2435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@ header/time/device/gate   •   b gate state   •   t signal + TagId</a:t>
            </a:r>
          </a:p>
          <a:p xmlns:a="http://schemas.openxmlformats.org/drawingml/2006/main">
            <a:pPr algn="ctr">
              <a:defRPr sz="120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te business process   •   sp style process   •   u user   •   e(0) record boundary</a:t>
            </a:r>
          </a:p>
        </p:txBody>
      </p:sp>
      <p:sp>
        <p:nvSpPr>
          <p:cNvPr id="23" name="parse-band-rule">
            <a:extLst xmlns:a="http://schemas.openxmlformats.org/drawingml/2006/main">
              <a:ext uri="{FF2B5EF4-FFF2-40B4-BE49-F238E27FC236}">
                <a16:creationId xmlns:a16="http://schemas.microsoft.com/office/drawing/2014/main" id="{68D6EB15-0FD4-41B7-810D-74B54C74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6B6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26B61"/>
                </a:solidFill>
                <a:latin typeface="Aptos"/>
                <a:ea typeface="Aptos"/>
                <a:cs typeface="Aptos"/>
              </a:rPr>
              <a:t>Không parse partial record • không suy đoán field • giữ raw text để audit/retry</a:t>
            </a:r>
          </a:p>
        </p:txBody>
      </p:sp>
      <p:sp>
        <p:nvSpPr>
          <p:cNvPr id="24" name="footer-note">
            <a:extLst xmlns:a="http://schemas.openxmlformats.org/drawingml/2006/main">
              <a:ext uri="{FF2B5EF4-FFF2-40B4-BE49-F238E27FC236}">
                <a16:creationId xmlns:a16="http://schemas.microsoft.com/office/drawing/2014/main" id="{5466AE09-5678-4599-AA9A-D6E20022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11201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FileId là routing identity; DeviceId, GateId và TagId là các field nghiệp vụ riêng.</a:t>
            </a:r>
          </a:p>
        </p:txBody>
      </p:sp>
    </p:spTree>
    <p:extLst>
      <p:ext uri="{BB962C8B-B14F-4D97-AF65-F5344CB8AC3E}">
        <p14:creationId xmlns:p14="http://schemas.microsoft.com/office/powerpoint/2010/main" val="13169817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599A99AF-066A-4A2D-9673-7BC42F32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9A9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9A98"/>
                </a:solidFill>
                <a:latin typeface="Aptos"/>
                <a:ea typeface="Aptos"/>
                <a:cs typeface="Aptos"/>
              </a:rPr>
              <a:t>RELIABILITY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810AB9-E57C-4867-AD2E-D4B866FB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Write trước, checkpoint sau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4910D8C-F53B-4412-8E76-04D2AB11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38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Đây là invariant reliability quan trọng nhất của raw-log ingestion.</a:t>
            </a:r>
          </a:p>
        </p:txBody>
      </p:sp>
      <p:sp>
        <p:nvSpPr>
          <p:cNvPr id="4" name="slide-version">
            <a:extLst xmlns:a="http://schemas.openxmlformats.org/drawingml/2006/main">
              <a:ext uri="{FF2B5EF4-FFF2-40B4-BE49-F238E27FC236}">
                <a16:creationId xmlns:a16="http://schemas.microsoft.com/office/drawing/2014/main" id="{9BF5B074-C0A7-4213-8E61-E0154300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8575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E7D8B"/>
                </a:solidFill>
                <a:latin typeface="Aptos"/>
                <a:ea typeface="Aptos"/>
                <a:cs typeface="Aptos"/>
              </a:rPr>
              <a:t>VISUALIZE • 08/10</a:t>
            </a:r>
          </a:p>
        </p:txBody>
      </p:sp>
      <p:sp>
        <p:nvSpPr>
          <p:cNvPr id="5" name="write-result">
            <a:extLst xmlns:a="http://schemas.openxmlformats.org/drawingml/2006/main">
              <a:ext uri="{FF2B5EF4-FFF2-40B4-BE49-F238E27FC236}">
                <a16:creationId xmlns:a16="http://schemas.microsoft.com/office/drawing/2014/main" id="{27921542-2654-4A62-947D-1EA871C0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21907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DEBFA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6" name="write-result-title">
            <a:extLst xmlns:a="http://schemas.openxmlformats.org/drawingml/2006/main">
              <a:ext uri="{FF2B5EF4-FFF2-40B4-BE49-F238E27FC236}">
                <a16:creationId xmlns:a16="http://schemas.microsoft.com/office/drawing/2014/main" id="{D370E29E-A771-4ED7-89B8-B511814D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1962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D56B8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5D56B8"/>
                </a:solidFill>
                <a:latin typeface="Georgia"/>
                <a:ea typeface="Georgia"/>
                <a:cs typeface="Georgia"/>
              </a:rPr>
              <a:t>Processing result</a:t>
            </a:r>
          </a:p>
        </p:txBody>
      </p:sp>
      <p:sp>
        <p:nvSpPr>
          <p:cNvPr id="7" name="write-result-detail">
            <a:extLst xmlns:a="http://schemas.openxmlformats.org/drawingml/2006/main">
              <a:ext uri="{FF2B5EF4-FFF2-40B4-BE49-F238E27FC236}">
                <a16:creationId xmlns:a16="http://schemas.microsoft.com/office/drawing/2014/main" id="{3925A2AE-7D0C-48AD-806D-ED0E5BE9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924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event hoặc failure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record offsets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logical file key</a:t>
            </a:r>
          </a:p>
        </p:txBody>
      </p:sp>
      <p:sp>
        <p:nvSpPr>
          <p:cNvPr id="8" name="write-a1">
            <a:extLst xmlns:a="http://schemas.openxmlformats.org/drawingml/2006/main">
              <a:ext uri="{FF2B5EF4-FFF2-40B4-BE49-F238E27FC236}">
                <a16:creationId xmlns:a16="http://schemas.microsoft.com/office/drawing/2014/main" id="{B45F9EF6-992F-44BB-8337-60DB7981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336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write-doc">
            <a:extLst xmlns:a="http://schemas.openxmlformats.org/drawingml/2006/main">
              <a:ext uri="{FF2B5EF4-FFF2-40B4-BE49-F238E27FC236}">
                <a16:creationId xmlns:a16="http://schemas.microsoft.com/office/drawing/2014/main" id="{DD18CB78-80A1-4632-A629-46660488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752600"/>
            <a:ext cx="25717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3F4F1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0" name="write-doc-title">
            <a:extLst xmlns:a="http://schemas.openxmlformats.org/drawingml/2006/main">
              <a:ext uri="{FF2B5EF4-FFF2-40B4-BE49-F238E27FC236}">
                <a16:creationId xmlns:a16="http://schemas.microsoft.com/office/drawing/2014/main" id="{36A17076-3187-49C4-AD20-BE98513D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6690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9A98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9A98"/>
                </a:solidFill>
                <a:latin typeface="Georgia"/>
                <a:ea typeface="Georgia"/>
                <a:cs typeface="Georgia"/>
              </a:rPr>
              <a:t>Mongo history / failure</a:t>
            </a:r>
          </a:p>
        </p:txBody>
      </p:sp>
      <p:sp>
        <p:nvSpPr>
          <p:cNvPr id="11" name="write-doc-detail">
            <a:extLst xmlns:a="http://schemas.openxmlformats.org/drawingml/2006/main">
              <a:ext uri="{FF2B5EF4-FFF2-40B4-BE49-F238E27FC236}">
                <a16:creationId xmlns:a16="http://schemas.microsoft.com/office/drawing/2014/main" id="{B55CCD14-C2A8-42A4-B29A-63CDDA9B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190750"/>
            <a:ext cx="23050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PersistAsync()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unique eventId / failureId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retry duplicate-safe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raw payload + diagnostics</a:t>
            </a:r>
          </a:p>
        </p:txBody>
      </p:sp>
      <p:sp>
        <p:nvSpPr>
          <p:cNvPr id="12" name="write-a2">
            <a:extLst xmlns:a="http://schemas.openxmlformats.org/drawingml/2006/main">
              <a:ext uri="{FF2B5EF4-FFF2-40B4-BE49-F238E27FC236}">
                <a16:creationId xmlns:a16="http://schemas.microsoft.com/office/drawing/2014/main" id="{AF2414EC-7B52-4168-8254-27E7A3E2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336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write-checkpoint">
            <a:extLst xmlns:a="http://schemas.openxmlformats.org/drawingml/2006/main">
              <a:ext uri="{FF2B5EF4-FFF2-40B4-BE49-F238E27FC236}">
                <a16:creationId xmlns:a16="http://schemas.microsoft.com/office/drawing/2014/main" id="{A35985DE-57B2-42AC-84B7-98D5DE60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52600"/>
            <a:ext cx="3048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4" name="write-checkpoint-title">
            <a:extLst xmlns:a="http://schemas.openxmlformats.org/drawingml/2006/main">
              <a:ext uri="{FF2B5EF4-FFF2-40B4-BE49-F238E27FC236}">
                <a16:creationId xmlns:a16="http://schemas.microsoft.com/office/drawing/2014/main" id="{EEE19A40-EBAB-48B3-B70F-550EF5360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866900"/>
            <a:ext cx="2819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Mongo checkpoint</a:t>
            </a:r>
          </a:p>
        </p:txBody>
      </p:sp>
      <p:sp>
        <p:nvSpPr>
          <p:cNvPr id="15" name="write-checkpoint-detail">
            <a:extLst xmlns:a="http://schemas.openxmlformats.org/drawingml/2006/main">
              <a:ext uri="{FF2B5EF4-FFF2-40B4-BE49-F238E27FC236}">
                <a16:creationId xmlns:a16="http://schemas.microsoft.com/office/drawing/2014/main" id="{EB34BE60-2975-405F-983F-181C5AE2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190750"/>
            <a:ext cx="27813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AdvanceAsync(key, version)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CAS / conflict detection</a:t>
            </a:r>
          </a:p>
          <a:p xmlns:a="http://schemas.openxmlformats.org/drawingml/2006/main">
            <a:pPr algn="ctr">
              <a:defRPr sz="975" b="0">
                <a:solidFill>
                  <a:srgbClr val="DCE8E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CE8EF"/>
                </a:solidFill>
                <a:latin typeface="Aptos"/>
                <a:ea typeface="Aptos"/>
                <a:cs typeface="Aptos"/>
              </a:rPr>
              <a:t>chỉ sau Mongo confirmation</a:t>
            </a:r>
          </a:p>
        </p:txBody>
      </p:sp>
      <p:sp>
        <p:nvSpPr>
          <p:cNvPr id="16" name="write-invariant">
            <a:extLst xmlns:a="http://schemas.openxmlformats.org/drawingml/2006/main">
              <a:ext uri="{FF2B5EF4-FFF2-40B4-BE49-F238E27FC236}">
                <a16:creationId xmlns:a16="http://schemas.microsoft.com/office/drawing/2014/main" id="{05B4EF1F-2467-4E42-8FF9-2465C829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00550"/>
            <a:ext cx="96583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DDA13A"/>
            </a:solidFill>
            <a:prstDash val="solid"/>
          </a:ln>
        </p:spPr>
      </p:sp>
      <p:sp>
        <p:nvSpPr>
          <p:cNvPr id="17" name="write-invariant-text">
            <a:extLst xmlns:a="http://schemas.openxmlformats.org/drawingml/2006/main">
              <a:ext uri="{FF2B5EF4-FFF2-40B4-BE49-F238E27FC236}">
                <a16:creationId xmlns:a16="http://schemas.microsoft.com/office/drawing/2014/main" id="{E30AC3D0-0ACE-485F-AC30-C1A29832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10100"/>
            <a:ext cx="908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persist document  →  Mongo confirmation  →  advance checkpoint</a:t>
            </a:r>
          </a:p>
        </p:txBody>
      </p:sp>
      <p:sp>
        <p:nvSpPr>
          <p:cNvPr id="18" name="write-invariant-note">
            <a:extLst xmlns:a="http://schemas.openxmlformats.org/drawingml/2006/main">
              <a:ext uri="{FF2B5EF4-FFF2-40B4-BE49-F238E27FC236}">
                <a16:creationId xmlns:a16="http://schemas.microsoft.com/office/drawing/2014/main" id="{F583D031-EE8F-4273-B391-5A05FC89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72050"/>
            <a:ext cx="9086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Checkpoint lỗi hoặc process crash → lần sau đọc lại; không mất raw record đã có trong file.</a:t>
            </a:r>
          </a:p>
        </p:txBody>
      </p:sp>
      <p:sp>
        <p:nvSpPr>
          <p:cNvPr id="19" name="footer-note">
            <a:extLst xmlns:a="http://schemas.openxmlformats.org/drawingml/2006/main">
              <a:ext uri="{FF2B5EF4-FFF2-40B4-BE49-F238E27FC236}">
                <a16:creationId xmlns:a16="http://schemas.microsoft.com/office/drawing/2014/main" id="{F84956A9-1E50-4DCD-AA38-A9E64782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11201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Collections: device_event_history • ingestion_failures • ingestion_checkpoints.</a:t>
            </a:r>
          </a:p>
        </p:txBody>
      </p:sp>
    </p:spTree>
    <p:extLst>
      <p:ext uri="{BB962C8B-B14F-4D97-AF65-F5344CB8AC3E}">
        <p14:creationId xmlns:p14="http://schemas.microsoft.com/office/powerpoint/2010/main" val="13851039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862E9950-7041-48AF-BD86-7B39F448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9A9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9A98"/>
                </a:solidFill>
                <a:latin typeface="Aptos"/>
                <a:ea typeface="Aptos"/>
                <a:cs typeface="Aptos"/>
              </a:rPr>
              <a:t>OPERATIONS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A9E3C24-A4EB-40FF-8BB8-5161F8A1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Scheduling và observability làm runtime có thể vận hành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44FBBB4-0345-4DB1-A4E3-75BA435F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38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Fair turns tránh hot file chiếm worker; metrics/logs/health state cho biết pipeline đang ở đâu.</a:t>
            </a:r>
          </a:p>
        </p:txBody>
      </p:sp>
      <p:sp>
        <p:nvSpPr>
          <p:cNvPr id="4" name="slide-version">
            <a:extLst xmlns:a="http://schemas.openxmlformats.org/drawingml/2006/main">
              <a:ext uri="{FF2B5EF4-FFF2-40B4-BE49-F238E27FC236}">
                <a16:creationId xmlns:a16="http://schemas.microsoft.com/office/drawing/2014/main" id="{A1B6BE8A-F923-4805-B3A0-E4FD7699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8575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E7D8B"/>
                </a:solidFill>
                <a:latin typeface="Aptos"/>
                <a:ea typeface="Aptos"/>
                <a:cs typeface="Aptos"/>
              </a:rPr>
              <a:t>VISUALIZE • 09/10</a:t>
            </a:r>
          </a:p>
        </p:txBody>
      </p:sp>
      <p:sp>
        <p:nvSpPr>
          <p:cNvPr id="5" name="ops-poll">
            <a:extLst xmlns:a="http://schemas.openxmlformats.org/drawingml/2006/main">
              <a:ext uri="{FF2B5EF4-FFF2-40B4-BE49-F238E27FC236}">
                <a16:creationId xmlns:a16="http://schemas.microsoft.com/office/drawing/2014/main" id="{FD276F21-4AF5-4263-8EE9-FACE2F082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25717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DEBFA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6" name="ops-poll-title">
            <a:extLst xmlns:a="http://schemas.openxmlformats.org/drawingml/2006/main">
              <a:ext uri="{FF2B5EF4-FFF2-40B4-BE49-F238E27FC236}">
                <a16:creationId xmlns:a16="http://schemas.microsoft.com/office/drawing/2014/main" id="{81D41B62-57EF-4EB6-8F39-FA812FCC5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716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D56B8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5D56B8"/>
                </a:solidFill>
                <a:latin typeface="Georgia"/>
                <a:ea typeface="Georgia"/>
                <a:cs typeface="Georgia"/>
              </a:rPr>
              <a:t>SourcePollingCoordinator</a:t>
            </a:r>
          </a:p>
        </p:txBody>
      </p:sp>
      <p:sp>
        <p:nvSpPr>
          <p:cNvPr id="7" name="ops-poll-detail">
            <a:extLst xmlns:a="http://schemas.openxmlformats.org/drawingml/2006/main">
              <a:ext uri="{FF2B5EF4-FFF2-40B4-BE49-F238E27FC236}">
                <a16:creationId xmlns:a16="http://schemas.microsoft.com/office/drawing/2014/main" id="{137F93B3-AA15-4517-93A8-B1AED641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2305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discover + schedule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window theo ngày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không giữ OS thread/file</a:t>
            </a:r>
          </a:p>
        </p:txBody>
      </p:sp>
      <p:sp>
        <p:nvSpPr>
          <p:cNvPr id="8" name="ops-a1">
            <a:extLst xmlns:a="http://schemas.openxmlformats.org/drawingml/2006/main">
              <a:ext uri="{FF2B5EF4-FFF2-40B4-BE49-F238E27FC236}">
                <a16:creationId xmlns:a16="http://schemas.microsoft.com/office/drawing/2014/main" id="{10EB88BF-B316-4759-BBE1-550E7A36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20980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ops-sched">
            <a:extLst xmlns:a="http://schemas.openxmlformats.org/drawingml/2006/main">
              <a:ext uri="{FF2B5EF4-FFF2-40B4-BE49-F238E27FC236}">
                <a16:creationId xmlns:a16="http://schemas.microsoft.com/office/drawing/2014/main" id="{1D36ED7F-3582-4ACD-B8F3-1486C05E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57350"/>
            <a:ext cx="25717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3F4F1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0" name="ops-sched-title">
            <a:extLst xmlns:a="http://schemas.openxmlformats.org/drawingml/2006/main">
              <a:ext uri="{FF2B5EF4-FFF2-40B4-BE49-F238E27FC236}">
                <a16:creationId xmlns:a16="http://schemas.microsoft.com/office/drawing/2014/main" id="{643FE8C5-AD60-4969-8E54-9E3F3A481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716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9A98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9A98"/>
                </a:solidFill>
                <a:latin typeface="Georgia"/>
                <a:ea typeface="Georgia"/>
                <a:cs typeface="Georgia"/>
              </a:rPr>
              <a:t>FairFileScheduler</a:t>
            </a:r>
          </a:p>
        </p:txBody>
      </p:sp>
      <p:sp>
        <p:nvSpPr>
          <p:cNvPr id="11" name="ops-sched-detail">
            <a:extLst xmlns:a="http://schemas.openxmlformats.org/drawingml/2006/main">
              <a:ext uri="{FF2B5EF4-FFF2-40B4-BE49-F238E27FC236}">
                <a16:creationId xmlns:a16="http://schemas.microsoft.com/office/drawing/2014/main" id="{A5B1CDB6-5D8B-48AF-B7B5-C2D01A71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95500"/>
            <a:ext cx="2305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bounded Channel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MaxConcurrentFiles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non-blocking requeue</a:t>
            </a:r>
          </a:p>
        </p:txBody>
      </p:sp>
      <p:sp>
        <p:nvSpPr>
          <p:cNvPr id="12" name="ops-a2">
            <a:extLst xmlns:a="http://schemas.openxmlformats.org/drawingml/2006/main">
              <a:ext uri="{FF2B5EF4-FFF2-40B4-BE49-F238E27FC236}">
                <a16:creationId xmlns:a16="http://schemas.microsoft.com/office/drawing/2014/main" id="{5B4AFF64-40D8-4FB1-A65A-1A1510A3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0980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ps-turn">
            <a:extLst xmlns:a="http://schemas.openxmlformats.org/drawingml/2006/main">
              <a:ext uri="{FF2B5EF4-FFF2-40B4-BE49-F238E27FC236}">
                <a16:creationId xmlns:a16="http://schemas.microsoft.com/office/drawing/2014/main" id="{04D9AF41-B14D-4BEB-B0A5-F0C1E284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657350"/>
            <a:ext cx="25717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4" name="ops-turn-title">
            <a:extLst xmlns:a="http://schemas.openxmlformats.org/drawingml/2006/main">
              <a:ext uri="{FF2B5EF4-FFF2-40B4-BE49-F238E27FC236}">
                <a16:creationId xmlns:a16="http://schemas.microsoft.com/office/drawing/2014/main" id="{EEE68A47-0F4B-4D5E-9459-9BC33551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7716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DA13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DA13A"/>
                </a:solidFill>
                <a:latin typeface="Georgia"/>
                <a:ea typeface="Georgia"/>
                <a:cs typeface="Georgia"/>
              </a:rPr>
              <a:t>FileTurnProcessor</a:t>
            </a:r>
          </a:p>
        </p:txBody>
      </p:sp>
      <p:sp>
        <p:nvSpPr>
          <p:cNvPr id="15" name="ops-turn-detail">
            <a:extLst xmlns:a="http://schemas.openxmlformats.org/drawingml/2006/main">
              <a:ext uri="{FF2B5EF4-FFF2-40B4-BE49-F238E27FC236}">
                <a16:creationId xmlns:a16="http://schemas.microsoft.com/office/drawing/2014/main" id="{20797460-74AE-4899-9B1D-EB1B1B8B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305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byte/record/time budget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complete / partial / retry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shutdown-aware</a:t>
            </a:r>
          </a:p>
        </p:txBody>
      </p:sp>
      <p:sp>
        <p:nvSpPr>
          <p:cNvPr id="16" name="ops-band">
            <a:extLst xmlns:a="http://schemas.openxmlformats.org/drawingml/2006/main">
              <a:ext uri="{FF2B5EF4-FFF2-40B4-BE49-F238E27FC236}">
                <a16:creationId xmlns:a16="http://schemas.microsoft.com/office/drawing/2014/main" id="{0F860120-900F-463F-80E8-718417AF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901065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7" name="ops-band-title">
            <a:extLst xmlns:a="http://schemas.openxmlformats.org/drawingml/2006/main">
              <a:ext uri="{FF2B5EF4-FFF2-40B4-BE49-F238E27FC236}">
                <a16:creationId xmlns:a16="http://schemas.microsoft.com/office/drawing/2014/main" id="{EC268397-D0A2-4988-9BBF-86A89A8F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209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Quan sát được</a:t>
            </a:r>
          </a:p>
        </p:txBody>
      </p:sp>
      <p:sp>
        <p:nvSpPr>
          <p:cNvPr id="18" name="ops-band-detail">
            <a:extLst xmlns:a="http://schemas.openxmlformats.org/drawingml/2006/main">
              <a:ext uri="{FF2B5EF4-FFF2-40B4-BE49-F238E27FC236}">
                <a16:creationId xmlns:a16="http://schemas.microsoft.com/office/drawing/2014/main" id="{FDE34D38-6967-49F4-ABA1-B5E4EB3C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IngestionMetrics: discovered / bytes / framed / persisted / checkpoint</a:t>
            </a:r>
          </a:p>
          <a:p xmlns:a="http://schemas.openxmlformats.org/drawingml/2006/main">
            <a:pPr algn="ctr">
              <a:defRPr sz="11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LoggingScopes: WorkerId • SourceId • FileId • offsets</a:t>
            </a:r>
          </a:p>
          <a:p xmlns:a="http://schemas.openxmlformats.org/drawingml/2006/main">
            <a:pPr algn="ctr">
              <a:defRPr sz="11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Health: Mongo • source path • ingestion progress</a:t>
            </a:r>
          </a:p>
        </p:txBody>
      </p:sp>
      <p:sp>
        <p:nvSpPr>
          <p:cNvPr id="19" name="ops-limit">
            <a:extLst xmlns:a="http://schemas.openxmlformats.org/drawingml/2006/main">
              <a:ext uri="{FF2B5EF4-FFF2-40B4-BE49-F238E27FC236}">
                <a16:creationId xmlns:a16="http://schemas.microsoft.com/office/drawing/2014/main" id="{9CC09D72-2D5C-4859-BDB9-C9EC25A4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714750"/>
            <a:ext cx="200025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E26B61"/>
            </a:solidFill>
            <a:prstDash val="solid"/>
          </a:ln>
        </p:spPr>
      </p:sp>
      <p:sp>
        <p:nvSpPr>
          <p:cNvPr id="20" name="ops-limit-title">
            <a:extLst xmlns:a="http://schemas.openxmlformats.org/drawingml/2006/main">
              <a:ext uri="{FF2B5EF4-FFF2-40B4-BE49-F238E27FC236}">
                <a16:creationId xmlns:a16="http://schemas.microsoft.com/office/drawing/2014/main" id="{FCB3F275-0FBF-4419-9B33-C5456932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924300"/>
            <a:ext cx="1657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26B61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E26B61"/>
                </a:solidFill>
                <a:latin typeface="Georgia"/>
                <a:ea typeface="Georgia"/>
                <a:cs typeface="Georgia"/>
              </a:rPr>
              <a:t>Giới hạn hiện tại</a:t>
            </a:r>
          </a:p>
        </p:txBody>
      </p:sp>
      <p:sp>
        <p:nvSpPr>
          <p:cNvPr id="21" name="ops-limit-detail">
            <a:extLst xmlns:a="http://schemas.openxmlformats.org/drawingml/2006/main">
              <a:ext uri="{FF2B5EF4-FFF2-40B4-BE49-F238E27FC236}">
                <a16:creationId xmlns:a16="http://schemas.microsoft.com/office/drawing/2014/main" id="{121C0638-5304-4679-9691-C0AEF478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362450"/>
            <a:ext cx="1619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in-memory queue</a:t>
            </a:r>
          </a:p>
          <a:p xmlns:a="http://schemas.openxmlformats.org/drawingml/2006/main">
            <a:pPr algn="ctr">
              <a:defRPr sz="105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no HTTP endpoint</a:t>
            </a:r>
          </a:p>
          <a:p xmlns:a="http://schemas.openxmlformats.org/drawingml/2006/main">
            <a:pPr algn="ctr">
              <a:defRPr sz="105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no multi-worker lease</a:t>
            </a:r>
          </a:p>
        </p:txBody>
      </p:sp>
      <p:sp>
        <p:nvSpPr>
          <p:cNvPr id="22" name="footer-note">
            <a:extLst xmlns:a="http://schemas.openxmlformats.org/drawingml/2006/main">
              <a:ext uri="{FF2B5EF4-FFF2-40B4-BE49-F238E27FC236}">
                <a16:creationId xmlns:a16="http://schemas.microsoft.com/office/drawing/2014/main" id="{F2149F0D-33EE-4273-82F6-58338881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11201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Crash/restart: queue mất; raw file + durable checkpoint giúp đọc lại an toàn.</a:t>
            </a:r>
          </a:p>
        </p:txBody>
      </p:sp>
    </p:spTree>
    <p:extLst>
      <p:ext uri="{BB962C8B-B14F-4D97-AF65-F5344CB8AC3E}">
        <p14:creationId xmlns:p14="http://schemas.microsoft.com/office/powerpoint/2010/main" val="9561104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AEE1216F-40E7-4A92-9A32-1F0EEFFD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9A9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9A98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7BF0F3-B27D-4196-A95D-31D69B1D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Mở rộng theo boundary, không phá đường bền vững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7BEAC2E-F80E-45CB-9CFF-2C7B14DB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38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Thêm source, block, database hoặc orchestration mới mà vẫn giữ contract cốt lõi.</a:t>
            </a:r>
          </a:p>
        </p:txBody>
      </p:sp>
      <p:sp>
        <p:nvSpPr>
          <p:cNvPr id="4" name="slide-version">
            <a:extLst xmlns:a="http://schemas.openxmlformats.org/drawingml/2006/main">
              <a:ext uri="{FF2B5EF4-FFF2-40B4-BE49-F238E27FC236}">
                <a16:creationId xmlns:a16="http://schemas.microsoft.com/office/drawing/2014/main" id="{FA13CBF9-D3FA-43C2-9B49-D237211F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8575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E7D8B"/>
                </a:solidFill>
                <a:latin typeface="Aptos"/>
                <a:ea typeface="Aptos"/>
                <a:cs typeface="Aptos"/>
              </a:rPr>
              <a:t>VISUALIZE • 10/10</a:t>
            </a:r>
          </a:p>
        </p:txBody>
      </p:sp>
      <p:sp>
        <p:nvSpPr>
          <p:cNvPr id="5" name="ext-source">
            <a:extLst xmlns:a="http://schemas.openxmlformats.org/drawingml/2006/main">
              <a:ext uri="{FF2B5EF4-FFF2-40B4-BE49-F238E27FC236}">
                <a16:creationId xmlns:a16="http://schemas.microsoft.com/office/drawing/2014/main" id="{0E6834A5-48CD-44D7-95BF-2EB7B2D2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7350"/>
            <a:ext cx="4953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DEBFA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6" name="ext-source-title">
            <a:extLst xmlns:a="http://schemas.openxmlformats.org/drawingml/2006/main">
              <a:ext uri="{FF2B5EF4-FFF2-40B4-BE49-F238E27FC236}">
                <a16:creationId xmlns:a16="http://schemas.microsoft.com/office/drawing/2014/main" id="{3F2088E9-5C50-4D8C-8F3B-87A48B2C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472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D56B8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5D56B8"/>
                </a:solidFill>
                <a:latin typeface="Georgia"/>
                <a:ea typeface="Georgia"/>
                <a:cs typeface="Georgia"/>
              </a:rPr>
              <a:t>Thêm source mode</a:t>
            </a:r>
          </a:p>
        </p:txBody>
      </p:sp>
      <p:sp>
        <p:nvSpPr>
          <p:cNvPr id="7" name="ext-source-detail">
            <a:extLst xmlns:a="http://schemas.openxmlformats.org/drawingml/2006/main">
              <a:ext uri="{FF2B5EF4-FFF2-40B4-BE49-F238E27FC236}">
                <a16:creationId xmlns:a16="http://schemas.microsoft.com/office/drawing/2014/main" id="{6C0CE6AE-669B-47E8-B8AF-15DE32C4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4686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IRawLogSourceFileDiscovery + IRawLogTailReader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adapter mới đăng ký tại composition root</a:t>
            </a:r>
          </a:p>
        </p:txBody>
      </p:sp>
      <p:sp>
        <p:nvSpPr>
          <p:cNvPr id="8" name="ext-parser">
            <a:extLst xmlns:a="http://schemas.openxmlformats.org/drawingml/2006/main">
              <a:ext uri="{FF2B5EF4-FFF2-40B4-BE49-F238E27FC236}">
                <a16:creationId xmlns:a16="http://schemas.microsoft.com/office/drawing/2014/main" id="{1EBF39F3-6296-452D-9C54-B3A7CC8E8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657350"/>
            <a:ext cx="4953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3F4F1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9" name="ext-parser-title">
            <a:extLst xmlns:a="http://schemas.openxmlformats.org/drawingml/2006/main">
              <a:ext uri="{FF2B5EF4-FFF2-40B4-BE49-F238E27FC236}">
                <a16:creationId xmlns:a16="http://schemas.microsoft.com/office/drawing/2014/main" id="{0E71166A-56B4-4D37-B0F6-428971D9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71650"/>
            <a:ext cx="472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9A98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9A98"/>
                </a:solidFill>
                <a:latin typeface="Georgia"/>
                <a:ea typeface="Georgia"/>
                <a:cs typeface="Georgia"/>
              </a:rPr>
              <a:t>Thêm block / mapping</a:t>
            </a:r>
          </a:p>
        </p:txBody>
      </p:sp>
      <p:sp>
        <p:nvSpPr>
          <p:cNvPr id="10" name="ext-parser-detail">
            <a:extLst xmlns:a="http://schemas.openxmlformats.org/drawingml/2006/main">
              <a:ext uri="{FF2B5EF4-FFF2-40B4-BE49-F238E27FC236}">
                <a16:creationId xmlns:a16="http://schemas.microsoft.com/office/drawing/2014/main" id="{8156BEE3-57A4-4221-9ADC-28747223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95500"/>
            <a:ext cx="4686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BlockTokenizer + parser + mapper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golden fixture và contract test</a:t>
            </a:r>
          </a:p>
        </p:txBody>
      </p:sp>
      <p:sp>
        <p:nvSpPr>
          <p:cNvPr id="11" name="ext-db">
            <a:extLst xmlns:a="http://schemas.openxmlformats.org/drawingml/2006/main">
              <a:ext uri="{FF2B5EF4-FFF2-40B4-BE49-F238E27FC236}">
                <a16:creationId xmlns:a16="http://schemas.microsoft.com/office/drawing/2014/main" id="{B3B6E6BC-D416-4A7F-B9EA-3A0D1E98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81350"/>
            <a:ext cx="4953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2" name="ext-db-title">
            <a:extLst xmlns:a="http://schemas.openxmlformats.org/drawingml/2006/main">
              <a:ext uri="{FF2B5EF4-FFF2-40B4-BE49-F238E27FC236}">
                <a16:creationId xmlns:a16="http://schemas.microsoft.com/office/drawing/2014/main" id="{670BE464-F08D-456A-BC35-5FCB0B43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472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DA13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DDA13A"/>
                </a:solidFill>
                <a:latin typeface="Georgia"/>
                <a:ea typeface="Georgia"/>
                <a:cs typeface="Georgia"/>
              </a:rPr>
              <a:t>Thêm database</a:t>
            </a:r>
          </a:p>
        </p:txBody>
      </p:sp>
      <p:sp>
        <p:nvSpPr>
          <p:cNvPr id="13" name="ext-db-detail">
            <a:extLst xmlns:a="http://schemas.openxmlformats.org/drawingml/2006/main">
              <a:ext uri="{FF2B5EF4-FFF2-40B4-BE49-F238E27FC236}">
                <a16:creationId xmlns:a16="http://schemas.microsoft.com/office/drawing/2014/main" id="{24C2B83F-CAC7-44A5-B112-D94544C77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0"/>
            <a:ext cx="4686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Application persistence interface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Infrastructure store + mapper + indexes</a:t>
            </a:r>
          </a:p>
        </p:txBody>
      </p:sp>
      <p:sp>
        <p:nvSpPr>
          <p:cNvPr id="14" name="ext-orch">
            <a:extLst xmlns:a="http://schemas.openxmlformats.org/drawingml/2006/main">
              <a:ext uri="{FF2B5EF4-FFF2-40B4-BE49-F238E27FC236}">
                <a16:creationId xmlns:a16="http://schemas.microsoft.com/office/drawing/2014/main" id="{EC69BED5-31AF-498D-98A0-7F415B93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181350"/>
            <a:ext cx="4953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5EFF7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5" name="ext-orch-title">
            <a:extLst xmlns:a="http://schemas.openxmlformats.org/drawingml/2006/main">
              <a:ext uri="{FF2B5EF4-FFF2-40B4-BE49-F238E27FC236}">
                <a16:creationId xmlns:a16="http://schemas.microsoft.com/office/drawing/2014/main" id="{D96C6E52-CAE5-4130-9761-55457D21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295650"/>
            <a:ext cx="472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Đổi orchestration</a:t>
            </a:r>
          </a:p>
        </p:txBody>
      </p:sp>
      <p:sp>
        <p:nvSpPr>
          <p:cNvPr id="16" name="ext-orch-detail">
            <a:extLst xmlns:a="http://schemas.openxmlformats.org/drawingml/2006/main">
              <a:ext uri="{FF2B5EF4-FFF2-40B4-BE49-F238E27FC236}">
                <a16:creationId xmlns:a16="http://schemas.microsoft.com/office/drawing/2014/main" id="{1F294D11-2149-4550-A7A9-436E4736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19500"/>
            <a:ext cx="4686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FileTurnProcessor / FairFileScheduler</a:t>
            </a:r>
          </a:p>
          <a:p xmlns:a="http://schemas.openxmlformats.org/drawingml/2006/main">
            <a:pPr algn="ctr">
              <a:defRPr sz="97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phải giữ write → checkpoint</a:t>
            </a:r>
          </a:p>
        </p:txBody>
      </p:sp>
      <p:sp>
        <p:nvSpPr>
          <p:cNvPr id="17" name="ext-bottom">
            <a:extLst xmlns:a="http://schemas.openxmlformats.org/drawingml/2006/main">
              <a:ext uri="{FF2B5EF4-FFF2-40B4-BE49-F238E27FC236}">
                <a16:creationId xmlns:a16="http://schemas.microsoft.com/office/drawing/2014/main" id="{1934C6DB-59A6-4117-A876-50116CE8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95850"/>
            <a:ext cx="10287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EF3F5"/>
          </a:solidFill>
          <a:ln xmlns:a="http://schemas.openxmlformats.org/drawingml/2006/main" w="9525">
            <a:solidFill>
              <a:srgbClr val="C8D7DF"/>
            </a:solidFill>
            <a:prstDash val="solid"/>
          </a:ln>
        </p:spPr>
      </p:sp>
      <p:sp>
        <p:nvSpPr>
          <p:cNvPr id="18" name="ext-bottom-title">
            <a:extLst xmlns:a="http://schemas.openxmlformats.org/drawingml/2006/main">
              <a:ext uri="{FF2B5EF4-FFF2-40B4-BE49-F238E27FC236}">
                <a16:creationId xmlns:a16="http://schemas.microsoft.com/office/drawing/2014/main" id="{2C6D4346-6575-46E6-AA32-1C5F1D87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958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Trước khi sửa</a:t>
            </a:r>
          </a:p>
        </p:txBody>
      </p:sp>
      <p:sp>
        <p:nvSpPr>
          <p:cNvPr id="19" name="ext-bottom-detail">
            <a:extLst xmlns:a="http://schemas.openxmlformats.org/drawingml/2006/main">
              <a:ext uri="{FF2B5EF4-FFF2-40B4-BE49-F238E27FC236}">
                <a16:creationId xmlns:a16="http://schemas.microsoft.com/office/drawing/2014/main" id="{06142AB3-365C-4809-BB8C-09618677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1244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Đọc Current-Codebase.md → cập nhật contract docs → viết test → thay đổi implementation → kiểm tra lại flow.</a:t>
            </a:r>
          </a:p>
        </p:txBody>
      </p:sp>
      <p:sp>
        <p:nvSpPr>
          <p:cNvPr id="20" name="footer-note">
            <a:extLst xmlns:a="http://schemas.openxmlformats.org/drawingml/2006/main">
              <a:ext uri="{FF2B5EF4-FFF2-40B4-BE49-F238E27FC236}">
                <a16:creationId xmlns:a16="http://schemas.microsoft.com/office/drawing/2014/main" id="{A55F1827-7E31-48A7-994B-7CB90422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77000"/>
            <a:ext cx="11201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E7D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D8B"/>
                </a:solidFill>
                <a:latin typeface="Aptos"/>
                <a:ea typeface="Aptos"/>
                <a:cs typeface="Aptos"/>
              </a:rPr>
              <a:t>Nếu thay đổi document shape hoặc processing semantics, phải cập nhật schema/architecture trước.</a:t>
            </a:r>
          </a:p>
        </p:txBody>
      </p:sp>
    </p:spTree>
    <p:extLst>
      <p:ext uri="{BB962C8B-B14F-4D97-AF65-F5344CB8AC3E}">
        <p14:creationId xmlns:p14="http://schemas.microsoft.com/office/powerpoint/2010/main" val="18809751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2026-08-26T04:15:29.0290000Z</dcterms:created>
  <dcterms:modified xsi:type="dcterms:W3CDTF">2026-08-26T04:15:29.0290000Z</dcterms:modified>
</coreProperties>
</file>