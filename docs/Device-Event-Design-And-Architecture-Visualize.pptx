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5b5c54a71a421d" /><Relationship Type="http://schemas.openxmlformats.org/officeDocument/2006/relationships/extended-properties" Target="/docProps/app.xml" Id="Rfd9bf76aaee048f7" /><Relationship Type="http://schemas.openxmlformats.org/officeDocument/2006/relationships/officeDocument" Target="/ppt/presentation.xml" Id="Ra33dc861aafc43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59750c2c0d4b96"/>
  </p:sldMasterIdLst>
  <p:notesMasterIdLst>
    <p:notesMasterId xmlns:r="http://schemas.openxmlformats.org/officeDocument/2006/relationships" r:id="Rcacf231c39974bb6"/>
  </p:notesMasterIdLst>
  <p:sldIdLst>
    <p:sldId xmlns:r="http://schemas.openxmlformats.org/officeDocument/2006/relationships" id="256" r:id="R6817e794f0ed4cfc"/>
    <p:sldId xmlns:r="http://schemas.openxmlformats.org/officeDocument/2006/relationships" id="257" r:id="R40770714fab248a9"/>
    <p:sldId xmlns:r="http://schemas.openxmlformats.org/officeDocument/2006/relationships" id="258" r:id="R864b6e2ee9044f60"/>
    <p:sldId xmlns:r="http://schemas.openxmlformats.org/officeDocument/2006/relationships" id="259" r:id="R63b7706982624c18"/>
    <p:sldId xmlns:r="http://schemas.openxmlformats.org/officeDocument/2006/relationships" id="260" r:id="R794c0392b3a44747"/>
    <p:sldId xmlns:r="http://schemas.openxmlformats.org/officeDocument/2006/relationships" id="261" r:id="R26484e98739b4aa4"/>
    <p:sldId xmlns:r="http://schemas.openxmlformats.org/officeDocument/2006/relationships" id="262" r:id="R1085dd40b0b84dec"/>
    <p:sldId xmlns:r="http://schemas.openxmlformats.org/officeDocument/2006/relationships" id="263" r:id="R603a1c36db3f43ee"/>
    <p:sldId xmlns:r="http://schemas.openxmlformats.org/officeDocument/2006/relationships" id="264" r:id="Rc92fe46ee4d340b5"/>
    <p:sldId xmlns:r="http://schemas.openxmlformats.org/officeDocument/2006/relationships" id="265" r:id="Rc07fff468dd245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2db2db0b574434" /><Relationship Type="http://schemas.openxmlformats.org/officeDocument/2006/relationships/slideMaster" Target="/ppt/slideMasters/slideMaster1.xml" Id="R4a59750c2c0d4b96" /><Relationship Type="http://schemas.openxmlformats.org/officeDocument/2006/relationships/notesMaster" Target="/ppt/notesMasters/notesMaster1.xml" Id="Rcacf231c39974bb6" /><Relationship Type="http://schemas.openxmlformats.org/officeDocument/2006/relationships/presProps" Target="/ppt/presProps.xml" Id="Rf5df443568864f4f" /><Relationship Type="http://schemas.openxmlformats.org/officeDocument/2006/relationships/tableStyles" Target="/ppt/tableStyles.xml" Id="R57c2af5e117245c8" /><Relationship Type="http://schemas.openxmlformats.org/officeDocument/2006/relationships/slide" Target="/ppt/slides/slide1.xml" Id="R6817e794f0ed4cfc" /><Relationship Type="http://schemas.openxmlformats.org/officeDocument/2006/relationships/slide" Target="/ppt/slides/slide2.xml" Id="R40770714fab248a9" /><Relationship Type="http://schemas.openxmlformats.org/officeDocument/2006/relationships/slide" Target="/ppt/slides/slide3.xml" Id="R864b6e2ee9044f60" /><Relationship Type="http://schemas.openxmlformats.org/officeDocument/2006/relationships/slide" Target="/ppt/slides/slide4.xml" Id="R63b7706982624c18" /><Relationship Type="http://schemas.openxmlformats.org/officeDocument/2006/relationships/slide" Target="/ppt/slides/slide5.xml" Id="R794c0392b3a44747" /><Relationship Type="http://schemas.openxmlformats.org/officeDocument/2006/relationships/slide" Target="/ppt/slides/slide6.xml" Id="R26484e98739b4aa4" /><Relationship Type="http://schemas.openxmlformats.org/officeDocument/2006/relationships/slide" Target="/ppt/slides/slide7.xml" Id="R1085dd40b0b84dec" /><Relationship Type="http://schemas.openxmlformats.org/officeDocument/2006/relationships/slide" Target="/ppt/slides/slide8.xml" Id="R603a1c36db3f43ee" /><Relationship Type="http://schemas.openxmlformats.org/officeDocument/2006/relationships/slide" Target="/ppt/slides/slide9.xml" Id="Rc92fe46ee4d340b5" /><Relationship Type="http://schemas.openxmlformats.org/officeDocument/2006/relationships/slide" Target="/ppt/slides/slide10.xml" Id="Rc07fff468dd245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c159f9dfc542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a4ee7a94674bff" /><Relationship Type="http://schemas.openxmlformats.org/officeDocument/2006/relationships/notesMaster" Target="/ppt/notesMasters/notesMaster1.xml" Id="R38eeeb5186644f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0389c3e2224242" /><Relationship Type="http://schemas.openxmlformats.org/officeDocument/2006/relationships/notesMaster" Target="/ppt/notesMasters/notesMaster1.xml" Id="Rd6c62f0afed740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080ed8046d454a" /><Relationship Type="http://schemas.openxmlformats.org/officeDocument/2006/relationships/notesMaster" Target="/ppt/notesMasters/notesMaster1.xml" Id="Rc6ec6e2c38ed45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6d2f64f12149d1" /><Relationship Type="http://schemas.openxmlformats.org/officeDocument/2006/relationships/notesMaster" Target="/ppt/notesMasters/notesMaster1.xml" Id="Rcda6b4f0d6344e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550b27909f451d" /><Relationship Type="http://schemas.openxmlformats.org/officeDocument/2006/relationships/notesMaster" Target="/ppt/notesMasters/notesMaster1.xml" Id="R8106d83c46ea4e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96e98ec3ed4ff4" /><Relationship Type="http://schemas.openxmlformats.org/officeDocument/2006/relationships/notesMaster" Target="/ppt/notesMasters/notesMaster1.xml" Id="Rc717ad4f043240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34d2d34a604387" /><Relationship Type="http://schemas.openxmlformats.org/officeDocument/2006/relationships/notesMaster" Target="/ppt/notesMasters/notesMaster1.xml" Id="R5e8431e56b0345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dd235fb2b044d7" /><Relationship Type="http://schemas.openxmlformats.org/officeDocument/2006/relationships/notesMaster" Target="/ppt/notesMasters/notesMaster1.xml" Id="R4de7ba9c886c46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7755f486a24bfb" /><Relationship Type="http://schemas.openxmlformats.org/officeDocument/2006/relationships/notesMaster" Target="/ppt/notesMasters/notesMaster1.xml" Id="Rc3d77d0b582c4f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49ba5208c44927" /><Relationship Type="http://schemas.openxmlformats.org/officeDocument/2006/relationships/notesMaster" Target="/ppt/notesMasters/notesMaster1.xml" Id="Raeb68b87cb8246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[Sources]\n- Device-Event-History-Architecture.md\n- Device-Event-History-Design.md\n- 2026-08-22-Db-Schema.md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[Sources]\n- Device-Event-History-Architecture.md §2-3\n- Device-Event-History-Plan.md §2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[Sources]\n- Device-Event-History-Architecture.md §5-5.1\n- 2026-08-22-Db-Schema.md §5, §10-11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[Sources]\n- Device-Event-History-Architecture.md §6-7\n- Device-Event-History-Plan.md §3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[Sources]\n- Device-Event-History-Architecture.md §9, §11\n- Logs-Reading-Strategy.md §11-13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[Sources]\n- Device-Event-History-Architecture.md §10-13\n- Logs-Reading-Strategy.md §13, §16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[Sources]\n- Device-Event-History-Design.md §3-5, §8\n- Device-Event-History-Architecture.md §1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[Sources]\n- Device-Event-History-Design.md §5-6, §9-10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[Sources]\n- Device-Event-History-Design.md §7-8, §11-14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[Sources]\n- Device-Event-History-Plan.md §15-22\n- Device-Event-History-Design.md §11-14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965123a8a48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f74116aace48a5" /><Relationship Type="http://schemas.openxmlformats.org/officeDocument/2006/relationships/slideLayout" Target="/ppt/slideLayouts/slideLayout1.xml" Id="R90ff250b3d2747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ff250b3d2747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2d8d70c1b420f" /><Relationship Type="http://schemas.openxmlformats.org/officeDocument/2006/relationships/notesSlide" Target="/ppt/notesSlides/notesSlide1.xml" Id="R721357f9d6a94c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3ba489774470f" /><Relationship Type="http://schemas.openxmlformats.org/officeDocument/2006/relationships/notesSlide" Target="/ppt/notesSlides/notesSlide2.xml" Id="R37b9649e56764d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f508d4c064f26" /><Relationship Type="http://schemas.openxmlformats.org/officeDocument/2006/relationships/notesSlide" Target="/ppt/notesSlides/notesSlide3.xml" Id="Rbd8e386f41f04c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c70b92c7344b1" /><Relationship Type="http://schemas.openxmlformats.org/officeDocument/2006/relationships/notesSlide" Target="/ppt/notesSlides/notesSlide4.xml" Id="Rf70c072559be48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30ccaadc04c63" /><Relationship Type="http://schemas.openxmlformats.org/officeDocument/2006/relationships/notesSlide" Target="/ppt/notesSlides/notesSlide5.xml" Id="R70088f0faead48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8dff0babf43ee" /><Relationship Type="http://schemas.openxmlformats.org/officeDocument/2006/relationships/notesSlide" Target="/ppt/notesSlides/notesSlide6.xml" Id="Rd7e95dec707f43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10bdf90414964" /><Relationship Type="http://schemas.openxmlformats.org/officeDocument/2006/relationships/notesSlide" Target="/ppt/notesSlides/notesSlide7.xml" Id="R9b8fb78309a14f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4df2c000c4a5a" /><Relationship Type="http://schemas.openxmlformats.org/officeDocument/2006/relationships/notesSlide" Target="/ppt/notesSlides/notesSlide8.xml" Id="Rbbd66282f8164c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e72a245594eed" /><Relationship Type="http://schemas.openxmlformats.org/officeDocument/2006/relationships/notesSlide" Target="/ppt/notesSlides/notesSlide9.xml" Id="Rd1b8ae9ad46345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f8c215f384b9d" /><Relationship Type="http://schemas.openxmlformats.org/officeDocument/2006/relationships/notesSlide" Target="/ppt/notesSlides/notesSlide10.xml" Id="Raa59a833eb5143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FFD91-7B19-49F8-97EF-EC5E202B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A8A"/>
          </a:solidFill>
          <a:ln xmlns:a="http://schemas.openxmlformats.org/drawingml/2006/main" w="11430">
            <a:solidFill>
              <a:srgbClr val="168A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6AD4B-EB65-4996-AC12-EA304993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68A8A"/>
                </a:solidFill>
              </a:defRPr>
            </a:pPr>
            <a:r>
              <a:rPr sz="900" b="1" i="0">
                <a:solidFill>
                  <a:srgbClr val="168A8A"/>
                </a:solidFill>
              </a:rPr>
              <a:t>DEVICE EVENT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31E29-05D0-4974-A757-86F3CAFF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7239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53E5C"/>
                </a:solidFill>
              </a:defRPr>
            </a:pPr>
            <a:r>
              <a:rPr sz="4050" b="1" i="0">
                <a:solidFill>
                  <a:srgbClr val="153E5C"/>
                </a:solidFill>
              </a:rPr>
              <a:t>Design &amp; Architecture</a:t>
            </a:r>
          </a:p>
          <a:p xmlns:a="http://schemas.openxmlformats.org/drawingml/2006/main">
            <a:pPr algn="l">
              <a:buNone/>
              <a:defRPr sz="4050" b="1" i="0">
                <a:solidFill>
                  <a:srgbClr val="153E5C"/>
                </a:solidFill>
              </a:defRPr>
            </a:pPr>
            <a:r>
              <a:rPr sz="4050" b="1" i="0">
                <a:solidFill>
                  <a:srgbClr val="153E5C"/>
                </a:solidFill>
              </a:rPr>
              <a:t>Visualize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C06B9-A01D-4898-9AD7-7BB65904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C7180"/>
                </a:solidFill>
              </a:defRPr>
            </a:pPr>
            <a:r>
              <a:rPr sz="1650" b="0" i="0">
                <a:solidFill>
                  <a:srgbClr val="5C7180"/>
                </a:solidFill>
              </a:rPr>
              <a:t>Từ raw-log RFID đến lịch sử event bền vững — và đường mở rộng sang SignalR / Analytics.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99AEC-E68C-4CEA-BF7C-134A4B30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57300"/>
            <a:ext cx="3143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F66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E9F15-B6C0-4B00-AADE-DAE281B0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097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F668B"/>
                </a:solidFill>
              </a:defRPr>
            </a:pPr>
            <a:r>
              <a:rPr sz="1575" b="1" i="0">
                <a:solidFill>
                  <a:srgbClr val="1F668B"/>
                </a:solidFill>
              </a:rPr>
              <a:t>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72672-579B-420A-9C66-BDFEF316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975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Ranh giới, runtime, reliability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1C001-8AB0-4336-B134-8B823E1A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0300"/>
            <a:ext cx="3143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1430">
            <a:solidFill>
              <a:srgbClr val="168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13DB6-A846-49F2-B2D4-82AD95BF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527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68A8A"/>
                </a:solidFill>
              </a:defRPr>
            </a:pPr>
            <a:r>
              <a:rPr sz="1575" b="1" i="0">
                <a:solidFill>
                  <a:srgbClr val="168A8A"/>
                </a:solidFill>
              </a:rPr>
              <a:t>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AD912-D635-42D7-83FC-78DAC95D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5275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Hai luồng thu thập và adapter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679C9-0DAB-40EE-9053-68A41C16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43300"/>
            <a:ext cx="3143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56A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E52A3-A7B7-4852-99DF-714CD065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957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A56A00"/>
                </a:solidFill>
              </a:defRPr>
            </a:pPr>
            <a:r>
              <a:rPr sz="1575" b="1" i="0">
                <a:solidFill>
                  <a:srgbClr val="A56A00"/>
                </a:solidFill>
              </a:rPr>
              <a:t>ROADMAP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536EF-261D-4DC1-8752-25BF8C37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9575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Sprint 1 → Sprint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43C83-8132-4581-BA8D-4041B304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53E5C"/>
                </a:solidFill>
              </a:defRPr>
            </a:pPr>
            <a:r>
              <a:rPr sz="1200" b="1" i="0">
                <a:solidFill>
                  <a:srgbClr val="153E5C"/>
                </a:solidFill>
              </a:rPr>
              <a:t>Phase 1 / Sprint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A97C4-ED6B-44D2-BAE4-AABB7D5B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C7180"/>
                </a:solidFill>
              </a:defRPr>
            </a:pPr>
            <a:r>
              <a:rPr sz="1050" b="0" i="0">
                <a:solidFill>
                  <a:srgbClr val="5C7180"/>
                </a:solidFill>
              </a:rPr>
              <a:t>Visual reference cho developer</a:t>
            </a:r>
          </a:p>
        </p:txBody>
      </p:sp>
    </p:spTree>
    <p:extLst>
      <p:ext uri="{BB962C8B-B14F-4D97-AF65-F5344CB8AC3E}">
        <p14:creationId xmlns:p14="http://schemas.microsoft.com/office/powerpoint/2010/main" val="9032746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CC4E3D-D7F5-4F36-8E1B-4322F43E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68A8A"/>
                </a:solidFill>
              </a:defRPr>
            </a:pPr>
            <a:r>
              <a:rPr sz="900" b="1" i="0">
                <a:solidFill>
                  <a:srgbClr val="168A8A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FDC0D-08F9-45B4-BAAC-641DA42B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53E5C"/>
                </a:solidFill>
              </a:defRPr>
            </a:pPr>
            <a:r>
              <a:rPr sz="2700" b="1" i="0">
                <a:solidFill>
                  <a:srgbClr val="153E5C"/>
                </a:solidFill>
              </a:rPr>
              <a:t>Sprint 1 có một đường đi trung tâm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0133C-0ACA-4486-BC54-FAE169E7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C7180"/>
                </a:solidFill>
              </a:defRPr>
            </a:pPr>
            <a:r>
              <a:rPr sz="1350" b="0" i="0">
                <a:solidFill>
                  <a:srgbClr val="5C7180"/>
                </a:solidFill>
              </a:rPr>
              <a:t>Mục tiêu là chứng minh raw file → MongoDB trước khi mở rộng realtime.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1DF49-515A-41FE-827B-6D80EEEB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432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F668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0CA53-A203-4CAD-9F03-EB2D0333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F668B"/>
                </a:solidFill>
              </a:defRPr>
            </a:pPr>
            <a:r>
              <a:rPr sz="1575" b="1" i="0">
                <a:solidFill>
                  <a:srgbClr val="1F668B"/>
                </a:solidFill>
              </a:rPr>
              <a:t>IN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CC3AF-D9B3-43B3-9FB8-644CACC2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8003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Đọc file thực tế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Discover File_{FileId}.txt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Byte offset + e(0)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Parse tolerant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Persist history/failure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Durable checkpoint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BC941-5CD5-4C31-8F41-9411E845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1430">
            <a:solidFill>
              <a:srgbClr val="168A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B9ADC-ED0F-46ED-B877-8B788F89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431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68A8A"/>
                </a:solidFill>
              </a:defRPr>
            </a:pPr>
            <a:r>
              <a:rPr sz="1575" b="1" i="0">
                <a:solidFill>
                  <a:srgbClr val="168A8A"/>
                </a:solidFill>
              </a:rPr>
              <a:t>VERTICAL SLICE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5EFF7-CC8E-4E00-AB97-B4C7C356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43200"/>
            <a:ext cx="28003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RFID.Antenna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        ↓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DeviceEventHistory.Worker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        ↓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MongoDB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5E2F5-2260-4C01-B5A4-F99C5738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31432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56A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3BE7E-D576-4990-BEAE-F76068B2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431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A56A00"/>
                </a:solidFill>
              </a:defRPr>
            </a:pPr>
            <a:r>
              <a:rPr sz="1575" b="1" i="0">
                <a:solidFill>
                  <a:srgbClr val="A56A00"/>
                </a:solidFill>
              </a:rPr>
              <a:t>LATER SPRINTS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E2688-3194-4490-995C-2C9C6F26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43200"/>
            <a:ext cx="28003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AppHub / SignalR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Monitoring UI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Current-state projections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Direct transport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Physical UAT</a:t>
            </a:r>
          </a:p>
        </p:txBody>
      </p:sp>
      <p:cxnSp>
        <p:nvCxnSpPr>
          <p:cNvPr id="71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829050" y="3067050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668B"/>
            </a:solidFill>
            <a:prstDash val="solid"/>
            <a:head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67625" y="3067050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56A00"/>
            </a:solidFill>
            <a:prstDash val="solid"/>
            <a:head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3BCA9-6B10-4149-9C0F-5528850A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C7180"/>
                </a:solidFill>
              </a:defRPr>
            </a:pPr>
            <a:r>
              <a:rPr sz="825" b="0" i="0">
                <a:solidFill>
                  <a:srgbClr val="5C7180"/>
                </a:solidFill>
              </a:rPr>
              <a:t>ARCHITECTURE  •  Device Event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84D2D1-1B0A-4B8D-8B48-65529653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5C7180"/>
                </a:solidFill>
              </a:defRPr>
            </a:pPr>
            <a:r>
              <a:rPr sz="975" b="1" i="0">
                <a:solidFill>
                  <a:srgbClr val="5C71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0688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B4D4D8-4D13-456C-B23B-E79DF76C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68A8A"/>
                </a:solidFill>
              </a:defRPr>
            </a:pPr>
            <a:r>
              <a:rPr sz="900" b="1" i="0">
                <a:solidFill>
                  <a:srgbClr val="168A8A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9E12F-286E-496F-9952-E86BF021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53E5C"/>
                </a:solidFill>
              </a:defRPr>
            </a:pPr>
            <a:r>
              <a:rPr sz="2700" b="1" i="0">
                <a:solidFill>
                  <a:srgbClr val="153E5C"/>
                </a:solidFill>
              </a:rPr>
              <a:t>Worker đứng giữa raw file và ba collection MongoDB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C6213-26C7-4C82-B9AA-950C66BC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C7180"/>
                </a:solidFill>
              </a:defRPr>
            </a:pPr>
            <a:r>
              <a:rPr sz="1350" b="0" i="0">
                <a:solidFill>
                  <a:srgbClr val="5C7180"/>
                </a:solidFill>
              </a:rPr>
              <a:t>Worker đọc read-only; nguồn file vẫn thuộc RFID.Antenna.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388E4-DDFF-4AAD-8C60-BE3720C6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668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73AB5-1A73-475D-98C6-BF98EAA7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F668B"/>
                </a:solidFill>
              </a:defRPr>
            </a:pPr>
            <a:r>
              <a:rPr sz="1575" b="1" i="0">
                <a:solidFill>
                  <a:srgbClr val="1F668B"/>
                </a:solidFill>
              </a:rPr>
              <a:t>RFID.Antenna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54175-2D16-43AD-8F08-69814787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Reader callback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Writer → File_{FileId}.txt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85395-7792-474D-848B-24D4DC15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2381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F66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18473-D650-493F-9E82-3D345DCC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5336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F668B"/>
                </a:solidFill>
              </a:defRPr>
            </a:pPr>
            <a:r>
              <a:rPr sz="1575" b="1" i="0">
                <a:solidFill>
                  <a:srgbClr val="1F668B"/>
                </a:solidFill>
              </a:rPr>
              <a:t>RAW 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BF9F8-28DB-4560-8852-9BFC648E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33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yyyy/MM/dd/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File_{FileId}.txt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marker e(0)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A2D7A-C6FE-4455-9315-6627E9DE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26670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1430">
            <a:solidFill>
              <a:srgbClr val="168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F38AD-1CB1-40AD-8397-7781B49F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288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68A8A"/>
                </a:solidFill>
              </a:defRPr>
            </a:pPr>
            <a:r>
              <a:rPr sz="1575" b="1" i="0">
                <a:solidFill>
                  <a:srgbClr val="168A8A"/>
                </a:solidFill>
              </a:rPr>
              <a:t>WORKER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2158C-3ECA-46C8-BF29-799E67B1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28900"/>
            <a:ext cx="2324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discovery → tail → frame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parse → persist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health + metrics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2EAEC-F786-45FB-9B15-E8244BF6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905000"/>
            <a:ext cx="1619250" cy="2095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56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F69EE-9E39-4C20-8245-9C4FAC62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57400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A56A00"/>
                </a:solidFill>
              </a:defRPr>
            </a:pPr>
            <a:r>
              <a:rPr sz="1350" b="1" i="0">
                <a:solidFill>
                  <a:srgbClr val="A56A00"/>
                </a:solidFill>
              </a:rPr>
              <a:t>MONGODB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13E123-3E19-47C1-9C2B-977378B7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57450"/>
            <a:ext cx="1276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72B3A"/>
                </a:solidFill>
              </a:defRPr>
            </a:pPr>
            <a:r>
              <a:rPr sz="1125" b="0" i="0">
                <a:solidFill>
                  <a:srgbClr val="172B3A"/>
                </a:solidFill>
              </a:rPr>
              <a:t>device_event_history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72B3A"/>
                </a:solidFill>
              </a:defRPr>
            </a:pPr>
            <a:r>
              <a:rPr sz="1125" b="0" i="0">
                <a:solidFill>
                  <a:srgbClr val="172B3A"/>
                </a:solidFill>
              </a:rPr>
              <a:t>ingestion_failures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172B3A"/>
                </a:solidFill>
              </a:defRPr>
            </a:pPr>
            <a:r>
              <a:rPr sz="1125" b="0" i="0">
                <a:solidFill>
                  <a:srgbClr val="172B3A"/>
                </a:solidFill>
              </a:rPr>
              <a:t>ingestion_checkpoints</a:t>
            </a:r>
          </a:p>
        </p:txBody>
      </p:sp>
      <p:cxnSp>
        <p:nvCxnSpPr>
          <p:cNvPr id="91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67050" y="295275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668B"/>
            </a:solidFill>
            <a:prstDash val="solid"/>
            <a:headEnd type="triangle" w="med" len="med"/>
          </a:ln>
        </p:spPr>
      </p:cxnSp>
      <p:cxnSp>
        <p:nvCxnSpPr>
          <p:cNvPr id="9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48375" y="295275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8A8A"/>
            </a:solidFill>
            <a:prstDash val="solid"/>
            <a:headEnd type="triangle" w="med" len="med"/>
          </a:ln>
        </p:spPr>
      </p:cxnSp>
      <p:cxnSp>
        <p:nvCxnSpPr>
          <p:cNvPr id="93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315450" y="29527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56A00"/>
            </a:solidFill>
            <a:prstDash val="solid"/>
            <a:head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2CB82-F494-4646-B84A-9078AB22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95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 i="1">
                <a:solidFill>
                  <a:srgbClr val="5C7180"/>
                </a:solidFill>
              </a:defRPr>
            </a:pPr>
            <a:r>
              <a:rPr sz="1050" b="0" i="1">
                <a:solidFill>
                  <a:srgbClr val="5C7180"/>
                </a:solidFill>
              </a:rPr>
              <a:t>read-only access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EEAC14-93B3-4E24-9DF7-84A466B0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C7180"/>
                </a:solidFill>
              </a:defRPr>
            </a:pPr>
            <a:r>
              <a:rPr sz="825" b="0" i="0">
                <a:solidFill>
                  <a:srgbClr val="5C7180"/>
                </a:solidFill>
              </a:rPr>
              <a:t>ARCHITECTURE  •  Device Event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9B5E7-CE5A-4789-AEF2-A97759AD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5C7180"/>
                </a:solidFill>
              </a:defRPr>
            </a:pPr>
            <a:r>
              <a:rPr sz="975" b="1" i="0">
                <a:solidFill>
                  <a:srgbClr val="5C71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56461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6237BE-7578-4019-A728-CF414020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68A8A"/>
                </a:solidFill>
              </a:defRPr>
            </a:pPr>
            <a:r>
              <a:rPr sz="900" b="1" i="0">
                <a:solidFill>
                  <a:srgbClr val="168A8A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810C4-94D5-4F15-B4BC-DE6712A7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53E5C"/>
                </a:solidFill>
              </a:defRPr>
            </a:pPr>
            <a:r>
              <a:rPr sz="2700" b="1" i="0">
                <a:solidFill>
                  <a:srgbClr val="153E5C"/>
                </a:solidFill>
              </a:rPr>
              <a:t>Dependency đi một chiều, logic không bị kéo vào Worker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401B2-C402-4BD1-BE79-917FA5AE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C7180"/>
                </a:solidFill>
              </a:defRPr>
            </a:pPr>
            <a:r>
              <a:rPr sz="1350" b="0" i="0">
                <a:solidFill>
                  <a:srgbClr val="5C7180"/>
                </a:solidFill>
              </a:rPr>
              <a:t>Mỗi lớp có một trách nhiệm rõ để parser, persistence và orchestration có thể kiểm thử độc lập.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92212-9090-40AB-A311-8BC1910F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762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3E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ECB4E-A63F-4134-97C3-0869D75F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19275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53E5C"/>
                </a:solidFill>
              </a:defRPr>
            </a:pPr>
            <a:r>
              <a:rPr sz="1575" b="1" i="0">
                <a:solidFill>
                  <a:srgbClr val="153E5C"/>
                </a:solidFill>
              </a:rPr>
              <a:t>DOMAIN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5D0AA-7F40-4478-B35C-B8FAAB83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193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Canonical event, facts, failure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C09F1-92D5-4BBE-9EE3-BEED28D6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762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F66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72F19-B744-4CAE-B3CA-3F20D0F7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62275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F668B"/>
                </a:solidFill>
              </a:defRPr>
            </a:pPr>
            <a:r>
              <a:rPr sz="1575" b="1" i="0">
                <a:solidFill>
                  <a:srgbClr val="1F668B"/>
                </a:solidFill>
              </a:rPr>
              <a:t>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E9655-7ED1-4778-BC58-7B735839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623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Use case + identity + checkpoint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24046-77D7-499B-9764-0E7055D5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2762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1430">
            <a:solidFill>
              <a:srgbClr val="168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4C504-8434-4CDB-828E-9189A7CB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05275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68A8A"/>
                </a:solidFill>
              </a:defRPr>
            </a:pPr>
            <a:r>
              <a:rPr sz="1575" b="1" i="0">
                <a:solidFill>
                  <a:srgbClr val="168A8A"/>
                </a:solidFill>
              </a:rPr>
              <a:t>INFRASTRUCTURE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06BA6-AB0D-4F92-86E1-C31CFFC6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053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File adapter + MongoDB + metadata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0D243-2373-4FE4-84B5-C068C47A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762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56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B0747-DCF8-474B-8E3F-475625B4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48275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A56A00"/>
                </a:solidFill>
              </a:defRPr>
            </a:pPr>
            <a:r>
              <a:rPr sz="1575" b="1" i="0">
                <a:solidFill>
                  <a:srgbClr val="A56A00"/>
                </a:solidFill>
              </a:rPr>
              <a:t>WORKER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593B1-675D-4508-826C-E6E67CA9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48325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DI + polling + scheduling + shutdown</a:t>
            </a:r>
          </a:p>
        </p:txBody>
      </p:sp>
      <p:cxnSp>
        <p:nvCxnSpPr>
          <p:cNvPr id="98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238375" y="27146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668B"/>
            </a:solidFill>
            <a:prstDash val="solid"/>
            <a:headEnd type="triangle" w="med" len="med"/>
          </a:ln>
        </p:spPr>
      </p:cxnSp>
      <p:cxnSp>
        <p:nvCxnSpPr>
          <p:cNvPr id="99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238375" y="38576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8A8A"/>
            </a:solidFill>
            <a:prstDash val="solid"/>
            <a:headEnd type="triangle" w="med" len="med"/>
          </a:ln>
        </p:spPr>
      </p:cxnSp>
      <p:cxnSp>
        <p:nvCxnSpPr>
          <p:cNvPr id="100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2238375" y="5000625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56A00"/>
            </a:solidFill>
            <a:prstDash val="solid"/>
            <a:head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7549C-5CE0-47BC-9928-3643CB46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482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A56A00"/>
                </a:solidFill>
              </a:defRPr>
            </a:pPr>
            <a:r>
              <a:rPr sz="1575" b="1" i="0">
                <a:solidFill>
                  <a:srgbClr val="A56A00"/>
                </a:solidFill>
              </a:rPr>
              <a:t>WORKER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6A962-79B5-41EA-932B-A8575BD8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6096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3E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B948AF-C409-4CBA-B626-3A0D6159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47900"/>
            <a:ext cx="575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53E5C"/>
                </a:solidFill>
              </a:defRPr>
            </a:pPr>
            <a:r>
              <a:rPr sz="1800" b="1" i="0">
                <a:solidFill>
                  <a:srgbClr val="153E5C"/>
                </a:solidFill>
              </a:rPr>
              <a:t>BOUNDARIES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0813F8-5037-44F5-B971-FD41380F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57531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72B3A"/>
                </a:solidFill>
              </a:defRPr>
            </a:pPr>
            <a:r>
              <a:rPr sz="1500" b="0" i="0">
                <a:solidFill>
                  <a:srgbClr val="172B3A"/>
                </a:solidFill>
              </a:rPr>
              <a:t>Domain không biết MongoDB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72B3A"/>
                </a:solidFill>
              </a:defRPr>
            </a:pPr>
            <a:r>
              <a:rPr sz="1500" b="0" i="0">
                <a:solidFill>
                  <a:srgbClr val="172B3A"/>
                </a:solidFill>
              </a:rPr>
              <a:t>Application không biết FileStream/BSON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72B3A"/>
                </a:solidFill>
              </a:defRPr>
            </a:pPr>
            <a:r>
              <a:rPr sz="1500" b="0" i="0">
                <a:solidFill>
                  <a:srgbClr val="172B3A"/>
                </a:solidFill>
              </a:rPr>
              <a:t>Infrastructure giữ I/O và mapping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72B3A"/>
                </a:solidFill>
              </a:defRPr>
            </a:pPr>
            <a:r>
              <a:rPr sz="1500" b="0" i="0">
                <a:solidFill>
                  <a:srgbClr val="172B3A"/>
                </a:solidFill>
              </a:rPr>
              <a:t>Worker không chứa parser/persistence logic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72B3A"/>
                </a:solidFill>
              </a:defRPr>
            </a:pPr>
            <a:r>
              <a:rPr sz="1500" b="0" i="0">
                <a:solidFill>
                  <a:srgbClr val="172B3A"/>
                </a:solidFill>
              </a:rPr>
              <a:t>Không reference trực tiếp G-ERP / RFID legacy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11F487-0F17-4E79-A427-3AB62964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15000"/>
            <a:ext cx="2762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EAF4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5A4A8F-CE3C-43F3-B93A-CB7018F7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62625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F668B"/>
                </a:solidFill>
              </a:defRPr>
            </a:pPr>
            <a:r>
              <a:rPr sz="900" b="1" i="0">
                <a:solidFill>
                  <a:srgbClr val="1F668B"/>
                </a:solidFill>
              </a:rPr>
              <a:t>MongoDB chỉ ở Infrastructure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FA864D-0877-485C-AEC2-0AE3E648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15000"/>
            <a:ext cx="3143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FFF4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4962CB-B3C1-4593-A901-55FC7719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626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A56A00"/>
                </a:solidFill>
              </a:defRPr>
            </a:pPr>
            <a:r>
              <a:rPr sz="900" b="1" i="0">
                <a:solidFill>
                  <a:srgbClr val="A56A00"/>
                </a:solidFill>
              </a:rPr>
              <a:t>BackgroundService chỉ ở Worker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85A4D0-EC20-4866-B1CA-1AC46052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C7180"/>
                </a:solidFill>
              </a:defRPr>
            </a:pPr>
            <a:r>
              <a:rPr sz="825" b="0" i="0">
                <a:solidFill>
                  <a:srgbClr val="5C7180"/>
                </a:solidFill>
              </a:rPr>
              <a:t>ARCHITECTURE  •  Device Event History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FA2023-7D49-4505-A635-020B734A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5C7180"/>
                </a:solidFill>
              </a:defRPr>
            </a:pPr>
            <a:r>
              <a:rPr sz="975" b="1" i="0">
                <a:solidFill>
                  <a:srgbClr val="5C71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6026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590055-43A5-47F4-9FA9-22ED615F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68A8A"/>
                </a:solidFill>
              </a:defRPr>
            </a:pPr>
            <a:r>
              <a:rPr sz="900" b="1" i="0">
                <a:solidFill>
                  <a:srgbClr val="168A8A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DB4BC-0C2E-4DCD-947A-3D49DB3D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53E5C"/>
                </a:solidFill>
              </a:defRPr>
            </a:pPr>
            <a:r>
              <a:rPr sz="2700" b="1" i="0">
                <a:solidFill>
                  <a:srgbClr val="153E5C"/>
                </a:solidFill>
              </a:rPr>
              <a:t>Một record đi qua 5 bước trước khi checkpoint tiến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08DFB-F6BC-49F0-8B21-6A412271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C7180"/>
                </a:solidFill>
              </a:defRPr>
            </a:pPr>
            <a:r>
              <a:rPr sz="1350" b="0" i="0">
                <a:solidFill>
                  <a:srgbClr val="5C7180"/>
                </a:solidFill>
              </a:rPr>
              <a:t>Đây là processing contract quan trọng nhất của Sprint 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0063F-DC1A-4B33-9DDF-EE93D8B1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668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0A9CE-8EB8-4427-8DF6-26F5B82C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668B"/>
                </a:solidFill>
              </a:defRPr>
            </a:pPr>
            <a:r>
              <a:rPr sz="1500" b="1" i="0">
                <a:solidFill>
                  <a:srgbClr val="1F668B"/>
                </a:solidFill>
              </a:rPr>
              <a:t>1. DISCOVER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F48E2-0FF5-4603-A1C8-733122C4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Tìm file thực tế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không hard-code 20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1D21B-C766-42FA-AD25-85766792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F66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368B4-A0F5-4D74-9508-57B3CBAA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8127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668B"/>
                </a:solidFill>
              </a:defRPr>
            </a:pPr>
            <a:r>
              <a:rPr sz="1500" b="1" i="0">
                <a:solidFill>
                  <a:srgbClr val="1F668B"/>
                </a:solidFill>
              </a:rPr>
              <a:t>2. FRAME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F1B30-BFA6-422C-BC91-6BDDF6FB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81325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Đọc byte offset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chỉ nhận e(0)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95EB9-6E21-4A11-99B6-E7B2D373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28875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CA71C-85C2-44AF-ADA7-F1A59E18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8127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68A8A"/>
                </a:solidFill>
              </a:defRPr>
            </a:pPr>
            <a:r>
              <a:rPr sz="1500" b="1" i="0">
                <a:solidFill>
                  <a:srgbClr val="168A8A"/>
                </a:solidFill>
              </a:rPr>
              <a:t>3. PARSE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42BE9-0E70-4CAC-8BD5-430F6923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81325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Tokenize @ b t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te sp 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08B9A-56F2-4F02-81B5-77237FD9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1430">
            <a:solidFill>
              <a:srgbClr val="168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76596-B2C4-4C5B-AA50-A28B5696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8127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68A8A"/>
                </a:solidFill>
              </a:defRPr>
            </a:pPr>
            <a:r>
              <a:rPr sz="1500" b="1" i="0">
                <a:solidFill>
                  <a:srgbClr val="168A8A"/>
                </a:solidFill>
              </a:rPr>
              <a:t>4. PERSIST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AD2BF-CB3D-4123-A6FA-DBC8C3B1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81325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History hoặc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ingestion_failure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94866-9CC1-4A74-B497-09DD043B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28875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56A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0EAB9-C383-454F-8788-F9D50209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81275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A56A00"/>
                </a:solidFill>
              </a:defRPr>
            </a:pPr>
            <a:r>
              <a:rPr sz="1500" b="1" i="0">
                <a:solidFill>
                  <a:srgbClr val="A56A00"/>
                </a:solidFill>
              </a:rPr>
              <a:t>5. COMMIT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02150-227A-4481-AA52-A37BF5DD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81325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Mongo confirmed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→ offsetEnd</a:t>
            </a:r>
          </a:p>
        </p:txBody>
      </p:sp>
      <p:cxnSp>
        <p:nvCxnSpPr>
          <p:cNvPr id="109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95550" y="31432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668B"/>
            </a:solidFill>
            <a:prstDash val="solid"/>
            <a:headEnd type="triangle" w="med" len="med"/>
          </a:ln>
        </p:spPr>
      </p:cxnSp>
      <p:cxnSp>
        <p:nvCxnSpPr>
          <p:cNvPr id="110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667250" y="31432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668B"/>
            </a:solidFill>
            <a:prstDash val="solid"/>
            <a:headEnd type="triangle" w="med" len="med"/>
          </a:ln>
        </p:spPr>
      </p:cxnSp>
      <p:cxnSp>
        <p:nvCxnSpPr>
          <p:cNvPr id="111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838950" y="31432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8A8A"/>
            </a:solidFill>
            <a:prstDash val="solid"/>
            <a:headEnd type="triangle" w="med" len="med"/>
          </a:ln>
        </p:spPr>
      </p:cxnSp>
      <p:cxnSp>
        <p:nvCxnSpPr>
          <p:cNvPr id="11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010650" y="31432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56A00"/>
            </a:solidFill>
            <a:prstDash val="solid"/>
            <a:head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52513-C9D8-40DF-87A9-CF312A11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C7180"/>
                </a:solidFill>
              </a:defRPr>
            </a:pPr>
            <a:r>
              <a:rPr sz="825" b="0" i="0">
                <a:solidFill>
                  <a:srgbClr val="5C7180"/>
                </a:solidFill>
              </a:rPr>
              <a:t>ARCHITECTURE  •  Device Event 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C3653D-8464-4A8C-870E-85E54D10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5C7180"/>
                </a:solidFill>
              </a:defRPr>
            </a:pPr>
            <a:r>
              <a:rPr sz="975" b="1" i="0">
                <a:solidFill>
                  <a:srgbClr val="5C71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3287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85830A-8959-41AA-9220-BE7EED20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8A8A"/>
                </a:solidFill>
              </a:defRPr>
            </a:pPr>
            <a:r>
              <a:rPr sz="900" b="1" i="0">
                <a:solidFill>
                  <a:srgbClr val="168A8A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363B8-0A79-404F-929A-88952046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3E5C"/>
                </a:solidFill>
              </a:defRPr>
            </a:pPr>
            <a:r>
              <a:rPr sz="2700" b="1" i="0">
                <a:solidFill>
                  <a:srgbClr val="153E5C"/>
                </a:solidFill>
              </a:rPr>
              <a:t>Checkpoint chỉ tiến sau khi persistence thành công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5895B-1B36-46AB-9ADB-D335154C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180"/>
                </a:solidFill>
              </a:defRPr>
            </a:pPr>
            <a:r>
              <a:rPr sz="1350" b="0" i="0">
                <a:solidFill>
                  <a:srgbClr val="5C7180"/>
                </a:solidFill>
              </a:rPr>
              <a:t>Đọc tuần tự một file: record hoàn chỉnh đi tiếp; record partial hoặc lỗi thì giữ lại để retry.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A9C45-AC77-4F8C-B76D-8CBE14D5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905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F668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DA1B7-E3D7-44BE-BD55-8F9D79B0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668B"/>
                </a:solidFill>
              </a:defRPr>
            </a:pPr>
            <a:r>
              <a:rPr sz="1500" b="1" i="0">
                <a:solidFill>
                  <a:srgbClr val="1F668B"/>
                </a:solidFill>
              </a:rPr>
              <a:t>1. 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62196-EBCB-4B5E-8AF2-879807A4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Đọc checkpoint</a:t>
            </a:r>
          </a:p>
          <a:p xmlns:a="http://schemas.openxmlformats.org/drawingml/2006/main">
            <a:pPr algn="l"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position hiện tại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7D4BA-01BB-4E7A-8164-5CB33F30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1905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66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4372F-8FC5-49C3-8C2A-154E8C8E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8127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668B"/>
                </a:solidFill>
              </a:defRPr>
            </a:pPr>
            <a:r>
              <a:rPr sz="1500" b="1" i="0">
                <a:solidFill>
                  <a:srgbClr val="1F668B"/>
                </a:solidFill>
              </a:rPr>
              <a:t>2. 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660B2-48B2-4BAD-BC55-CF68B8DF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81325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Đọc bytes từ</a:t>
            </a:r>
          </a:p>
          <a:p xmlns:a="http://schemas.openxmlformats.org/drawingml/2006/main">
            <a:pPr algn="l"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position đó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9B61C-73DB-4408-8D00-CC63139D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28875"/>
            <a:ext cx="1905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1430">
            <a:solidFill>
              <a:srgbClr val="168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DA21E-311C-4D98-AA73-A52C7AB0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8127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8A8A"/>
                </a:solidFill>
              </a:defRPr>
            </a:pPr>
            <a:r>
              <a:rPr sz="1500" b="1" i="0">
                <a:solidFill>
                  <a:srgbClr val="168A8A"/>
                </a:solidFill>
              </a:rPr>
              <a:t>3. 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B5F34-FA97-4515-8367-7DF7C630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81325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Tìm record</a:t>
            </a:r>
          </a:p>
          <a:p xmlns:a="http://schemas.openxmlformats.org/drawingml/2006/main">
            <a:pPr algn="l"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kết thúc e(0)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EB3D1-92FE-4E39-9197-8C5A4319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1905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42FFD-34DA-4AEA-B17E-9B8A786F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8127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8A8A"/>
                </a:solidFill>
              </a:defRPr>
            </a:pPr>
            <a:r>
              <a:rPr sz="1500" b="1" i="0">
                <a:solidFill>
                  <a:srgbClr val="168A8A"/>
                </a:solidFill>
              </a:rPr>
              <a:t>4. PERSIST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CD077-5FBB-406F-92DE-45D3414B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81325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History hoặc</a:t>
            </a:r>
          </a:p>
          <a:p xmlns:a="http://schemas.openxmlformats.org/drawingml/2006/main">
            <a:pPr algn="l"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ingestion_failure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03015-7840-403B-8D89-96CFC6FA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28875"/>
            <a:ext cx="1905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56A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C531B1-E112-4F2C-9A6E-DCAC434F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81275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56A00"/>
                </a:solidFill>
              </a:defRPr>
            </a:pPr>
            <a:r>
              <a:rPr sz="1500" b="1" i="0">
                <a:solidFill>
                  <a:srgbClr val="A56A00"/>
                </a:solidFill>
              </a:rPr>
              <a:t>5. COMMIT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63EF6-60C3-4B24-B4A0-87567E1D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81325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Advance tới</a:t>
            </a:r>
          </a:p>
          <a:p xmlns:a="http://schemas.openxmlformats.org/drawingml/2006/main">
            <a:pPr algn="l"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offsetEnd</a:t>
            </a:r>
          </a:p>
        </p:txBody>
      </p:sp>
      <p:cxnSp>
        <p:nvCxnSpPr>
          <p:cNvPr id="52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90800" y="30289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668B"/>
            </a:solidFill>
            <a:prstDash val="solid"/>
            <a:tailEnd type="triangle" w="med" len="med"/>
          </a:ln>
        </p:spPr>
      </p:cxn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762500" y="30289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668B"/>
            </a:solidFill>
            <a:prstDash val="solid"/>
            <a:tailEnd type="triangle" w="med" len="med"/>
          </a:ln>
        </p:spPr>
      </p:cxnSp>
      <p:cxnSp>
        <p:nvCxnSpPr>
          <p:cNvPr id="54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934200" y="30289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8A8A"/>
            </a:solidFill>
            <a:prstDash val="solid"/>
            <a:tailEnd type="triangle" w="med" len="med"/>
          </a:ln>
        </p:spPr>
      </p:cxn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105900" y="30289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56A00"/>
            </a:solidFill>
            <a:prstDash val="solid"/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450B48-5484-432A-8E14-D89FD4D5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56A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8CA831-EC0A-4C2D-BBEA-BAD07227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910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56A00"/>
                </a:solidFill>
              </a:defRPr>
            </a:pPr>
            <a:r>
              <a:rPr sz="1425" b="1" i="0">
                <a:solidFill>
                  <a:srgbClr val="A56A00"/>
                </a:solidFill>
              </a:rPr>
              <a:t>PARTIAL / MONGO LỖI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19F41F-53A9-4E76-A5F7-4E8953D5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910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B3A"/>
                </a:solidFill>
              </a:defRPr>
            </a:pPr>
            <a:r>
              <a:rPr sz="1125" b="0" i="0">
                <a:solidFill>
                  <a:srgbClr val="172B3A"/>
                </a:solidFill>
              </a:rPr>
              <a:t>Không advance checkpoint</a:t>
            </a:r>
          </a:p>
          <a:p xmlns:a="http://schemas.openxmlformats.org/drawingml/2006/main">
            <a:pPr algn="l">
              <a:defRPr sz="1125" b="0" i="0">
                <a:solidFill>
                  <a:srgbClr val="172B3A"/>
                </a:solidFill>
              </a:defRPr>
            </a:pPr>
            <a:r>
              <a:rPr sz="1125" b="0" i="0">
                <a:solidFill>
                  <a:srgbClr val="172B3A"/>
                </a:solidFill>
              </a:rPr>
              <a:t>Poll hoặc retry từ position cũ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CF75B7-8438-4900-9C93-F04B1209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38625"/>
            <a:ext cx="2857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11430">
            <a:solidFill>
              <a:srgbClr val="A63A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82F45A-5F2C-43C2-9964-3C186C43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910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63A4B"/>
                </a:solidFill>
              </a:defRPr>
            </a:pPr>
            <a:r>
              <a:rPr sz="1425" b="1" i="0">
                <a:solidFill>
                  <a:srgbClr val="A63A4B"/>
                </a:solidFill>
              </a:rPr>
              <a:t>CRASH SAU KHI GHI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659EEF-6C77-4FF6-90BD-43001BC2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910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B3A"/>
                </a:solidFill>
              </a:defRPr>
            </a:pPr>
            <a:r>
              <a:rPr sz="1125" b="0" i="0">
                <a:solidFill>
                  <a:srgbClr val="172B3A"/>
                </a:solidFill>
              </a:rPr>
              <a:t>Retry cùng eventId</a:t>
            </a:r>
          </a:p>
          <a:p xmlns:a="http://schemas.openxmlformats.org/drawingml/2006/main">
            <a:pPr algn="l">
              <a:defRPr sz="1125" b="0" i="0">
                <a:solidFill>
                  <a:srgbClr val="172B3A"/>
                </a:solidFill>
              </a:defRPr>
            </a:pPr>
            <a:r>
              <a:rPr sz="1125" b="0" i="0">
                <a:solidFill>
                  <a:srgbClr val="172B3A"/>
                </a:solidFill>
              </a:rPr>
              <a:t>Unique key chống duplicate</a:t>
            </a:r>
          </a:p>
        </p:txBody>
      </p:sp>
      <p:cxnSp>
        <p:nvCxnSpPr>
          <p:cNvPr id="62" name=""/>
          <p:cNvCxnSpPr>
            <a:stCxn xmlns:a="http://schemas.openxmlformats.org/drawingml/2006/main" id="7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3810000" y="3629025"/>
            <a:ext cx="76200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A56A00"/>
            </a:solidFill>
            <a:prstDash val="solid"/>
            <a:tailEnd type="triangle" w="med" len="med"/>
          </a:ln>
        </p:spPr>
      </p:cxnSp>
      <p:cxnSp>
        <p:nvCxnSpPr>
          <p:cNvPr id="63" name=""/>
          <p:cNvCxnSpPr>
            <a:stCxn xmlns:a="http://schemas.openxmlformats.org/drawingml/2006/main" id="1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153400" y="3629025"/>
            <a:ext cx="1333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A63A4B"/>
            </a:solidFill>
            <a:prstDash val="solid"/>
            <a:tail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F44930-69FD-41FB-A667-1ACAE677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5C7180"/>
                </a:solidFill>
              </a:defRPr>
            </a:pPr>
            <a:r>
              <a:rPr sz="1275" b="0" i="1">
                <a:solidFill>
                  <a:srgbClr val="5C7180"/>
                </a:solidFill>
              </a:rPr>
              <a:t>Hai nhánh bên dưới đều quay lại bước LOAD ở vòng xử lý tiếp theo.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7A8078-ACEB-4DB4-A1A7-060A72D8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C7180"/>
                </a:solidFill>
              </a:defRPr>
            </a:pPr>
            <a:r>
              <a:rPr sz="825" b="0" i="0">
                <a:solidFill>
                  <a:srgbClr val="5C7180"/>
                </a:solidFill>
              </a:rPr>
              <a:t>ARCHITECTURE  •  Device Event History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A67B02-45DF-4D21-BBC0-6CCDDD88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C7180"/>
                </a:solidFill>
              </a:defRPr>
            </a:pPr>
            <a:r>
              <a:rPr sz="975" b="1" i="0">
                <a:solidFill>
                  <a:srgbClr val="5C71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1494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842774-5C28-445E-9A93-B196B378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68A8A"/>
                </a:solidFill>
              </a:defRPr>
            </a:pPr>
            <a:r>
              <a:rPr sz="900" b="1" i="0">
                <a:solidFill>
                  <a:srgbClr val="168A8A"/>
                </a:solidFill>
              </a:rPr>
              <a:t>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EC1C0-DCFA-40F0-8E4C-603A5C5B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53E5C"/>
                </a:solidFill>
              </a:defRPr>
            </a:pPr>
            <a:r>
              <a:rPr sz="2700" b="1" i="0">
                <a:solidFill>
                  <a:srgbClr val="153E5C"/>
                </a:solidFill>
              </a:rPr>
              <a:t>Device Event History có hai luồng thu thập chính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3C6BE-E99D-461F-BAA8-DD95B6B7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C7180"/>
                </a:solidFill>
              </a:defRPr>
            </a:pPr>
            <a:r>
              <a:rPr sz="1350" b="0" i="0">
                <a:solidFill>
                  <a:srgbClr val="5C7180"/>
                </a:solidFill>
              </a:rPr>
              <a:t>Raw-log là đường bền vững cho history; AppHub là đường realtime hiện tại.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DE853-87B7-46DB-86F5-94BEF244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68A8A"/>
                </a:solidFill>
              </a:defRPr>
            </a:pPr>
            <a:r>
              <a:rPr sz="900" b="1" i="0">
                <a:solidFill>
                  <a:srgbClr val="168A8A"/>
                </a:solidFill>
              </a:rPr>
              <a:t>LUỒNG 1 — BỀN VỮNG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65A87-80E9-4FA8-96A9-45DE806A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F66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7F1E2-77EA-45AD-8B76-A155DBB0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F668B"/>
                </a:solidFill>
              </a:defRPr>
            </a:pPr>
            <a:r>
              <a:rPr sz="1575" b="1" i="0">
                <a:solidFill>
                  <a:srgbClr val="1F668B"/>
                </a:solidFill>
              </a:rPr>
              <a:t>RFID.Antenna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62347-6F9D-42C4-A4C2-130BBA14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raw 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7F2F3-1881-4D8F-9B19-95E859E5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1430">
            <a:solidFill>
              <a:srgbClr val="168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05F83-BDC1-429A-92EF-174D3C83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68A8A"/>
                </a:solidFill>
              </a:defRPr>
            </a:pPr>
            <a:r>
              <a:rPr sz="1575" b="1" i="0">
                <a:solidFill>
                  <a:srgbClr val="168A8A"/>
                </a:solidFill>
              </a:rPr>
              <a:t>Worker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97CAB-3B5B-4273-9D2F-CF50FD31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33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checkpoint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A939F-1D65-4473-8D17-A8B8EA51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812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56A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7CF44-A363-4FFA-AE46-F6C1915C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336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A56A00"/>
                </a:solidFill>
              </a:defRPr>
            </a:pPr>
            <a:r>
              <a:rPr sz="1575" b="1" i="0">
                <a:solidFill>
                  <a:srgbClr val="A56A00"/>
                </a:solidFill>
              </a:rPr>
              <a:t>MongoDB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5F15A-5CC6-4FF6-8956-CF66CF36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337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history</a:t>
            </a:r>
          </a:p>
        </p:txBody>
      </p:sp>
      <p:cxnSp>
        <p:nvCxnSpPr>
          <p:cNvPr id="12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81300" y="28575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668B"/>
            </a:solidFill>
            <a:prstDash val="solid"/>
            <a:headEnd type="triangle" w="med" len="med"/>
          </a:ln>
        </p:spPr>
      </p:cxnSp>
      <p:cxnSp>
        <p:nvCxnSpPr>
          <p:cNvPr id="125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429250" y="28575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56A00"/>
            </a:solidFill>
            <a:prstDash val="solid"/>
            <a:head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2CC1E-FCF0-47FC-BC7C-F0A3C03C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F668B"/>
                </a:solidFill>
              </a:defRPr>
            </a:pPr>
            <a:r>
              <a:rPr sz="900" b="1" i="0">
                <a:solidFill>
                  <a:srgbClr val="1F668B"/>
                </a:solidFill>
              </a:rPr>
              <a:t>LUỒNG 2 — REALTIME HIỆN TẠI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DE31D-4A7A-44F9-9F49-B39F5076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668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8C269-9CC1-4596-AF80-7B1A99E4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F668B"/>
                </a:solidFill>
              </a:defRPr>
            </a:pPr>
            <a:r>
              <a:rPr sz="1575" b="1" i="0">
                <a:solidFill>
                  <a:srgbClr val="1F668B"/>
                </a:solidFill>
              </a:rPr>
              <a:t>ERP AppHub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50722-C094-4FA5-939E-29B27CE9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8632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classic SignalR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63478E-3436-4B52-B865-E872CC49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F668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0797F-2918-409C-8203-26673497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862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F668B"/>
                </a:solidFill>
              </a:defRPr>
            </a:pPr>
            <a:r>
              <a:rPr sz="1575" b="1" i="0">
                <a:solidFill>
                  <a:srgbClr val="1F668B"/>
                </a:solidFill>
              </a:rPr>
              <a:t>Monitoring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7A62B-A9F0-4A02-9EA7-FBCAFAF5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8632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callback / snapshot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86ECB2-6C97-4877-A880-213C27AB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33875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56A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2462C0-2C8C-49C5-94FD-CF369A09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862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A56A00"/>
                </a:solidFill>
              </a:defRPr>
            </a:pPr>
            <a:r>
              <a:rPr sz="1575" b="1" i="0">
                <a:solidFill>
                  <a:srgbClr val="A56A00"/>
                </a:solidFill>
              </a:rPr>
              <a:t>History adapter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5D44F7-D614-4E05-A82E-2CC6521B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86325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best-effort nếu chưa outbox</a:t>
            </a:r>
          </a:p>
        </p:txBody>
      </p:sp>
      <p:cxnSp>
        <p:nvCxnSpPr>
          <p:cNvPr id="136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781300" y="48101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668B"/>
            </a:solidFill>
            <a:prstDash val="solid"/>
            <a:headEnd type="triangle" w="med" len="med"/>
          </a:ln>
        </p:spPr>
      </p:cxnSp>
      <p:cxnSp>
        <p:nvCxnSpPr>
          <p:cNvPr id="137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429250" y="48101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56A00"/>
            </a:solidFill>
            <a:prstDash val="solid"/>
            <a:head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93B2B9-F6A4-4E8A-A967-DB473B4C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C7180"/>
                </a:solidFill>
              </a:defRPr>
            </a:pPr>
            <a:r>
              <a:rPr sz="825" b="0" i="0">
                <a:solidFill>
                  <a:srgbClr val="5C7180"/>
                </a:solidFill>
              </a:rPr>
              <a:t>DESIGN  •  Device Event History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EE6351-856E-4235-93E4-26287B85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5C7180"/>
                </a:solidFill>
              </a:defRPr>
            </a:pPr>
            <a:r>
              <a:rPr sz="975" b="1" i="0">
                <a:solidFill>
                  <a:srgbClr val="5C71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169817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95E09-58FF-4889-A4FF-03EB3EBB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68A8A"/>
                </a:solidFill>
              </a:defRPr>
            </a:pPr>
            <a:r>
              <a:rPr sz="900" b="1" i="0">
                <a:solidFill>
                  <a:srgbClr val="168A8A"/>
                </a:solidFill>
              </a:rPr>
              <a:t>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7BB5A-692A-4840-AB19-B9D333F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53E5C"/>
                </a:solidFill>
              </a:defRPr>
            </a:pPr>
            <a:r>
              <a:rPr sz="2700" b="1" i="0">
                <a:solidFill>
                  <a:srgbClr val="153E5C"/>
                </a:solidFill>
              </a:rPr>
              <a:t>Không một nguồn nào biết toàn bộ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0B684-E7D3-48AF-991F-82023F00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C7180"/>
                </a:solidFill>
              </a:defRPr>
            </a:pPr>
            <a:r>
              <a:rPr sz="1350" b="0" i="0">
                <a:solidFill>
                  <a:srgbClr val="5C7180"/>
                </a:solidFill>
              </a:rPr>
              <a:t>Event ownership quyết định adapter nào cần được xây dựng và khi nào có thể cutover.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6EAF3-FA2A-41C8-8CD9-974042C2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43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F668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7CE85-9767-4772-B680-2D2853F0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F668B"/>
                </a:solidFill>
              </a:defRPr>
            </a:pPr>
            <a:r>
              <a:rPr sz="1800" b="1" i="0">
                <a:solidFill>
                  <a:srgbClr val="1F668B"/>
                </a:solidFill>
              </a:rPr>
              <a:t>RFID.Antenna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D327D-1EC2-4D98-9913-D562AA25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800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2B3A"/>
                </a:solidFill>
              </a:defRPr>
            </a:pPr>
            <a:r>
              <a:rPr sz="1425" b="0" i="0">
                <a:solidFill>
                  <a:srgbClr val="172B3A"/>
                </a:solidFill>
              </a:rPr>
              <a:t>Biết rõ: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72B3A"/>
                </a:solidFill>
              </a:defRPr>
            </a:pPr>
            <a:r>
              <a:rPr sz="1425" b="0" i="0">
                <a:solidFill>
                  <a:srgbClr val="172B3A"/>
                </a:solidFill>
              </a:rPr>
              <a:t>• tag read / EPC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72B3A"/>
                </a:solidFill>
              </a:defRPr>
            </a:pPr>
            <a:r>
              <a:rPr sz="1425" b="0" i="0">
                <a:solidFill>
                  <a:srgbClr val="172B3A"/>
                </a:solidFill>
              </a:rPr>
              <a:t>• DeviceId / GateId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72B3A"/>
                </a:solidFill>
              </a:defRPr>
            </a:pPr>
            <a:r>
              <a:rPr sz="1425" b="0" i="0">
                <a:solidFill>
                  <a:srgbClr val="172B3A"/>
                </a:solidFill>
              </a:rPr>
              <a:t>• connection + light state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72B3A"/>
                </a:solidFill>
              </a:defRPr>
            </a:pPr>
            <a:r>
              <a:rPr sz="1425" b="0" i="0">
                <a:solidFill>
                  <a:srgbClr val="172B3A"/>
                </a:solidFill>
              </a:rPr>
              <a:t>• raw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CD434-55D0-4753-A483-03C9E4D7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1430">
            <a:solidFill>
              <a:srgbClr val="168A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CEE0D-8426-44FC-9AF8-5AC062C3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431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68A8A"/>
                </a:solidFill>
              </a:defRPr>
            </a:pPr>
            <a:r>
              <a:rPr sz="1800" b="1" i="0">
                <a:solidFill>
                  <a:srgbClr val="168A8A"/>
                </a:solidFill>
              </a:rPr>
              <a:t>RFID.Analytics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9382C-AFE1-4CA0-AC9C-19B9DCF8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43200"/>
            <a:ext cx="2800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2B3A"/>
                </a:solidFill>
              </a:defRPr>
            </a:pPr>
            <a:r>
              <a:rPr sz="1425" b="0" i="0">
                <a:solidFill>
                  <a:srgbClr val="172B3A"/>
                </a:solidFill>
              </a:rPr>
              <a:t>Biết thêm: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72B3A"/>
                </a:solidFill>
              </a:defRPr>
            </a:pPr>
            <a:r>
              <a:rPr sz="1425" b="0" i="0">
                <a:solidFill>
                  <a:srgbClr val="172B3A"/>
                </a:solidFill>
              </a:rPr>
              <a:t>• process / quantity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72B3A"/>
                </a:solidFill>
              </a:defRPr>
            </a:pPr>
            <a:r>
              <a:rPr sz="1425" b="0" i="0">
                <a:solidFill>
                  <a:srgbClr val="172B3A"/>
                </a:solidFill>
              </a:rPr>
              <a:t>• tag result / flow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72B3A"/>
                </a:solidFill>
              </a:defRPr>
            </a:pPr>
            <a:r>
              <a:rPr sz="1425" b="0" i="0">
                <a:solidFill>
                  <a:srgbClr val="172B3A"/>
                </a:solidFill>
              </a:rPr>
              <a:t>• carton / gate progress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72B3A"/>
                </a:solidFill>
              </a:defRPr>
            </a:pPr>
            <a:r>
              <a:rPr sz="1425" b="0" i="0">
                <a:solidFill>
                  <a:srgbClr val="172B3A"/>
                </a:solidFill>
              </a:rPr>
              <a:t>• nghiệp vụ đã enrich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EF3E6-A601-4339-91FF-96475D54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31432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56A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3AA61-EED7-41F3-99E4-14A4E71B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431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A56A00"/>
                </a:solidFill>
              </a:defRPr>
            </a:pPr>
            <a:r>
              <a:rPr sz="1800" b="1" i="0">
                <a:solidFill>
                  <a:srgbClr val="A56A00"/>
                </a:solidFill>
              </a:rPr>
              <a:t>ERP / Scanner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85CCF-0A9F-485A-BD99-76D789E7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43200"/>
            <a:ext cx="2800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72B3A"/>
                </a:solidFill>
              </a:defRPr>
            </a:pPr>
            <a:r>
              <a:rPr sz="1425" b="0" i="0">
                <a:solidFill>
                  <a:srgbClr val="172B3A"/>
                </a:solidFill>
              </a:rPr>
              <a:t>Giữ: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72B3A"/>
                </a:solidFill>
              </a:defRPr>
            </a:pPr>
            <a:r>
              <a:rPr sz="1425" b="0" i="0">
                <a:solidFill>
                  <a:srgbClr val="172B3A"/>
                </a:solidFill>
              </a:rPr>
              <a:t>• scanner connect/disconnect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72B3A"/>
                </a:solidFill>
              </a:defRPr>
            </a:pPr>
            <a:r>
              <a:rPr sz="1425" b="0" i="0">
                <a:solidFill>
                  <a:srgbClr val="172B3A"/>
                </a:solidFill>
              </a:rPr>
              <a:t>• online snapshot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72B3A"/>
                </a:solidFill>
              </a:defRPr>
            </a:pPr>
            <a:r>
              <a:rPr sz="1425" b="0" i="0">
                <a:solidFill>
                  <a:srgbClr val="172B3A"/>
                </a:solidFill>
              </a:rPr>
              <a:t>• client lifecycle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172B3A"/>
                </a:solidFill>
              </a:defRPr>
            </a:pPr>
            <a:r>
              <a:rPr sz="1425" b="0" i="0">
                <a:solidFill>
                  <a:srgbClr val="172B3A"/>
                </a:solidFill>
              </a:rPr>
              <a:t>• registry / targeted callback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C3538-B3A2-4F65-B9D1-3B280F53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95625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1F668B"/>
                </a:solidFill>
              </a:defRPr>
            </a:pPr>
            <a:r>
              <a:rPr sz="3150" b="1" i="0">
                <a:solidFill>
                  <a:srgbClr val="1F668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89AE8-3C1E-408F-93E6-4AE3305F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95625"/>
            <a:ext cx="42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168A8A"/>
                </a:solidFill>
              </a:defRPr>
            </a:pPr>
            <a:r>
              <a:rPr sz="3150" b="1" i="0">
                <a:solidFill>
                  <a:srgbClr val="168A8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C674D-5CC8-4559-A440-24E3AA22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C7180"/>
                </a:solidFill>
              </a:defRPr>
            </a:pPr>
            <a:r>
              <a:rPr sz="825" b="0" i="0">
                <a:solidFill>
                  <a:srgbClr val="5C7180"/>
                </a:solidFill>
              </a:rPr>
              <a:t>DESIGN  •  Device Event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92395-FBE0-47AA-92AA-FEC80025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5C7180"/>
                </a:solidFill>
              </a:defRPr>
            </a:pPr>
            <a:r>
              <a:rPr sz="975" b="1" i="0">
                <a:solidFill>
                  <a:srgbClr val="5C71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851039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D098FC-958C-4B56-9A6F-2BE1F0C0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8A8A"/>
                </a:solidFill>
              </a:defRPr>
            </a:pPr>
            <a:r>
              <a:rPr sz="900" b="1" i="0">
                <a:solidFill>
                  <a:srgbClr val="168A8A"/>
                </a:solidFill>
              </a:rPr>
              <a:t>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C4A4A-A0E1-4400-9484-6B4177F4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3E5C"/>
                </a:solidFill>
              </a:defRPr>
            </a:pPr>
            <a:r>
              <a:rPr sz="2700" b="1" i="0">
                <a:solidFill>
                  <a:srgbClr val="153E5C"/>
                </a:solidFill>
              </a:rPr>
              <a:t>Chọn transport theo yêu cầu reliability và giao thức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84AD7-F981-4F20-ACF7-CEDA26BC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7180"/>
                </a:solidFill>
              </a:defRPr>
            </a:pPr>
            <a:r>
              <a:rPr sz="1350" b="0" i="0">
                <a:solidFill>
                  <a:srgbClr val="5C7180"/>
                </a:solidFill>
              </a:rPr>
              <a:t>Các lựa chọn không phải ba bước tuần tự; đây là ba hướng transport để đánh giá.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4431C-EC17-449C-A0AD-3BCEC96E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095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F668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7434B-F197-4C02-AEF4-D79CAAB5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765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668B"/>
                </a:solidFill>
              </a:defRPr>
            </a:pPr>
            <a:r>
              <a:rPr sz="1575" b="1" i="0">
                <a:solidFill>
                  <a:srgbClr val="1F668B"/>
                </a:solidFill>
              </a:rPr>
              <a:t>PRODUCER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7FC59-B112-44C0-9271-83CAB636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76575"/>
            <a:ext cx="1752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B3A"/>
                </a:solidFill>
              </a:defRPr>
            </a:pPr>
            <a:r>
              <a:rPr sz="1275" b="0" i="0">
                <a:solidFill>
                  <a:srgbClr val="172B3A"/>
                </a:solidFill>
              </a:rPr>
              <a:t>RFID.Antenna</a:t>
            </a:r>
          </a:p>
          <a:p xmlns:a="http://schemas.openxmlformats.org/drawingml/2006/main">
            <a:pPr algn="l">
              <a:defRPr sz="1275" b="0" i="0">
                <a:solidFill>
                  <a:srgbClr val="172B3A"/>
                </a:solidFill>
              </a:defRPr>
            </a:pPr>
            <a:r>
              <a:rPr sz="1275" b="0" i="0">
                <a:solidFill>
                  <a:srgbClr val="172B3A"/>
                </a:solidFill>
              </a:rPr>
              <a:t>hoặc RFID.Analytics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49EC5-35D5-4508-A816-36D57E79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2476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1430">
            <a:solidFill>
              <a:srgbClr val="168A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53F42-D039-4178-9B91-C8AC74C6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1452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8A8A"/>
                </a:solidFill>
              </a:defRPr>
            </a:pPr>
            <a:r>
              <a:rPr sz="1500" b="1" i="0">
                <a:solidFill>
                  <a:srgbClr val="168A8A"/>
                </a:solidFill>
              </a:rPr>
              <a:t>A. HTTP + OUTBOX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F33E6-FF6F-406A-B96B-5B4FA032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14575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POC ưu tiên</a:t>
            </a:r>
          </a:p>
          <a:p xmlns:a="http://schemas.openxmlformats.org/drawingml/2006/main">
            <a:pPr algn="l"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Queue local → POST ingress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159B4-C8AA-430A-9502-FD11FAEA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2476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66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77AA6-913E-4D9B-BF5F-51016935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3852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668B"/>
                </a:solidFill>
              </a:defRPr>
            </a:pPr>
            <a:r>
              <a:rPr sz="1500" b="1" i="0">
                <a:solidFill>
                  <a:srgbClr val="1F668B"/>
                </a:solidFill>
              </a:rPr>
              <a:t>B. CLASSIC 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3591E-C325-4383-9CFF-3D39181D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38575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Khi bắt buộc SignalR</a:t>
            </a:r>
          </a:p>
          <a:p xmlns:a="http://schemas.openxmlformats.org/drawingml/2006/main">
            <a:pPr algn="l"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Classic client → gateway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81CFD-05CE-4871-997C-473E8FFE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0125"/>
            <a:ext cx="2476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11430">
            <a:solidFill>
              <a:srgbClr val="A63A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CE9BA-0273-4C15-B128-519F3203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96252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63A4B"/>
                </a:solidFill>
              </a:defRPr>
            </a:pPr>
            <a:r>
              <a:rPr sz="1425" b="1" i="0">
                <a:solidFill>
                  <a:srgbClr val="A63A4B"/>
                </a:solidFill>
              </a:rPr>
              <a:t>C. CORE SIGNALR CLIENT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2C1F2-8AC2-415D-80FC-6FB8FB53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3625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B3A"/>
                </a:solidFill>
              </a:defRPr>
            </a:pPr>
            <a:r>
              <a:rPr sz="1125" b="0" i="0">
                <a:solidFill>
                  <a:srgbClr val="172B3A"/>
                </a:solidFill>
              </a:rPr>
              <a:t>Chỉ sau PoC tương thích</a:t>
            </a:r>
          </a:p>
          <a:p xmlns:a="http://schemas.openxmlformats.org/drawingml/2006/main">
            <a:pPr algn="l">
              <a:defRPr sz="1125" b="0" i="0">
                <a:solidFill>
                  <a:srgbClr val="172B3A"/>
                </a:solidFill>
              </a:defRPr>
            </a:pPr>
            <a:r>
              <a:rPr sz="1125" b="0" i="0">
                <a:solidFill>
                  <a:srgbClr val="172B3A"/>
                </a:solidFill>
              </a:rPr>
              <a:t>Không mặc định drop-in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74326-5979-448B-9F4D-B5CF7E77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24125"/>
            <a:ext cx="2857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56A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6C2CE-548B-4213-A03A-E3432894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6765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A56A00"/>
                </a:solidFill>
              </a:defRPr>
            </a:pPr>
            <a:r>
              <a:rPr sz="1575" b="1" i="0">
                <a:solidFill>
                  <a:srgbClr val="A56A00"/>
                </a:solidFill>
              </a:rPr>
              <a:t>CANONICAL INGESTION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C955F0-0ED6-443B-BA6D-26BEBCB4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076575"/>
            <a:ext cx="251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B3A"/>
                </a:solidFill>
              </a:defRPr>
            </a:pPr>
            <a:r>
              <a:rPr sz="1275" b="0" i="0">
                <a:solidFill>
                  <a:srgbClr val="172B3A"/>
                </a:solidFill>
              </a:rPr>
              <a:t>Canonical envelope</a:t>
            </a:r>
          </a:p>
          <a:p xmlns:a="http://schemas.openxmlformats.org/drawingml/2006/main">
            <a:pPr algn="l">
              <a:defRPr sz="1275" b="0" i="0">
                <a:solidFill>
                  <a:srgbClr val="172B3A"/>
                </a:solidFill>
              </a:defRPr>
            </a:pPr>
            <a:r>
              <a:rPr sz="1275" b="0" i="0">
                <a:solidFill>
                  <a:srgbClr val="172B3A"/>
                </a:solidFill>
              </a:rPr>
              <a:t>MongoDB history</a:t>
            </a:r>
          </a:p>
          <a:p xmlns:a="http://schemas.openxmlformats.org/drawingml/2006/main">
            <a:pPr algn="l">
              <a:defRPr sz="1275" b="0" i="0">
                <a:solidFill>
                  <a:srgbClr val="172B3A"/>
                </a:solidFill>
              </a:defRPr>
            </a:pPr>
            <a:r>
              <a:rPr sz="1275" b="0" i="0">
                <a:solidFill>
                  <a:srgbClr val="172B3A"/>
                </a:solidFill>
              </a:rPr>
              <a:t>retry + backpressure</a:t>
            </a:r>
          </a:p>
        </p:txBody>
      </p:sp>
      <p:cxnSp>
        <p:nvCxnSpPr>
          <p:cNvPr id="47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781300" y="2371725"/>
            <a:ext cx="74295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8A8A"/>
            </a:solidFill>
            <a:prstDash val="solid"/>
            <a:tailEnd type="triangle" w="med" len="med"/>
          </a:ln>
        </p:spPr>
      </p:cxnSp>
      <p:cxnSp>
        <p:nvCxnSpPr>
          <p:cNvPr id="48" name=""/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781300" y="3238500"/>
            <a:ext cx="74295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668B"/>
            </a:solidFill>
            <a:prstDash val="solid"/>
            <a:tailEnd type="triangle" w="med" len="med"/>
          </a:ln>
        </p:spPr>
      </p:cxnSp>
      <p:cxnSp>
        <p:nvCxnSpPr>
          <p:cNvPr id="49" name=""/>
          <p:cNvCxnSpPr>
            <a:stCxn xmlns:a="http://schemas.openxmlformats.org/drawingml/2006/main" id="4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781300" y="3238500"/>
            <a:ext cx="742950" cy="21050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63A4B"/>
            </a:solidFill>
            <a:prstDash val="solid"/>
            <a:tailEnd type="triangle" w="med" len="med"/>
          </a:ln>
        </p:spPr>
      </p:cxn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000750" y="2371725"/>
            <a:ext cx="233362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56A00"/>
            </a:solidFill>
            <a:prstDash val="solid"/>
            <a:tailEnd type="triangle" w="med" len="med"/>
          </a:ln>
        </p:spPr>
      </p:cxnSp>
      <p:cxnSp>
        <p:nvCxnSpPr>
          <p:cNvPr id="51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6000750" y="3238500"/>
            <a:ext cx="2333625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56A00"/>
            </a:solidFill>
            <a:prstDash val="solid"/>
            <a:tailEnd type="triangle" w="med" len="med"/>
          </a:ln>
        </p:spPr>
      </p:cxnSp>
      <p:cxnSp>
        <p:nvCxnSpPr>
          <p:cNvPr id="5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6000750" y="3238500"/>
            <a:ext cx="2333625" cy="21050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56A00"/>
            </a:solidFill>
            <a:prstDash val="solid"/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D02AD2-58C1-4F33-9D81-66BA2DCE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533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5C7180"/>
                </a:solidFill>
              </a:defRPr>
            </a:pPr>
            <a:r>
              <a:rPr sz="1275" b="0" i="1">
                <a:solidFill>
                  <a:srgbClr val="5C7180"/>
                </a:solidFill>
              </a:rPr>
              <a:t>Ba hướng cùng hội tụ vào một ingestion contract.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7C170-0610-4DD3-A424-E7BBD7EE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096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63A4B"/>
                </a:solidFill>
              </a:defRPr>
            </a:pPr>
            <a:r>
              <a:rPr sz="1200" b="1" i="0">
                <a:solidFill>
                  <a:srgbClr val="A63A4B"/>
                </a:solidFill>
              </a:rPr>
              <a:t>Lưu ý: classic SignalR 2.4.3 và ASP.NET Core SignalR là hai giao thức khác nhau.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E795EA-3130-4E07-B7A5-FAEEC5C5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C7180"/>
                </a:solidFill>
              </a:defRPr>
            </a:pPr>
            <a:r>
              <a:rPr sz="825" b="0" i="0">
                <a:solidFill>
                  <a:srgbClr val="5C7180"/>
                </a:solidFill>
              </a:rPr>
              <a:t>DESIGN  •  Device Event History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AF1976-2FD6-4BCB-9E62-02B41C85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C7180"/>
                </a:solidFill>
              </a:defRPr>
            </a:pPr>
            <a:r>
              <a:rPr sz="975" b="1" i="0">
                <a:solidFill>
                  <a:srgbClr val="5C718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61104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C28D1-22DC-4852-9498-08553D77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168A8A"/>
                </a:solidFill>
              </a:defRPr>
            </a:pPr>
            <a:r>
              <a:rPr sz="900" b="1" i="0">
                <a:solidFill>
                  <a:srgbClr val="168A8A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216F4-6854-428D-8CF2-4D257140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53E5C"/>
                </a:solidFill>
              </a:defRPr>
            </a:pPr>
            <a:r>
              <a:rPr sz="2700" b="1" i="0">
                <a:solidFill>
                  <a:srgbClr val="153E5C"/>
                </a:solidFill>
              </a:rPr>
              <a:t>Mở rộng theo vertical slice, không phá đường bền vững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29920-AA10-45FE-8404-E4E920CD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C7180"/>
                </a:solidFill>
              </a:defRPr>
            </a:pPr>
            <a:r>
              <a:rPr sz="1350" b="0" i="0">
                <a:solidFill>
                  <a:srgbClr val="5C7180"/>
                </a:solidFill>
              </a:rPr>
              <a:t>Mỗi bước bổ sung một source/adapter và giữ lại envelope chung.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6B950-ACF9-4E73-9D58-E74D18B7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333625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AF4FA"/>
          </a:solidFill>
          <a:ln xmlns:a="http://schemas.openxmlformats.org/drawingml/2006/main" w="11430">
            <a:solidFill>
              <a:srgbClr val="1F668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F3152-D51C-4B28-A2E1-7F5EDBAD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99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F668B"/>
                </a:solidFill>
              </a:defRPr>
            </a:pPr>
            <a:r>
              <a:rPr sz="1575" b="1" i="0">
                <a:solidFill>
                  <a:srgbClr val="1F668B"/>
                </a:solidFill>
              </a:rPr>
              <a:t>SPRINT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EBA28-7B73-4016-B2F5-EA5DB845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9907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raw file → Worker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tag_read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business raw block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history/failure/checkpoint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7E25C-4E17-4446-8F73-7B62CFA3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333625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1430">
            <a:solidFill>
              <a:srgbClr val="168A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F6F40-76A4-4DE2-8E24-6EBAC7CB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33650"/>
            <a:ext cx="199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68A8A"/>
                </a:solidFill>
              </a:defRPr>
            </a:pPr>
            <a:r>
              <a:rPr sz="1575" b="1" i="0">
                <a:solidFill>
                  <a:srgbClr val="168A8A"/>
                </a:solidFill>
              </a:rPr>
              <a:t>SPRINT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228EA-ECDF-4DED-8544-18548B93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33700"/>
            <a:ext cx="19907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AppHub adapter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connection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online snapshot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device control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reconnect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7537D-778F-4880-AB9D-16CF8483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333625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11430">
            <a:solidFill>
              <a:srgbClr val="A56A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75F98-DF27-4737-8BBE-0BEC823C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33650"/>
            <a:ext cx="1990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A56A00"/>
                </a:solidFill>
              </a:defRPr>
            </a:pPr>
            <a:r>
              <a:rPr sz="1575" b="1" i="0">
                <a:solidFill>
                  <a:srgbClr val="A56A00"/>
                </a:solidFill>
              </a:rPr>
              <a:t>POC DIRECT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003A7-F895-44FB-8E1F-BDD35D03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19907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Antenna / Analytics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sourceEventId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queue/outbox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shadow run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cutover từng family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DF422-5D4F-4426-A9A6-2C663C24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81250"/>
            <a:ext cx="2447925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3E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747D0-36AB-42C4-ACC7-EE8E4427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33650"/>
            <a:ext cx="2105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53E5C"/>
                </a:solidFill>
              </a:defRPr>
            </a:pPr>
            <a:r>
              <a:rPr sz="1575" b="1" i="0">
                <a:solidFill>
                  <a:srgbClr val="153E5C"/>
                </a:solidFill>
              </a:rPr>
              <a:t>PROJECTIONS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83471-3827-4D49-9649-2F1A0F1E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933700"/>
            <a:ext cx="21050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Dựng lại từ history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current state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sessions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daily stats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172B3A"/>
                </a:solidFill>
              </a:defRPr>
            </a:pPr>
            <a:r>
              <a:rPr sz="1200" b="0" i="0">
                <a:solidFill>
                  <a:srgbClr val="172B3A"/>
                </a:solidFill>
              </a:rPr>
              <a:t>• monitoring API</a:t>
            </a:r>
          </a:p>
        </p:txBody>
      </p:sp>
      <p:cxnSp>
        <p:nvCxnSpPr>
          <p:cNvPr id="90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19425" y="321468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668B"/>
            </a:solidFill>
            <a:prstDash val="solid"/>
            <a:headEnd type="triangle" w="med" len="med"/>
          </a:ln>
        </p:spPr>
      </p:cxnSp>
      <p:cxnSp>
        <p:nvCxnSpPr>
          <p:cNvPr id="91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321468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68A8A"/>
            </a:solidFill>
            <a:prstDash val="solid"/>
            <a:headEnd type="triangle" w="med" len="med"/>
          </a:ln>
        </p:spPr>
      </p:cxnSp>
      <p:cxnSp>
        <p:nvCxnSpPr>
          <p:cNvPr id="92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01075" y="3214688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56A00"/>
            </a:solidFill>
            <a:prstDash val="solid"/>
            <a:head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4A7960-71AD-47D2-A599-921F748C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C7180"/>
                </a:solidFill>
              </a:defRPr>
            </a:pPr>
            <a:r>
              <a:rPr sz="825" b="0" i="0">
                <a:solidFill>
                  <a:srgbClr val="5C7180"/>
                </a:solidFill>
              </a:rPr>
              <a:t>ROADMAP  •  Device Event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BF35FA-2F84-4DF2-9A33-3EAC6D9E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5C7180"/>
                </a:solidFill>
              </a:defRPr>
            </a:pPr>
            <a:r>
              <a:rPr sz="975" b="1" i="0">
                <a:solidFill>
                  <a:srgbClr val="5C718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0975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2026-08-25T02:17:33.5660000Z</dcterms:created>
  <dcterms:modified xsi:type="dcterms:W3CDTF">2026-08-25T02:17:33.5660000Z</dcterms:modified>
</coreProperties>
</file>