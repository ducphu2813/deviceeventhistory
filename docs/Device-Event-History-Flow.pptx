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Overview of the implemented Sprint 1 raw-log ingestion path. The diagram is a codebase map, not a claim of production deployment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arrows represent project references and runtime composition direction. The Domain model remains framework-independent.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Startup method names and responsibilities are taken from Program.cs, ServiceCollectionExtensions, StartupInitializationHostedService, and RawLogIngestionHostedService.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remote path is represented generically; the active development source is configured outside the committed documentation. Discovery is polling-based, not FileSystemWatcher-based.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framer consumes the e(0) terminator and preserves incomplete bytes between turns. Byte offsets are absolute offsets in the logical file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current parser is intentionally tolerant and preserves raw values for uncertain numeric codes. The block list reflects the actual tokenizer/parser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Persistence and checkpoint responsibilities are based on RawRecordPersistenceCoordinator and the three Mongo stores. The checkpoint is a durable cursor, not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queue-capacity scenario and non-blocking internal requeue reflect the current FairFileScheduler implementation and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Test counts are the latest local verification recorded for this checkout: 42 unit, 3 integration, 1 architecture. They do not represent production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D:/texpo/logging-worker/device-event-worker/src (implementation inspected on 2026-08-26)</a:t>
            </a:r>
          </a:p>
          <a:p>
            <a:r>
              <a:t>- D:/texpo/rfid-monitoring/device-event-history/docs/Device-Event-History-Architecture.md</a:t>
            </a:r>
          </a:p>
          <a:p>
            <a:r>
              <a:t>- D:/texpo/rfid-monitoring/device-event-history/docs/Device-Event-History-Design.md</a:t>
            </a:r>
          </a:p>
          <a:p>
            <a:r>
              <a:t>- D:/texpo/rfid-monitoring/device-event-history/docs/Device-Event-History-Current-Codebase.md</a:t>
            </a:r>
          </a:p>
          <a:p>
            <a:r>
              <a:t>[/Sources]</a:t>
            </a:r>
          </a:p>
          <a:p/>
          <a:p>
            <a:r>
              <a:t>The extension map is based on the current namespaces and interfaces. The limitations are current implementation boundaries, not defects to silently change without a new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Luồng hiện tại: raw-log đi đến MongoDB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Một record hoàn chỉnh đi qua discovery → tail → frame → parse → persist → checkpoint.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01/10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flow-arrow-0"/>
          <p:cNvSpPr>
            <a:spLocks noGrp="1"/>
          </p:cNvSpPr>
          <p:nvPr/>
        </p:nvSpPr>
        <p:spPr>
          <a:xfrm>
            <a:off x="2381250" y="2466975"/>
            <a:ext cx="3048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5" name="flow-arrow-1"/>
          <p:cNvSpPr>
            <a:spLocks noGrp="1"/>
          </p:cNvSpPr>
          <p:nvPr/>
        </p:nvSpPr>
        <p:spPr>
          <a:xfrm>
            <a:off x="4705350" y="2466975"/>
            <a:ext cx="3048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6" name="flow-arrow-2"/>
          <p:cNvSpPr>
            <a:spLocks noGrp="1"/>
          </p:cNvSpPr>
          <p:nvPr/>
        </p:nvSpPr>
        <p:spPr>
          <a:xfrm>
            <a:off x="7029450" y="2466975"/>
            <a:ext cx="3048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7" name="flow-arrow-3"/>
          <p:cNvSpPr>
            <a:spLocks noGrp="1"/>
          </p:cNvSpPr>
          <p:nvPr/>
        </p:nvSpPr>
        <p:spPr>
          <a:xfrm>
            <a:off x="9353550" y="2466975"/>
            <a:ext cx="3048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8" name="overview-0"/>
          <p:cNvSpPr>
            <a:spLocks noGrp="1"/>
          </p:cNvSpPr>
          <p:nvPr/>
        </p:nvSpPr>
        <p:spPr>
          <a:xfrm>
            <a:off x="400050" y="1952625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9" name="overview-0-title"/>
          <p:cNvSpPr>
            <a:spLocks noGrp="1"/>
          </p:cNvSpPr>
          <p:nvPr/>
        </p:nvSpPr>
        <p:spPr>
          <a:xfrm>
            <a:off x="514350" y="20478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1 • Raw file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overview-0-detail"/>
          <p:cNvSpPr>
            <a:spLocks noGrp="1"/>
          </p:cNvSpPr>
          <p:nvPr/>
        </p:nvSpPr>
        <p:spPr>
          <a:xfrm>
            <a:off x="514350" y="2352675"/>
            <a:ext cx="1638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RFID.Antenna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yyyy/MM/dd/File_{FileId}.txt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overview-1"/>
          <p:cNvSpPr>
            <a:spLocks noGrp="1"/>
          </p:cNvSpPr>
          <p:nvPr/>
        </p:nvSpPr>
        <p:spPr>
          <a:xfrm>
            <a:off x="2724150" y="1952625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2" name="overview-1-title"/>
          <p:cNvSpPr>
            <a:spLocks noGrp="1"/>
          </p:cNvSpPr>
          <p:nvPr/>
        </p:nvSpPr>
        <p:spPr>
          <a:xfrm>
            <a:off x="2838450" y="20478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2 • Discovery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3" name="overview-1-detail"/>
          <p:cNvSpPr>
            <a:spLocks noGrp="1"/>
          </p:cNvSpPr>
          <p:nvPr/>
        </p:nvSpPr>
        <p:spPr>
          <a:xfrm>
            <a:off x="2838450" y="2352675"/>
            <a:ext cx="1638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RawLogFileDiscovery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DiscoverAsync()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overview-2"/>
          <p:cNvSpPr>
            <a:spLocks noGrp="1"/>
          </p:cNvSpPr>
          <p:nvPr/>
        </p:nvSpPr>
        <p:spPr>
          <a:xfrm>
            <a:off x="5048250" y="1952625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5" name="overview-2-title"/>
          <p:cNvSpPr>
            <a:spLocks noGrp="1"/>
          </p:cNvSpPr>
          <p:nvPr/>
        </p:nvSpPr>
        <p:spPr>
          <a:xfrm>
            <a:off x="5162550" y="20478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3 • Read / frame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6" name="overview-2-detail"/>
          <p:cNvSpPr>
            <a:spLocks noGrp="1"/>
          </p:cNvSpPr>
          <p:nvPr/>
        </p:nvSpPr>
        <p:spPr>
          <a:xfrm>
            <a:off x="5162550" y="2352675"/>
            <a:ext cx="1638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FileTurnProcessor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TailReader + Framer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overview-3"/>
          <p:cNvSpPr>
            <a:spLocks noGrp="1"/>
          </p:cNvSpPr>
          <p:nvPr/>
        </p:nvSpPr>
        <p:spPr>
          <a:xfrm>
            <a:off x="7372350" y="1952625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8" name="overview-3-title"/>
          <p:cNvSpPr>
            <a:spLocks noGrp="1"/>
          </p:cNvSpPr>
          <p:nvPr/>
        </p:nvSpPr>
        <p:spPr>
          <a:xfrm>
            <a:off x="7486650" y="20478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4 • Parse / persist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9" name="overview-3-detail"/>
          <p:cNvSpPr>
            <a:spLocks noGrp="1"/>
          </p:cNvSpPr>
          <p:nvPr/>
        </p:nvSpPr>
        <p:spPr>
          <a:xfrm>
            <a:off x="7486650" y="2352675"/>
            <a:ext cx="1638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Parser → Mapper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History hoặc Failure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overview-4"/>
          <p:cNvSpPr>
            <a:spLocks noGrp="1"/>
          </p:cNvSpPr>
          <p:nvPr/>
        </p:nvSpPr>
        <p:spPr>
          <a:xfrm>
            <a:off x="9696450" y="1952625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1" name="overview-4-title"/>
          <p:cNvSpPr>
            <a:spLocks noGrp="1"/>
          </p:cNvSpPr>
          <p:nvPr/>
        </p:nvSpPr>
        <p:spPr>
          <a:xfrm>
            <a:off x="9810750" y="204787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5 • Durable state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2" name="overview-4-detail"/>
          <p:cNvSpPr>
            <a:spLocks noGrp="1"/>
          </p:cNvSpPr>
          <p:nvPr/>
        </p:nvSpPr>
        <p:spPr>
          <a:xfrm>
            <a:off x="9810750" y="2352675"/>
            <a:ext cx="1638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MongoDB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checkpoint sau write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invariant-ribbon"/>
          <p:cNvSpPr>
            <a:spLocks noGrp="1"/>
          </p:cNvSpPr>
          <p:nvPr/>
        </p:nvSpPr>
        <p:spPr>
          <a:xfrm>
            <a:off x="400050" y="3962400"/>
            <a:ext cx="11372850" cy="1562100"/>
          </a:xfrm>
          <a:prstGeom prst="roundRect">
            <a:avLst>
              <a:gd name="adj" fmla="val 7317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4" name="invariant-title"/>
          <p:cNvSpPr>
            <a:spLocks noGrp="1"/>
          </p:cNvSpPr>
          <p:nvPr/>
        </p:nvSpPr>
        <p:spPr>
          <a:xfrm>
            <a:off x="628650" y="41243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Các invariant bảo vệ dữ liệu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5" name="invariant-0"/>
          <p:cNvSpPr>
            <a:spLocks noGrp="1"/>
          </p:cNvSpPr>
          <p:nvPr/>
        </p:nvSpPr>
        <p:spPr>
          <a:xfrm>
            <a:off x="628650" y="4524375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6" name="invariant-0-title"/>
          <p:cNvSpPr>
            <a:spLocks noGrp="1"/>
          </p:cNvSpPr>
          <p:nvPr/>
        </p:nvSpPr>
        <p:spPr>
          <a:xfrm>
            <a:off x="742950" y="4619625"/>
            <a:ext cx="2247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Byte offset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7" name="invariant-0-detail"/>
          <p:cNvSpPr>
            <a:spLocks noGrp="1"/>
          </p:cNvSpPr>
          <p:nvPr/>
        </p:nvSpPr>
        <p:spPr>
          <a:xfrm>
            <a:off x="742950" y="4924425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Checkpoint là vị trí byte, không phải số dòng.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invariant-1"/>
          <p:cNvSpPr>
            <a:spLocks noGrp="1"/>
          </p:cNvSpPr>
          <p:nvPr/>
        </p:nvSpPr>
        <p:spPr>
          <a:xfrm>
            <a:off x="3352800" y="4524375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9" name="invariant-1-title"/>
          <p:cNvSpPr>
            <a:spLocks noGrp="1"/>
          </p:cNvSpPr>
          <p:nvPr/>
        </p:nvSpPr>
        <p:spPr>
          <a:xfrm>
            <a:off x="3467100" y="4619625"/>
            <a:ext cx="2247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e(0)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0" name="invariant-1-detail"/>
          <p:cNvSpPr>
            <a:spLocks noGrp="1"/>
          </p:cNvSpPr>
          <p:nvPr/>
        </p:nvSpPr>
        <p:spPr>
          <a:xfrm>
            <a:off x="3467100" y="4924425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Chỉ record có terminator mới được xử lý.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invariant-2"/>
          <p:cNvSpPr>
            <a:spLocks noGrp="1"/>
          </p:cNvSpPr>
          <p:nvPr/>
        </p:nvSpPr>
        <p:spPr>
          <a:xfrm>
            <a:off x="6076950" y="4524375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32" name="invariant-2-title"/>
          <p:cNvSpPr>
            <a:spLocks noGrp="1"/>
          </p:cNvSpPr>
          <p:nvPr/>
        </p:nvSpPr>
        <p:spPr>
          <a:xfrm>
            <a:off x="6191250" y="4619625"/>
            <a:ext cx="2247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Write → commit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3" name="invariant-2-detail"/>
          <p:cNvSpPr>
            <a:spLocks noGrp="1"/>
          </p:cNvSpPr>
          <p:nvPr/>
        </p:nvSpPr>
        <p:spPr>
          <a:xfrm>
            <a:off x="6191250" y="4924425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Mongo xác nhận trước khi advance checkpoint.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invariant-3"/>
          <p:cNvSpPr>
            <a:spLocks noGrp="1"/>
          </p:cNvSpPr>
          <p:nvPr/>
        </p:nvSpPr>
        <p:spPr>
          <a:xfrm>
            <a:off x="8801100" y="4524375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35" name="invariant-3-title"/>
          <p:cNvSpPr>
            <a:spLocks noGrp="1"/>
          </p:cNvSpPr>
          <p:nvPr/>
        </p:nvSpPr>
        <p:spPr>
          <a:xfrm>
            <a:off x="8915400" y="4619625"/>
            <a:ext cx="2247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At-least-once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36" name="invariant-3-detail"/>
          <p:cNvSpPr>
            <a:spLocks noGrp="1"/>
          </p:cNvSpPr>
          <p:nvPr/>
        </p:nvSpPr>
        <p:spPr>
          <a:xfrm>
            <a:off x="8915400" y="4924425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Retry có thể đọc lại; eventId/failureId chống duplicate.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Đây là flow runtime hiện tại của DeviceEventHistory.Worker; AppHub/SignalR không nằm trong đường chạy này.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Bốn project, một pipeline có boundary rõ ràng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Dependency đi vào trong: Worker compose, Infrastructure thực thi, Application điều phối, Domain giữ model.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02/10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layer-arrow-0"/>
          <p:cNvSpPr>
            <a:spLocks noGrp="1"/>
          </p:cNvSpPr>
          <p:nvPr/>
        </p:nvSpPr>
        <p:spPr>
          <a:xfrm>
            <a:off x="2847975" y="28384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5" name="layer-arrow-1"/>
          <p:cNvSpPr>
            <a:spLocks noGrp="1"/>
          </p:cNvSpPr>
          <p:nvPr/>
        </p:nvSpPr>
        <p:spPr>
          <a:xfrm>
            <a:off x="5591175" y="28384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6" name="layer-arrow-2"/>
          <p:cNvSpPr>
            <a:spLocks noGrp="1"/>
          </p:cNvSpPr>
          <p:nvPr/>
        </p:nvSpPr>
        <p:spPr>
          <a:xfrm>
            <a:off x="8334375" y="28384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7" name="layer-domain"/>
          <p:cNvSpPr>
            <a:spLocks noGrp="1"/>
          </p:cNvSpPr>
          <p:nvPr/>
        </p:nvSpPr>
        <p:spPr>
          <a:xfrm>
            <a:off x="400050" y="1733550"/>
            <a:ext cx="2305050" cy="2762250"/>
          </a:xfrm>
          <a:prstGeom prst="roundRect">
            <a:avLst>
              <a:gd name="adj" fmla="val 4959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layer-domain-title"/>
          <p:cNvSpPr>
            <a:spLocks noGrp="1"/>
          </p:cNvSpPr>
          <p:nvPr/>
        </p:nvSpPr>
        <p:spPr>
          <a:xfrm>
            <a:off x="514350" y="18288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Domain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layer-domain-detail"/>
          <p:cNvSpPr>
            <a:spLocks noGrp="1"/>
          </p:cNvSpPr>
          <p:nvPr/>
        </p:nvSpPr>
        <p:spPr>
          <a:xfrm>
            <a:off x="514350" y="2133600"/>
            <a:ext cx="20764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CanonicalDeviceEvent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SourceContext • FactsContext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AppConst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Không biết file, Mongo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hoặc hosting.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layer-application"/>
          <p:cNvSpPr>
            <a:spLocks noGrp="1"/>
          </p:cNvSpPr>
          <p:nvPr/>
        </p:nvSpPr>
        <p:spPr>
          <a:xfrm>
            <a:off x="3143250" y="1733550"/>
            <a:ext cx="2305050" cy="2762250"/>
          </a:xfrm>
          <a:prstGeom prst="roundRect">
            <a:avLst>
              <a:gd name="adj" fmla="val 4959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layer-application-title"/>
          <p:cNvSpPr>
            <a:spLocks noGrp="1"/>
          </p:cNvSpPr>
          <p:nvPr/>
        </p:nvSpPr>
        <p:spPr>
          <a:xfrm>
            <a:off x="3257550" y="18288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Application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layer-application-detail"/>
          <p:cNvSpPr>
            <a:spLocks noGrp="1"/>
          </p:cNvSpPr>
          <p:nvPr/>
        </p:nvSpPr>
        <p:spPr>
          <a:xfrm>
            <a:off x="3257550" y="2133600"/>
            <a:ext cx="20764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Parser / mapper contracts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ProcessRawFileRecordHandler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RawRecordPersistenceCoordinator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Giữ thứ tự write → checkpoint.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layer-infrastructure"/>
          <p:cNvSpPr>
            <a:spLocks noGrp="1"/>
          </p:cNvSpPr>
          <p:nvPr/>
        </p:nvSpPr>
        <p:spPr>
          <a:xfrm>
            <a:off x="5886450" y="1733550"/>
            <a:ext cx="2305050" cy="2762250"/>
          </a:xfrm>
          <a:prstGeom prst="roundRect">
            <a:avLst>
              <a:gd name="adj" fmla="val 4959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layer-infrastructure-title"/>
          <p:cNvSpPr>
            <a:spLocks noGrp="1"/>
          </p:cNvSpPr>
          <p:nvPr/>
        </p:nvSpPr>
        <p:spPr>
          <a:xfrm>
            <a:off x="6000750" y="18288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Infrastructure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layer-infrastructure-detail"/>
          <p:cNvSpPr>
            <a:spLocks noGrp="1"/>
          </p:cNvSpPr>
          <p:nvPr/>
        </p:nvSpPr>
        <p:spPr>
          <a:xfrm>
            <a:off x="6000750" y="2133600"/>
            <a:ext cx="20764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Local / remote discovery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Tail reader + framer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RFID parser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Mongo stores + indexes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Adapters hiện thực interfaces.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layer-worker"/>
          <p:cNvSpPr>
            <a:spLocks noGrp="1"/>
          </p:cNvSpPr>
          <p:nvPr/>
        </p:nvSpPr>
        <p:spPr>
          <a:xfrm>
            <a:off x="8629650" y="1733550"/>
            <a:ext cx="2305050" cy="2762250"/>
          </a:xfrm>
          <a:prstGeom prst="roundRect">
            <a:avLst>
              <a:gd name="adj" fmla="val 4959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layer-worker-title"/>
          <p:cNvSpPr>
            <a:spLocks noGrp="1"/>
          </p:cNvSpPr>
          <p:nvPr/>
        </p:nvSpPr>
        <p:spPr>
          <a:xfrm>
            <a:off x="8743950" y="18288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Worker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layer-worker-detail"/>
          <p:cNvSpPr>
            <a:spLocks noGrp="1"/>
          </p:cNvSpPr>
          <p:nvPr/>
        </p:nvSpPr>
        <p:spPr>
          <a:xfrm>
            <a:off x="8743950" y="2133600"/>
            <a:ext cx="20764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Program.cs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Options + validation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Hosted services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Polling + scheduler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Health checks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Composition root.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st-band"/>
          <p:cNvSpPr>
            <a:spLocks noGrp="1"/>
          </p:cNvSpPr>
          <p:nvPr/>
        </p:nvSpPr>
        <p:spPr>
          <a:xfrm>
            <a:off x="400050" y="4914900"/>
            <a:ext cx="10534650" cy="838200"/>
          </a:xfrm>
          <a:prstGeom prst="roundRect">
            <a:avLst>
              <a:gd name="adj" fmla="val 13636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0" name="test-band-title"/>
          <p:cNvSpPr>
            <a:spLocks noGrp="1"/>
          </p:cNvSpPr>
          <p:nvPr/>
        </p:nvSpPr>
        <p:spPr>
          <a:xfrm>
            <a:off x="628650" y="50958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75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Tests bảo vệ boundary</a:t>
            </a:r>
            <a:endParaRPr sz="1575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1" name="test-band-detail"/>
          <p:cNvSpPr>
            <a:spLocks noGrp="1"/>
          </p:cNvSpPr>
          <p:nvPr/>
        </p:nvSpPr>
        <p:spPr>
          <a:xfrm>
            <a:off x="3143250" y="51054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Unit: pure logic  •  Integration: file + Mongo  •  Architecture: dependency rules</a:t>
            </a:r>
            <a:endParaRPr sz="13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Không viết logic framing, parsing hoặc persistence trực tiếp trong BackgroundService.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Startup: validate trước khi ingest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Program.cs dựng host; options được bind/validate trước khi service chạy.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03/10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tartup-0"/>
          <p:cNvSpPr>
            <a:spLocks noGrp="1"/>
          </p:cNvSpPr>
          <p:nvPr/>
        </p:nvSpPr>
        <p:spPr>
          <a:xfrm>
            <a:off x="400050" y="1657350"/>
            <a:ext cx="2152650" cy="1123950"/>
          </a:xfrm>
          <a:prstGeom prst="roundRect">
            <a:avLst>
              <a:gd name="adj" fmla="val 10169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5" name="startup-0-title"/>
          <p:cNvSpPr>
            <a:spLocks noGrp="1"/>
          </p:cNvSpPr>
          <p:nvPr/>
        </p:nvSpPr>
        <p:spPr>
          <a:xfrm>
            <a:off x="514350" y="1752600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Program.cs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startup-0-detail"/>
          <p:cNvSpPr>
            <a:spLocks noGrp="1"/>
          </p:cNvSpPr>
          <p:nvPr/>
        </p:nvSpPr>
        <p:spPr>
          <a:xfrm>
            <a:off x="514350" y="2057400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Host.CreateApplicationBuilder(args)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artup-1"/>
          <p:cNvSpPr>
            <a:spLocks noGrp="1"/>
          </p:cNvSpPr>
          <p:nvPr/>
        </p:nvSpPr>
        <p:spPr>
          <a:xfrm>
            <a:off x="3977005" y="1500505"/>
            <a:ext cx="2365375" cy="1280795"/>
          </a:xfrm>
          <a:prstGeom prst="roundRect">
            <a:avLst>
              <a:gd name="adj" fmla="val 10169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startup-1-title"/>
          <p:cNvSpPr>
            <a:spLocks noGrp="1"/>
          </p:cNvSpPr>
          <p:nvPr/>
        </p:nvSpPr>
        <p:spPr>
          <a:xfrm>
            <a:off x="4078605" y="1580515"/>
            <a:ext cx="21907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AddDeviceEventHistoryConfiguration()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startup-1-detail"/>
          <p:cNvSpPr>
            <a:spLocks noGrp="1"/>
          </p:cNvSpPr>
          <p:nvPr/>
        </p:nvSpPr>
        <p:spPr>
          <a:xfrm>
            <a:off x="4210050" y="2057400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ServiceCollectionExtensions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register options + DI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tartup-2"/>
          <p:cNvSpPr>
            <a:spLocks noGrp="1"/>
          </p:cNvSpPr>
          <p:nvPr/>
        </p:nvSpPr>
        <p:spPr>
          <a:xfrm>
            <a:off x="7791450" y="1657350"/>
            <a:ext cx="2152650" cy="1123950"/>
          </a:xfrm>
          <a:prstGeom prst="roundRect">
            <a:avLst>
              <a:gd name="adj" fmla="val 10169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startup-2-title"/>
          <p:cNvSpPr>
            <a:spLocks noGrp="1"/>
          </p:cNvSpPr>
          <p:nvPr/>
        </p:nvSpPr>
        <p:spPr>
          <a:xfrm>
            <a:off x="7905750" y="1752600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ValidateOnStart()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startup-2-detail"/>
          <p:cNvSpPr>
            <a:spLocks noGrp="1"/>
          </p:cNvSpPr>
          <p:nvPr/>
        </p:nvSpPr>
        <p:spPr>
          <a:xfrm>
            <a:off x="7905750" y="2057400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WorkerOptionsValidator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RfidRawLogOptionsValidator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MongoDbOptionsValidator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tartup-3"/>
          <p:cNvSpPr>
            <a:spLocks noGrp="1"/>
          </p:cNvSpPr>
          <p:nvPr/>
        </p:nvSpPr>
        <p:spPr>
          <a:xfrm>
            <a:off x="2247900" y="3476625"/>
            <a:ext cx="2152650" cy="1123950"/>
          </a:xfrm>
          <a:prstGeom prst="roundRect">
            <a:avLst>
              <a:gd name="adj" fmla="val 10169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startup-3-title"/>
          <p:cNvSpPr>
            <a:spLocks noGrp="1"/>
          </p:cNvSpPr>
          <p:nvPr/>
        </p:nvSpPr>
        <p:spPr>
          <a:xfrm>
            <a:off x="2362200" y="3571875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host.Build()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startup-3-detail"/>
          <p:cNvSpPr>
            <a:spLocks noGrp="1"/>
          </p:cNvSpPr>
          <p:nvPr/>
        </p:nvSpPr>
        <p:spPr>
          <a:xfrm>
            <a:off x="2362200" y="3876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Resolve redacted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startup summary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artup-4"/>
          <p:cNvSpPr>
            <a:spLocks noGrp="1"/>
          </p:cNvSpPr>
          <p:nvPr/>
        </p:nvSpPr>
        <p:spPr>
          <a:xfrm>
            <a:off x="5943600" y="3476625"/>
            <a:ext cx="2152650" cy="1123950"/>
          </a:xfrm>
          <a:prstGeom prst="roundRect">
            <a:avLst>
              <a:gd name="adj" fmla="val 10169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startup-4-title"/>
          <p:cNvSpPr>
            <a:spLocks noGrp="1"/>
          </p:cNvSpPr>
          <p:nvPr/>
        </p:nvSpPr>
        <p:spPr>
          <a:xfrm>
            <a:off x="6057900" y="3571875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StartupInitializationHostedService.StartAsync()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startup-4-detail"/>
          <p:cNvSpPr>
            <a:spLocks noGrp="1"/>
          </p:cNvSpPr>
          <p:nvPr/>
        </p:nvSpPr>
        <p:spPr>
          <a:xfrm>
            <a:off x="6057900" y="3876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Ping MongoDB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initialize collections/indexes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tartup-5"/>
          <p:cNvSpPr>
            <a:spLocks noGrp="1"/>
          </p:cNvSpPr>
          <p:nvPr/>
        </p:nvSpPr>
        <p:spPr>
          <a:xfrm>
            <a:off x="9639300" y="3476625"/>
            <a:ext cx="2152650" cy="1123950"/>
          </a:xfrm>
          <a:prstGeom prst="roundRect">
            <a:avLst>
              <a:gd name="adj" fmla="val 10169"/>
            </a:avLst>
          </a:prstGeom>
          <a:solidFill>
            <a:srgbClr val="E56B5D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0" name="startup-5-title"/>
          <p:cNvSpPr>
            <a:spLocks noGrp="1"/>
          </p:cNvSpPr>
          <p:nvPr/>
        </p:nvSpPr>
        <p:spPr>
          <a:xfrm>
            <a:off x="9753600" y="3571875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RawLogIngestionHostedService.ExecuteAsync()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1" name="startup-5-detail"/>
          <p:cNvSpPr>
            <a:spLocks noGrp="1"/>
          </p:cNvSpPr>
          <p:nvPr/>
        </p:nvSpPr>
        <p:spPr>
          <a:xfrm>
            <a:off x="9753600" y="3876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FFE2D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E2DD"/>
                </a:solidFill>
                <a:latin typeface="Aptos"/>
                <a:ea typeface="Aptos"/>
                <a:cs typeface="Aptos"/>
              </a:rPr>
              <a:t>Enabled? → mark live</a:t>
            </a:r>
            <a:endParaRPr sz="1050" b="0">
              <a:solidFill>
                <a:srgbClr val="FFE2DD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FFE2D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E2DD"/>
                </a:solidFill>
                <a:latin typeface="Aptos"/>
                <a:ea typeface="Aptos"/>
                <a:cs typeface="Aptos"/>
              </a:rPr>
              <a:t>start polling + scheduler</a:t>
            </a:r>
            <a:endParaRPr sz="1050" b="0">
              <a:solidFill>
                <a:srgbClr val="FFE2D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tartup-a1"/>
          <p:cNvSpPr>
            <a:spLocks noGrp="1"/>
          </p:cNvSpPr>
          <p:nvPr/>
        </p:nvSpPr>
        <p:spPr>
          <a:xfrm>
            <a:off x="2628900" y="2047875"/>
            <a:ext cx="1143000" cy="24765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3" name="startup-a2"/>
          <p:cNvSpPr>
            <a:spLocks noGrp="1"/>
          </p:cNvSpPr>
          <p:nvPr/>
        </p:nvSpPr>
        <p:spPr>
          <a:xfrm>
            <a:off x="6324600" y="2047875"/>
            <a:ext cx="1143000" cy="24765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4" name="startup-a3"/>
          <p:cNvSpPr>
            <a:spLocks noGrp="1"/>
          </p:cNvSpPr>
          <p:nvPr/>
        </p:nvSpPr>
        <p:spPr>
          <a:xfrm>
            <a:off x="8934450" y="2628900"/>
            <a:ext cx="266700" cy="552450"/>
          </a:xfrm>
          <a:prstGeom prst="down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5" name="startup-a4"/>
          <p:cNvSpPr>
            <a:spLocks noGrp="1"/>
          </p:cNvSpPr>
          <p:nvPr/>
        </p:nvSpPr>
        <p:spPr>
          <a:xfrm>
            <a:off x="4457700" y="3857625"/>
            <a:ext cx="1143000" cy="24765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6" name="startup-a5"/>
          <p:cNvSpPr>
            <a:spLocks noGrp="1"/>
          </p:cNvSpPr>
          <p:nvPr/>
        </p:nvSpPr>
        <p:spPr>
          <a:xfrm>
            <a:off x="8153400" y="3857625"/>
            <a:ext cx="1143000" cy="24765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7" name="startup-callout"/>
          <p:cNvSpPr>
            <a:spLocks noGrp="1"/>
          </p:cNvSpPr>
          <p:nvPr/>
        </p:nvSpPr>
        <p:spPr>
          <a:xfrm>
            <a:off x="609600" y="51435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Nếu Enabled = false, ExecuteAsync ghi log disabled và kết thúc; host vẫn sống nhưng không ingest.</a:t>
            </a:r>
            <a:endParaRPr sz="1275" b="1">
              <a:solidFill>
                <a:srgbClr val="E56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ConfigurationRedactor chỉ đưa metadata an toàn vào startup log; không log connection string.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Discovery và logical file identity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Mỗi file được nhận diện bằng SourceId + FolderDate + FileId + RelativePath.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04/10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discovery-config"/>
          <p:cNvSpPr>
            <a:spLocks noGrp="1"/>
          </p:cNvSpPr>
          <p:nvPr/>
        </p:nvSpPr>
        <p:spPr>
          <a:xfrm>
            <a:off x="400050" y="1676400"/>
            <a:ext cx="2381250" cy="1790700"/>
          </a:xfrm>
          <a:prstGeom prst="roundRect">
            <a:avLst>
              <a:gd name="adj" fmla="val 6383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5" name="discovery-config-title"/>
          <p:cNvSpPr>
            <a:spLocks noGrp="1"/>
          </p:cNvSpPr>
          <p:nvPr/>
        </p:nvSpPr>
        <p:spPr>
          <a:xfrm>
            <a:off x="552450" y="184785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RfidRawLogOptions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discovery-config-detail"/>
          <p:cNvSpPr>
            <a:spLocks noGrp="1"/>
          </p:cNvSpPr>
          <p:nvPr/>
        </p:nvSpPr>
        <p:spPr>
          <a:xfrm>
            <a:off x="590550" y="2266950"/>
            <a:ext cx="2000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Sources[]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Mode = Local | RemoteHttp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RootPath / BaseUri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LookbackDays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ExpectedFileIds (health only)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discovery-arrow-1"/>
          <p:cNvSpPr>
            <a:spLocks noGrp="1"/>
          </p:cNvSpPr>
          <p:nvPr/>
        </p:nvSpPr>
        <p:spPr>
          <a:xfrm>
            <a:off x="2952750" y="2305050"/>
            <a:ext cx="4953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8" name="discovery-facade"/>
          <p:cNvSpPr>
            <a:spLocks noGrp="1"/>
          </p:cNvSpPr>
          <p:nvPr/>
        </p:nvSpPr>
        <p:spPr>
          <a:xfrm>
            <a:off x="3638550" y="1676400"/>
            <a:ext cx="2419350" cy="1790700"/>
          </a:xfrm>
          <a:prstGeom prst="roundRect">
            <a:avLst>
              <a:gd name="adj" fmla="val 6383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9" name="discovery-facade-title"/>
          <p:cNvSpPr>
            <a:spLocks noGrp="1"/>
          </p:cNvSpPr>
          <p:nvPr/>
        </p:nvSpPr>
        <p:spPr>
          <a:xfrm>
            <a:off x="3752850" y="177165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RawLogFileDiscovery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discovery-facade-detail"/>
          <p:cNvSpPr>
            <a:spLocks noGrp="1"/>
          </p:cNvSpPr>
          <p:nvPr/>
        </p:nvSpPr>
        <p:spPr>
          <a:xfrm>
            <a:off x="3752850" y="2076450"/>
            <a:ext cx="21907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DiscoverAsync(source)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Chọn adapter theo source.Mode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lọc folder yyyy/MM/dd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và File_{FileId}.txt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discovery-arrow-2"/>
          <p:cNvSpPr>
            <a:spLocks noGrp="1"/>
          </p:cNvSpPr>
          <p:nvPr/>
        </p:nvSpPr>
        <p:spPr>
          <a:xfrm>
            <a:off x="6229350" y="2133600"/>
            <a:ext cx="3810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12" name="discovery-arrow-3"/>
          <p:cNvSpPr>
            <a:spLocks noGrp="1"/>
          </p:cNvSpPr>
          <p:nvPr/>
        </p:nvSpPr>
        <p:spPr>
          <a:xfrm>
            <a:off x="6229350" y="2857500"/>
            <a:ext cx="3810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13" name="discovery-local"/>
          <p:cNvSpPr>
            <a:spLocks noGrp="1"/>
          </p:cNvSpPr>
          <p:nvPr/>
        </p:nvSpPr>
        <p:spPr>
          <a:xfrm>
            <a:off x="6819900" y="14287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discovery-local-title"/>
          <p:cNvSpPr>
            <a:spLocks noGrp="1"/>
          </p:cNvSpPr>
          <p:nvPr/>
        </p:nvSpPr>
        <p:spPr>
          <a:xfrm>
            <a:off x="6934200" y="1524000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LocalRawLogFileDiscovery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discovery-local-detail"/>
          <p:cNvSpPr>
            <a:spLocks noGrp="1"/>
          </p:cNvSpPr>
          <p:nvPr/>
        </p:nvSpPr>
        <p:spPr>
          <a:xfrm>
            <a:off x="6934200" y="182880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Directory.EnumerateFiles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filesystem là authority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discovery-remote"/>
          <p:cNvSpPr>
            <a:spLocks noGrp="1"/>
          </p:cNvSpPr>
          <p:nvPr/>
        </p:nvSpPr>
        <p:spPr>
          <a:xfrm>
            <a:off x="6819900" y="26860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discovery-remote-title"/>
          <p:cNvSpPr>
            <a:spLocks noGrp="1"/>
          </p:cNvSpPr>
          <p:nvPr/>
        </p:nvSpPr>
        <p:spPr>
          <a:xfrm>
            <a:off x="6934200" y="2781300"/>
            <a:ext cx="1924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RemoteHttpRawLogFileDiscovery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discovery-remote-detail"/>
          <p:cNvSpPr>
            <a:spLocks noGrp="1"/>
          </p:cNvSpPr>
          <p:nvPr/>
        </p:nvSpPr>
        <p:spPr>
          <a:xfrm>
            <a:off x="6934200" y="308610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HTTP directory listing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parser HTML anchor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discovery-arrow-4"/>
          <p:cNvSpPr>
            <a:spLocks noGrp="1"/>
          </p:cNvSpPr>
          <p:nvPr/>
        </p:nvSpPr>
        <p:spPr>
          <a:xfrm>
            <a:off x="9163050" y="2305050"/>
            <a:ext cx="3810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0" name="discovery-descriptor"/>
          <p:cNvSpPr>
            <a:spLocks noGrp="1"/>
          </p:cNvSpPr>
          <p:nvPr/>
        </p:nvSpPr>
        <p:spPr>
          <a:xfrm>
            <a:off x="9696450" y="1676400"/>
            <a:ext cx="2076450" cy="1790700"/>
          </a:xfrm>
          <a:prstGeom prst="roundRect">
            <a:avLst>
              <a:gd name="adj" fmla="val 6383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1" name="discovery-descriptor-title"/>
          <p:cNvSpPr>
            <a:spLocks noGrp="1"/>
          </p:cNvSpPr>
          <p:nvPr/>
        </p:nvSpPr>
        <p:spPr>
          <a:xfrm>
            <a:off x="9810750" y="1771650"/>
            <a:ext cx="1847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RawLogFileDescriptor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2" name="discovery-descriptor-detail"/>
          <p:cNvSpPr>
            <a:spLocks noGrp="1"/>
          </p:cNvSpPr>
          <p:nvPr/>
        </p:nvSpPr>
        <p:spPr>
          <a:xfrm>
            <a:off x="9810750" y="2076450"/>
            <a:ext cx="18478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SourceId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FolderDate • FileId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FileName • RelativePath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Length / LastModified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identity-band"/>
          <p:cNvSpPr>
            <a:spLocks noGrp="1"/>
          </p:cNvSpPr>
          <p:nvPr/>
        </p:nvSpPr>
        <p:spPr>
          <a:xfrm>
            <a:off x="400050" y="4343400"/>
            <a:ext cx="11372850" cy="1466850"/>
          </a:xfrm>
          <a:prstGeom prst="roundRect">
            <a:avLst>
              <a:gd name="adj" fmla="val 7792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4" name="identity-title"/>
          <p:cNvSpPr>
            <a:spLocks noGrp="1"/>
          </p:cNvSpPr>
          <p:nvPr/>
        </p:nvSpPr>
        <p:spPr>
          <a:xfrm>
            <a:off x="628650" y="45434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FileRegistry.GetOrCreateAsync()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5" name="identity-detail"/>
          <p:cNvSpPr>
            <a:spLocks noGrp="1"/>
          </p:cNvSpPr>
          <p:nvPr/>
        </p:nvSpPr>
        <p:spPr>
          <a:xfrm>
            <a:off x="628650" y="491490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1. Load checkpoint theo key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2. Nếu chưa có: áp dụng StartupExistingFilePolicy / NewFilePolicy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3. Tạo FileIngestionState + framer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4. Dedupe bằng logical key, rồi scheduler nhận state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identity-key"/>
          <p:cNvSpPr>
            <a:spLocks noGrp="1"/>
          </p:cNvSpPr>
          <p:nvPr/>
        </p:nvSpPr>
        <p:spPr>
          <a:xfrm>
            <a:off x="7124700" y="4657725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725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Key:</a:t>
            </a:r>
            <a:endParaRPr sz="1725" b="1">
              <a:solidFill>
                <a:srgbClr val="5B45B6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  <a:p>
            <a:pPr algn="ctr">
              <a:buNone/>
              <a:defRPr sz="1725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725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SourceId + FolderDate + FileId + RelativePath</a:t>
            </a:r>
            <a:endParaRPr sz="1725" b="1">
              <a:solidFill>
                <a:srgbClr val="5B45B6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7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LookbackDays là cửa sổ discovery; không tự tạo archive backfill cho folder đã ra ngoài cửa sổ.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Một turn đọc bounded prefix của file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FileTurnProcessor giới hạn bytes/records/time để nhiều file cùng tiến và hot file không chiếm worker.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05/10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ail-arrow-0"/>
          <p:cNvSpPr>
            <a:spLocks noGrp="1"/>
          </p:cNvSpPr>
          <p:nvPr/>
        </p:nvSpPr>
        <p:spPr>
          <a:xfrm>
            <a:off x="2857500" y="23050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5" name="tail-arrow-1"/>
          <p:cNvSpPr>
            <a:spLocks noGrp="1"/>
          </p:cNvSpPr>
          <p:nvPr/>
        </p:nvSpPr>
        <p:spPr>
          <a:xfrm>
            <a:off x="5600700" y="23050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6" name="tail-arrow-2"/>
          <p:cNvSpPr>
            <a:spLocks noGrp="1"/>
          </p:cNvSpPr>
          <p:nvPr/>
        </p:nvSpPr>
        <p:spPr>
          <a:xfrm>
            <a:off x="8343900" y="2305050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7" name="tail-0"/>
          <p:cNvSpPr>
            <a:spLocks noGrp="1"/>
          </p:cNvSpPr>
          <p:nvPr/>
        </p:nvSpPr>
        <p:spPr>
          <a:xfrm>
            <a:off x="400050" y="1809750"/>
            <a:ext cx="2305050" cy="1428750"/>
          </a:xfrm>
          <a:prstGeom prst="roundRect">
            <a:avLst>
              <a:gd name="adj" fmla="val 8000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tail-0-title"/>
          <p:cNvSpPr>
            <a:spLocks noGrp="1"/>
          </p:cNvSpPr>
          <p:nvPr/>
        </p:nvSpPr>
        <p:spPr>
          <a:xfrm>
            <a:off x="514350" y="19050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FileTurnProcessor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ProcessAsync()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tail-0-detail"/>
          <p:cNvSpPr>
            <a:spLocks noGrp="1"/>
          </p:cNvSpPr>
          <p:nvPr/>
        </p:nvSpPr>
        <p:spPr>
          <a:xfrm>
            <a:off x="514350" y="2209800"/>
            <a:ext cx="2076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đọc checkpoint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đặt budget cho turn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ail-1"/>
          <p:cNvSpPr>
            <a:spLocks noGrp="1"/>
          </p:cNvSpPr>
          <p:nvPr/>
        </p:nvSpPr>
        <p:spPr>
          <a:xfrm>
            <a:off x="3143250" y="1809750"/>
            <a:ext cx="2305050" cy="1428750"/>
          </a:xfrm>
          <a:prstGeom prst="roundRect">
            <a:avLst>
              <a:gd name="adj" fmla="val 8000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tail-1-title"/>
          <p:cNvSpPr>
            <a:spLocks noGrp="1"/>
          </p:cNvSpPr>
          <p:nvPr/>
        </p:nvSpPr>
        <p:spPr>
          <a:xfrm>
            <a:off x="3257550" y="19050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IRawLogTailReader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ReadAsync()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tail-1-detail"/>
          <p:cNvSpPr>
            <a:spLocks noGrp="1"/>
          </p:cNvSpPr>
          <p:nvPr/>
        </p:nvSpPr>
        <p:spPr>
          <a:xfrm>
            <a:off x="3257550" y="2209800"/>
            <a:ext cx="2076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LocalRawLogTailReader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hoặc RemoteHttpRawLogTailReader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ail-2"/>
          <p:cNvSpPr>
            <a:spLocks noGrp="1"/>
          </p:cNvSpPr>
          <p:nvPr/>
        </p:nvSpPr>
        <p:spPr>
          <a:xfrm>
            <a:off x="5886450" y="1809750"/>
            <a:ext cx="2305050" cy="142875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tail-2-title"/>
          <p:cNvSpPr>
            <a:spLocks noGrp="1"/>
          </p:cNvSpPr>
          <p:nvPr/>
        </p:nvSpPr>
        <p:spPr>
          <a:xfrm>
            <a:off x="6000750" y="19050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IRawLogRecordFramer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Append()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tail-2-detail"/>
          <p:cNvSpPr>
            <a:spLocks noGrp="1"/>
          </p:cNvSpPr>
          <p:nvPr/>
        </p:nvSpPr>
        <p:spPr>
          <a:xfrm>
            <a:off x="6000750" y="2209800"/>
            <a:ext cx="2076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RawLogRecordFramer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UTF-8 bytes + e(0)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ail-3"/>
          <p:cNvSpPr>
            <a:spLocks noGrp="1"/>
          </p:cNvSpPr>
          <p:nvPr/>
        </p:nvSpPr>
        <p:spPr>
          <a:xfrm>
            <a:off x="8629650" y="1809750"/>
            <a:ext cx="2305050" cy="1428750"/>
          </a:xfrm>
          <a:prstGeom prst="roundRect">
            <a:avLst>
              <a:gd name="adj" fmla="val 8000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tail-3-title"/>
          <p:cNvSpPr>
            <a:spLocks noGrp="1"/>
          </p:cNvSpPr>
          <p:nvPr/>
        </p:nvSpPr>
        <p:spPr>
          <a:xfrm>
            <a:off x="8743950" y="1905000"/>
            <a:ext cx="2076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Complete records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tail-3-detail"/>
          <p:cNvSpPr>
            <a:spLocks noGrp="1"/>
          </p:cNvSpPr>
          <p:nvPr/>
        </p:nvSpPr>
        <p:spPr>
          <a:xfrm>
            <a:off x="8743950" y="2209800"/>
            <a:ext cx="2076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FramedRawLogRecord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OffsetStart / OffsetEnd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partial-box"/>
          <p:cNvSpPr>
            <a:spLocks noGrp="1"/>
          </p:cNvSpPr>
          <p:nvPr/>
        </p:nvSpPr>
        <p:spPr>
          <a:xfrm>
            <a:off x="1143000" y="39052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FFF6E6"/>
          </a:solidFill>
          <a:ln w="9525">
            <a:solidFill>
              <a:srgbClr val="E7A63B"/>
            </a:solidFill>
            <a:prstDash val="solid"/>
          </a:ln>
        </p:spPr>
      </p:sp>
      <p:sp>
        <p:nvSpPr>
          <p:cNvPr id="20" name="partial-title"/>
          <p:cNvSpPr>
            <a:spLocks noGrp="1"/>
          </p:cNvSpPr>
          <p:nvPr/>
        </p:nvSpPr>
        <p:spPr>
          <a:xfrm>
            <a:off x="1352550" y="4076700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Partial trailing bytes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1" name="partial-detail"/>
          <p:cNvSpPr>
            <a:spLocks noGrp="1"/>
          </p:cNvSpPr>
          <p:nvPr/>
        </p:nvSpPr>
        <p:spPr>
          <a:xfrm>
            <a:off x="1390650" y="4457700"/>
            <a:ext cx="3695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Chưa có e(0) → giữ trong framer.PendingBytes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Không parse • không persist • không advance checkpoint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nomaly-box"/>
          <p:cNvSpPr>
            <a:spLocks noGrp="1"/>
          </p:cNvSpPr>
          <p:nvPr/>
        </p:nvSpPr>
        <p:spPr>
          <a:xfrm>
            <a:off x="6858000" y="3905250"/>
            <a:ext cx="4191000" cy="1314450"/>
          </a:xfrm>
          <a:prstGeom prst="roundRect">
            <a:avLst>
              <a:gd name="adj" fmla="val 8696"/>
            </a:avLst>
          </a:prstGeom>
          <a:solidFill>
            <a:srgbClr val="FFE7E2"/>
          </a:solidFill>
          <a:ln w="9525">
            <a:solidFill>
              <a:srgbClr val="E56B5D"/>
            </a:solidFill>
            <a:prstDash val="solid"/>
          </a:ln>
        </p:spPr>
      </p:sp>
      <p:sp>
        <p:nvSpPr>
          <p:cNvPr id="23" name="anomaly-title"/>
          <p:cNvSpPr>
            <a:spLocks noGrp="1"/>
          </p:cNvSpPr>
          <p:nvPr/>
        </p:nvSpPr>
        <p:spPr>
          <a:xfrm>
            <a:off x="7067550" y="4076700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File anomaly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4" name="anomaly-detail"/>
          <p:cNvSpPr>
            <a:spLocks noGrp="1"/>
          </p:cNvSpPr>
          <p:nvPr/>
        </p:nvSpPr>
        <p:spPr>
          <a:xfrm>
            <a:off x="7105650" y="4457700"/>
            <a:ext cx="3695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fileLength &lt; checkpoint.Position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→ FileTurnStatus.Truncated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→ dừng file + health/log diagnostic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tail-down-1"/>
          <p:cNvSpPr>
            <a:spLocks noGrp="1"/>
          </p:cNvSpPr>
          <p:nvPr/>
        </p:nvSpPr>
        <p:spPr>
          <a:xfrm>
            <a:off x="2952750" y="3476625"/>
            <a:ext cx="266700" cy="304800"/>
          </a:xfrm>
          <a:prstGeom prst="downArrow">
            <a:avLst/>
          </a:prstGeom>
          <a:solidFill>
            <a:srgbClr val="E7A63B"/>
          </a:solidFill>
          <a:ln w="0">
            <a:noFill/>
            <a:prstDash val="solid"/>
          </a:ln>
        </p:spPr>
      </p:sp>
      <p:sp>
        <p:nvSpPr>
          <p:cNvPr id="26" name="tail-down-2"/>
          <p:cNvSpPr>
            <a:spLocks noGrp="1"/>
          </p:cNvSpPr>
          <p:nvPr/>
        </p:nvSpPr>
        <p:spPr>
          <a:xfrm>
            <a:off x="8667750" y="3476625"/>
            <a:ext cx="266700" cy="304800"/>
          </a:xfrm>
          <a:prstGeom prst="downArrow">
            <a:avLst/>
          </a:prstGeom>
          <a:solidFill>
            <a:srgbClr val="E56B5D"/>
          </a:solidFill>
          <a:ln w="0">
            <a:noFill/>
            <a:prstDash val="solid"/>
          </a:ln>
        </p:spPr>
      </p:sp>
      <p:sp>
        <p:nvSpPr>
          <p:cNvPr id="27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Remote reader yêu cầu HTTP Range; nếu server bỏ qua Range thì reader fail rõ ràng thay vì đọc sai offset.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Parser và canonical mapping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Parser tolerant: giữ raw payload và warnings; record hoàn chỉnh nhưng malformed đi vào ingestion_failures.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06/10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arse-arrow-0"/>
          <p:cNvSpPr>
            <a:spLocks noGrp="1"/>
          </p:cNvSpPr>
          <p:nvPr/>
        </p:nvSpPr>
        <p:spPr>
          <a:xfrm>
            <a:off x="2762250" y="2200275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5" name="parse-arrow-1"/>
          <p:cNvSpPr>
            <a:spLocks noGrp="1"/>
          </p:cNvSpPr>
          <p:nvPr/>
        </p:nvSpPr>
        <p:spPr>
          <a:xfrm>
            <a:off x="5372100" y="2200275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6" name="parse-arrow-2"/>
          <p:cNvSpPr>
            <a:spLocks noGrp="1"/>
          </p:cNvSpPr>
          <p:nvPr/>
        </p:nvSpPr>
        <p:spPr>
          <a:xfrm>
            <a:off x="7981950" y="2200275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7" name="parse-handler"/>
          <p:cNvSpPr>
            <a:spLocks noGrp="1"/>
          </p:cNvSpPr>
          <p:nvPr/>
        </p:nvSpPr>
        <p:spPr>
          <a:xfrm>
            <a:off x="400050" y="1695450"/>
            <a:ext cx="2209800" cy="1447800"/>
          </a:xfrm>
          <a:prstGeom prst="roundRect">
            <a:avLst>
              <a:gd name="adj" fmla="val 7895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parse-handler-title"/>
          <p:cNvSpPr>
            <a:spLocks noGrp="1"/>
          </p:cNvSpPr>
          <p:nvPr/>
        </p:nvSpPr>
        <p:spPr>
          <a:xfrm>
            <a:off x="514350" y="1790700"/>
            <a:ext cx="1981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ProcessRawFileRecordHandler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parse-handler-detail"/>
          <p:cNvSpPr>
            <a:spLocks noGrp="1"/>
          </p:cNvSpPr>
          <p:nvPr/>
        </p:nvSpPr>
        <p:spPr>
          <a:xfrm>
            <a:off x="514350" y="2095500"/>
            <a:ext cx="1981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Handle(context)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parser.Parse(context)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mapper.Map(result)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parse-tokenizer"/>
          <p:cNvSpPr>
            <a:spLocks noGrp="1"/>
          </p:cNvSpPr>
          <p:nvPr/>
        </p:nvSpPr>
        <p:spPr>
          <a:xfrm>
            <a:off x="3009900" y="1695450"/>
            <a:ext cx="2209800" cy="1447800"/>
          </a:xfrm>
          <a:prstGeom prst="roundRect">
            <a:avLst>
              <a:gd name="adj" fmla="val 7895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parse-tokenizer-title"/>
          <p:cNvSpPr>
            <a:spLocks noGrp="1"/>
          </p:cNvSpPr>
          <p:nvPr/>
        </p:nvSpPr>
        <p:spPr>
          <a:xfrm>
            <a:off x="3124200" y="1790700"/>
            <a:ext cx="1981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BlockTokenizer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parse-tokenizer-detail"/>
          <p:cNvSpPr>
            <a:spLocks noGrp="1"/>
          </p:cNvSpPr>
          <p:nvPr/>
        </p:nvSpPr>
        <p:spPr>
          <a:xfrm>
            <a:off x="3124200" y="2095500"/>
            <a:ext cx="1981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Tokenize raw text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không split sai dấu phẩy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trong block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parse-parser"/>
          <p:cNvSpPr>
            <a:spLocks noGrp="1"/>
          </p:cNvSpPr>
          <p:nvPr/>
        </p:nvSpPr>
        <p:spPr>
          <a:xfrm>
            <a:off x="5619750" y="1695450"/>
            <a:ext cx="2209800" cy="1447800"/>
          </a:xfrm>
          <a:prstGeom prst="roundRect">
            <a:avLst>
              <a:gd name="adj" fmla="val 7895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parse-parser-title"/>
          <p:cNvSpPr>
            <a:spLocks noGrp="1"/>
          </p:cNvSpPr>
          <p:nvPr/>
        </p:nvSpPr>
        <p:spPr>
          <a:xfrm>
            <a:off x="5734050" y="1790700"/>
            <a:ext cx="1981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RfidRawRecordParser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parse-parser-detail"/>
          <p:cNvSpPr>
            <a:spLocks noGrp="1"/>
          </p:cNvSpPr>
          <p:nvPr/>
        </p:nvSpPr>
        <p:spPr>
          <a:xfrm>
            <a:off x="5734050" y="2095500"/>
            <a:ext cx="1981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Parse(context)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@ • b • t • te • sp • u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RawRecordParseResult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parse-mapper"/>
          <p:cNvSpPr>
            <a:spLocks noGrp="1"/>
          </p:cNvSpPr>
          <p:nvPr/>
        </p:nvSpPr>
        <p:spPr>
          <a:xfrm>
            <a:off x="8229600" y="1695450"/>
            <a:ext cx="2209800" cy="1447800"/>
          </a:xfrm>
          <a:prstGeom prst="roundRect">
            <a:avLst>
              <a:gd name="adj" fmla="val 7895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parse-mapper-title"/>
          <p:cNvSpPr>
            <a:spLocks noGrp="1"/>
          </p:cNvSpPr>
          <p:nvPr/>
        </p:nvSpPr>
        <p:spPr>
          <a:xfrm>
            <a:off x="8343900" y="1790700"/>
            <a:ext cx="1981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CanonicalDeviceEventMapper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parse-mapper-detail"/>
          <p:cNvSpPr>
            <a:spLocks noGrp="1"/>
          </p:cNvSpPr>
          <p:nvPr/>
        </p:nvSpPr>
        <p:spPr>
          <a:xfrm>
            <a:off x="8343900" y="2095500"/>
            <a:ext cx="1981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Map(parseResult)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category + source + facts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EventIdentityFactory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block-band"/>
          <p:cNvSpPr>
            <a:spLocks noGrp="1"/>
          </p:cNvSpPr>
          <p:nvPr/>
        </p:nvSpPr>
        <p:spPr>
          <a:xfrm>
            <a:off x="400050" y="3714750"/>
            <a:ext cx="11372850" cy="1562100"/>
          </a:xfrm>
          <a:prstGeom prst="roundRect">
            <a:avLst>
              <a:gd name="adj" fmla="val 7317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0" name="block-title"/>
          <p:cNvSpPr>
            <a:spLocks noGrp="1"/>
          </p:cNvSpPr>
          <p:nvPr/>
        </p:nvSpPr>
        <p:spPr>
          <a:xfrm>
            <a:off x="628650" y="3905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Mapping rule đang dùng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1" name="rule-0"/>
          <p:cNvSpPr>
            <a:spLocks noGrp="1"/>
          </p:cNvSpPr>
          <p:nvPr/>
        </p:nvSpPr>
        <p:spPr>
          <a:xfrm>
            <a:off x="628650" y="4343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@  header time / device / gate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ule-1"/>
          <p:cNvSpPr>
            <a:spLocks noGrp="1"/>
          </p:cNvSpPr>
          <p:nvPr/>
        </p:nvSpPr>
        <p:spPr>
          <a:xfrm>
            <a:off x="3257550" y="4343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b  gate state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ule-2"/>
          <p:cNvSpPr>
            <a:spLocks noGrp="1"/>
          </p:cNvSpPr>
          <p:nvPr/>
        </p:nvSpPr>
        <p:spPr>
          <a:xfrm>
            <a:off x="5886450" y="4343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t  signal + TagId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ule-3"/>
          <p:cNvSpPr>
            <a:spLocks noGrp="1"/>
          </p:cNvSpPr>
          <p:nvPr/>
        </p:nvSpPr>
        <p:spPr>
          <a:xfrm>
            <a:off x="8515350" y="4343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te  business process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ule-4"/>
          <p:cNvSpPr>
            <a:spLocks noGrp="1"/>
          </p:cNvSpPr>
          <p:nvPr/>
        </p:nvSpPr>
        <p:spPr>
          <a:xfrm>
            <a:off x="628650" y="48006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sp  style process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ule-5"/>
          <p:cNvSpPr>
            <a:spLocks noGrp="1"/>
          </p:cNvSpPr>
          <p:nvPr/>
        </p:nvSpPr>
        <p:spPr>
          <a:xfrm>
            <a:off x="3257550" y="48006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u  user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ule-6"/>
          <p:cNvSpPr>
            <a:spLocks noGrp="1"/>
          </p:cNvSpPr>
          <p:nvPr/>
        </p:nvSpPr>
        <p:spPr>
          <a:xfrm>
            <a:off x="5886450" y="48006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e(0)  record boundary</a:t>
            </a:r>
            <a:endParaRPr sz="1200" b="1">
              <a:solidFill>
                <a:srgbClr val="E56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tegory-rule"/>
          <p:cNvSpPr>
            <a:spLocks noGrp="1"/>
          </p:cNvSpPr>
          <p:nvPr/>
        </p:nvSpPr>
        <p:spPr>
          <a:xfrm>
            <a:off x="628650" y="50482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5B45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45B6"/>
                </a:solidFill>
                <a:latin typeface="Aptos"/>
                <a:ea typeface="Aptos"/>
                <a:cs typeface="Aptos"/>
              </a:rPr>
              <a:t>te có mặt → business_process  |  signal t có TagId → tag_read  |  còn lại → unknown</a:t>
            </a:r>
            <a:endParaRPr sz="1200" b="1">
              <a:solidFill>
                <a:srgbClr val="5B45B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FileId chỉ là routing key của raw-log; DeviceId và GateId được giữ riêng trong DeviceContext.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Write trước, checkpoint sau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RawRecordPersistenceCoordinator là điểm giữ invariant write-before-commit.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07/10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ersist-input"/>
          <p:cNvSpPr>
            <a:spLocks noGrp="1"/>
          </p:cNvSpPr>
          <p:nvPr/>
        </p:nvSpPr>
        <p:spPr>
          <a:xfrm>
            <a:off x="400050" y="1924050"/>
            <a:ext cx="2266950" cy="1276350"/>
          </a:xfrm>
          <a:prstGeom prst="roundRect">
            <a:avLst>
              <a:gd name="adj" fmla="val 8955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5" name="persist-input-title"/>
          <p:cNvSpPr>
            <a:spLocks noGrp="1"/>
          </p:cNvSpPr>
          <p:nvPr/>
        </p:nvSpPr>
        <p:spPr>
          <a:xfrm>
            <a:off x="514350" y="2019300"/>
            <a:ext cx="2038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PersistAsync()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persist-input-detail"/>
          <p:cNvSpPr>
            <a:spLocks noGrp="1"/>
          </p:cNvSpPr>
          <p:nvPr/>
        </p:nvSpPr>
        <p:spPr>
          <a:xfrm>
            <a:off x="514350" y="2324100"/>
            <a:ext cx="2038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RawRecordProcessingResult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+ checkpoint + workerId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persist-arrow-1"/>
          <p:cNvSpPr>
            <a:spLocks noGrp="1"/>
          </p:cNvSpPr>
          <p:nvPr/>
        </p:nvSpPr>
        <p:spPr>
          <a:xfrm>
            <a:off x="2857500" y="2428875"/>
            <a:ext cx="4000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8" name="persist-branch"/>
          <p:cNvSpPr>
            <a:spLocks noGrp="1"/>
          </p:cNvSpPr>
          <p:nvPr/>
        </p:nvSpPr>
        <p:spPr>
          <a:xfrm>
            <a:off x="3429000" y="1924050"/>
            <a:ext cx="2266950" cy="1276350"/>
          </a:xfrm>
          <a:prstGeom prst="roundRect">
            <a:avLst>
              <a:gd name="adj" fmla="val 8955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9" name="persist-branch-title"/>
          <p:cNvSpPr>
            <a:spLocks noGrp="1"/>
          </p:cNvSpPr>
          <p:nvPr/>
        </p:nvSpPr>
        <p:spPr>
          <a:xfrm>
            <a:off x="3543300" y="2019300"/>
            <a:ext cx="2038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Outcome branch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0" name="persist-branch-detail"/>
          <p:cNvSpPr>
            <a:spLocks noGrp="1"/>
          </p:cNvSpPr>
          <p:nvPr/>
        </p:nvSpPr>
        <p:spPr>
          <a:xfrm>
            <a:off x="3543300" y="2324100"/>
            <a:ext cx="2038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Event → historyWriter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Failure → failureWriter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ersist-arrow-2"/>
          <p:cNvSpPr>
            <a:spLocks noGrp="1"/>
          </p:cNvSpPr>
          <p:nvPr/>
        </p:nvSpPr>
        <p:spPr>
          <a:xfrm>
            <a:off x="5886450" y="2019300"/>
            <a:ext cx="285750" cy="266700"/>
          </a:xfrm>
          <a:prstGeom prst="rightArrow">
            <a:avLst/>
          </a:prstGeom>
          <a:solidFill>
            <a:srgbClr val="189B96"/>
          </a:solidFill>
          <a:ln w="0">
            <a:noFill/>
            <a:prstDash val="solid"/>
          </a:ln>
        </p:spPr>
      </p:sp>
      <p:sp>
        <p:nvSpPr>
          <p:cNvPr id="12" name="persist-arrow-3"/>
          <p:cNvSpPr>
            <a:spLocks noGrp="1"/>
          </p:cNvSpPr>
          <p:nvPr/>
        </p:nvSpPr>
        <p:spPr>
          <a:xfrm>
            <a:off x="5886450" y="2838450"/>
            <a:ext cx="285750" cy="266700"/>
          </a:xfrm>
          <a:prstGeom prst="rightArrow">
            <a:avLst/>
          </a:prstGeom>
          <a:solidFill>
            <a:srgbClr val="E56B5D"/>
          </a:solidFill>
          <a:ln w="0">
            <a:noFill/>
            <a:prstDash val="solid"/>
          </a:ln>
        </p:spPr>
      </p:sp>
      <p:sp>
        <p:nvSpPr>
          <p:cNvPr id="13" name="persist-history"/>
          <p:cNvSpPr>
            <a:spLocks noGrp="1"/>
          </p:cNvSpPr>
          <p:nvPr/>
        </p:nvSpPr>
        <p:spPr>
          <a:xfrm>
            <a:off x="6419850" y="1428750"/>
            <a:ext cx="2266950" cy="1066800"/>
          </a:xfrm>
          <a:prstGeom prst="roundRect">
            <a:avLst>
              <a:gd name="adj" fmla="val 10714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persist-history-title"/>
          <p:cNvSpPr>
            <a:spLocks noGrp="1"/>
          </p:cNvSpPr>
          <p:nvPr/>
        </p:nvSpPr>
        <p:spPr>
          <a:xfrm>
            <a:off x="6534150" y="1524000"/>
            <a:ext cx="2038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MongoDeviceEventHistoryWriter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persist-history-detail"/>
          <p:cNvSpPr>
            <a:spLocks noGrp="1"/>
          </p:cNvSpPr>
          <p:nvPr/>
        </p:nvSpPr>
        <p:spPr>
          <a:xfrm>
            <a:off x="6534150" y="18288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eventId unique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retry duplicate-safe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persist-failure"/>
          <p:cNvSpPr>
            <a:spLocks noGrp="1"/>
          </p:cNvSpPr>
          <p:nvPr/>
        </p:nvSpPr>
        <p:spPr>
          <a:xfrm>
            <a:off x="6419850" y="2686050"/>
            <a:ext cx="2266950" cy="1066800"/>
          </a:xfrm>
          <a:prstGeom prst="roundRect">
            <a:avLst>
              <a:gd name="adj" fmla="val 10714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persist-failure-title"/>
          <p:cNvSpPr>
            <a:spLocks noGrp="1"/>
          </p:cNvSpPr>
          <p:nvPr/>
        </p:nvSpPr>
        <p:spPr>
          <a:xfrm>
            <a:off x="6534150" y="2781300"/>
            <a:ext cx="2038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MongoIngestionFailureWriter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persist-failure-detail"/>
          <p:cNvSpPr>
            <a:spLocks noGrp="1"/>
          </p:cNvSpPr>
          <p:nvPr/>
        </p:nvSpPr>
        <p:spPr>
          <a:xfrm>
            <a:off x="6534150" y="30861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failureId unique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raw + error trace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persist-arrow-4"/>
          <p:cNvSpPr>
            <a:spLocks noGrp="1"/>
          </p:cNvSpPr>
          <p:nvPr/>
        </p:nvSpPr>
        <p:spPr>
          <a:xfrm>
            <a:off x="8877300" y="2019300"/>
            <a:ext cx="3429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0" name="persist-arrow-5"/>
          <p:cNvSpPr>
            <a:spLocks noGrp="1"/>
          </p:cNvSpPr>
          <p:nvPr/>
        </p:nvSpPr>
        <p:spPr>
          <a:xfrm>
            <a:off x="8877300" y="2838450"/>
            <a:ext cx="34290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21" name="persist-checkpoint"/>
          <p:cNvSpPr>
            <a:spLocks noGrp="1"/>
          </p:cNvSpPr>
          <p:nvPr/>
        </p:nvSpPr>
        <p:spPr>
          <a:xfrm>
            <a:off x="9448800" y="1924050"/>
            <a:ext cx="2324100" cy="1276350"/>
          </a:xfrm>
          <a:prstGeom prst="roundRect">
            <a:avLst>
              <a:gd name="adj" fmla="val 8955"/>
            </a:avLst>
          </a:prstGeom>
          <a:solidFill>
            <a:srgbClr val="2B2A4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2" name="persist-checkpoint-title"/>
          <p:cNvSpPr>
            <a:spLocks noGrp="1"/>
          </p:cNvSpPr>
          <p:nvPr/>
        </p:nvSpPr>
        <p:spPr>
          <a:xfrm>
            <a:off x="9563100" y="20193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MongoIngestionCheckpointStore</a:t>
            </a:r>
            <a:endParaRPr sz="1500"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3" name="persist-checkpoint-detail"/>
          <p:cNvSpPr>
            <a:spLocks noGrp="1"/>
          </p:cNvSpPr>
          <p:nvPr/>
        </p:nvSpPr>
        <p:spPr>
          <a:xfrm>
            <a:off x="9563100" y="23241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AdvanceAsync(key, version)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E6D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6DFFF"/>
                </a:solidFill>
                <a:latin typeface="Aptos"/>
                <a:ea typeface="Aptos"/>
                <a:cs typeface="Aptos"/>
              </a:rPr>
              <a:t>CAS / conflict detection</a:t>
            </a:r>
            <a:endParaRPr sz="1050" b="0">
              <a:solidFill>
                <a:srgbClr val="E6D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persist-invariant"/>
          <p:cNvSpPr>
            <a:spLocks noGrp="1"/>
          </p:cNvSpPr>
          <p:nvPr/>
        </p:nvSpPr>
        <p:spPr>
          <a:xfrm>
            <a:off x="400050" y="4095750"/>
            <a:ext cx="11372850" cy="1257300"/>
          </a:xfrm>
          <a:prstGeom prst="roundRect">
            <a:avLst>
              <a:gd name="adj" fmla="val 9091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25" name="persist-invariant-title"/>
          <p:cNvSpPr>
            <a:spLocks noGrp="1"/>
          </p:cNvSpPr>
          <p:nvPr/>
        </p:nvSpPr>
        <p:spPr>
          <a:xfrm>
            <a:off x="628650" y="4286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8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Thứ tự bắt buộc</a:t>
            </a:r>
            <a:endParaRPr sz="18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6" name="persist-invariant-flow"/>
          <p:cNvSpPr>
            <a:spLocks noGrp="1"/>
          </p:cNvSpPr>
          <p:nvPr/>
        </p:nvSpPr>
        <p:spPr>
          <a:xfrm>
            <a:off x="3295650" y="43053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5B45B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B45B6"/>
                </a:solidFill>
                <a:latin typeface="Aptos"/>
                <a:ea typeface="Aptos"/>
                <a:cs typeface="Aptos"/>
              </a:rPr>
              <a:t>persist document  →  Mongo confirmation  →  AdvanceAsync(checkpoint)</a:t>
            </a:r>
            <a:endParaRPr sz="1575" b="1">
              <a:solidFill>
                <a:srgbClr val="5B45B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persist-invariant-note"/>
          <p:cNvSpPr>
            <a:spLocks noGrp="1"/>
          </p:cNvSpPr>
          <p:nvPr/>
        </p:nvSpPr>
        <p:spPr>
          <a:xfrm>
            <a:off x="628650" y="47910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Nếu checkpoint fail hoặc version conflict: không xóa history/failure; lần sau đọc lại và idempotency xử lý duplicate.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Collections: device_event_history • ingestion_failures • ingestion_checkpoints.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Scheduler công bằng và không tự khóa queue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Polling phát hiện; Channel điều phối; consumer xử lý từng turn rồi requeue khi còn backlog.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08/10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ched-arrow-0"/>
          <p:cNvSpPr>
            <a:spLocks noGrp="1"/>
          </p:cNvSpPr>
          <p:nvPr/>
        </p:nvSpPr>
        <p:spPr>
          <a:xfrm>
            <a:off x="3352800" y="2162175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5" name="sched-arrow-1"/>
          <p:cNvSpPr>
            <a:spLocks noGrp="1"/>
          </p:cNvSpPr>
          <p:nvPr/>
        </p:nvSpPr>
        <p:spPr>
          <a:xfrm>
            <a:off x="7048500" y="2162175"/>
            <a:ext cx="285750" cy="266700"/>
          </a:xfrm>
          <a:prstGeom prst="rightArrow">
            <a:avLst/>
          </a:prstGeom>
          <a:solidFill>
            <a:srgbClr val="2B2A4A"/>
          </a:solidFill>
          <a:ln w="0">
            <a:noFill/>
            <a:prstDash val="solid"/>
          </a:ln>
        </p:spPr>
      </p:sp>
      <p:sp>
        <p:nvSpPr>
          <p:cNvPr id="6" name="sched-0"/>
          <p:cNvSpPr>
            <a:spLocks noGrp="1"/>
          </p:cNvSpPr>
          <p:nvPr/>
        </p:nvSpPr>
        <p:spPr>
          <a:xfrm>
            <a:off x="400050" y="1619250"/>
            <a:ext cx="2800350" cy="1371600"/>
          </a:xfrm>
          <a:prstGeom prst="roundRect">
            <a:avLst>
              <a:gd name="adj" fmla="val 8333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7" name="sched-0-title"/>
          <p:cNvSpPr>
            <a:spLocks noGrp="1"/>
          </p:cNvSpPr>
          <p:nvPr/>
        </p:nvSpPr>
        <p:spPr>
          <a:xfrm>
            <a:off x="514350" y="1714500"/>
            <a:ext cx="2571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SourcePollingCoordinator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8" name="sched-0-detail"/>
          <p:cNvSpPr>
            <a:spLocks noGrp="1"/>
          </p:cNvSpPr>
          <p:nvPr/>
        </p:nvSpPr>
        <p:spPr>
          <a:xfrm>
            <a:off x="514350" y="20193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RunAsync()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Discover + ScheduleAsync()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ched-1"/>
          <p:cNvSpPr>
            <a:spLocks noGrp="1"/>
          </p:cNvSpPr>
          <p:nvPr/>
        </p:nvSpPr>
        <p:spPr>
          <a:xfrm>
            <a:off x="4095750" y="1619250"/>
            <a:ext cx="2800350" cy="1371600"/>
          </a:xfrm>
          <a:prstGeom prst="roundRect">
            <a:avLst>
              <a:gd name="adj" fmla="val 8333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0" name="sched-1-title"/>
          <p:cNvSpPr>
            <a:spLocks noGrp="1"/>
          </p:cNvSpPr>
          <p:nvPr/>
        </p:nvSpPr>
        <p:spPr>
          <a:xfrm>
            <a:off x="4210050" y="1714500"/>
            <a:ext cx="2571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FairFileScheduler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1" name="sched-1-detail"/>
          <p:cNvSpPr>
            <a:spLocks noGrp="1"/>
          </p:cNvSpPr>
          <p:nvPr/>
        </p:nvSpPr>
        <p:spPr>
          <a:xfrm>
            <a:off x="4210050" y="20193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bounded Channel&lt;FileIngestionState&gt;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MaxConcurrentFiles consumers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ched-2"/>
          <p:cNvSpPr>
            <a:spLocks noGrp="1"/>
          </p:cNvSpPr>
          <p:nvPr/>
        </p:nvSpPr>
        <p:spPr>
          <a:xfrm>
            <a:off x="7791450" y="1619250"/>
            <a:ext cx="2800350" cy="1371600"/>
          </a:xfrm>
          <a:prstGeom prst="roundRect">
            <a:avLst>
              <a:gd name="adj" fmla="val 8333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3" name="sched-2-title"/>
          <p:cNvSpPr>
            <a:spLocks noGrp="1"/>
          </p:cNvSpPr>
          <p:nvPr/>
        </p:nvSpPr>
        <p:spPr>
          <a:xfrm>
            <a:off x="7905750" y="1714500"/>
            <a:ext cx="2571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ConsumeAsync()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4" name="sched-2-detail"/>
          <p:cNvSpPr>
            <a:spLocks noGrp="1"/>
          </p:cNvSpPr>
          <p:nvPr/>
        </p:nvSpPr>
        <p:spPr>
          <a:xfrm>
            <a:off x="7905750" y="20193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FileTurnProcessor.ProcessAsync()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ApplyResultStatus()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ched-loop"/>
          <p:cNvSpPr>
            <a:spLocks noGrp="1"/>
          </p:cNvSpPr>
          <p:nvPr/>
        </p:nvSpPr>
        <p:spPr>
          <a:xfrm>
            <a:off x="5391150" y="3219450"/>
            <a:ext cx="266700" cy="552450"/>
          </a:xfrm>
          <a:prstGeom prst="downArrow">
            <a:avLst/>
          </a:prstGeom>
          <a:solidFill>
            <a:srgbClr val="5B45B6"/>
          </a:solidFill>
          <a:ln w="0">
            <a:noFill/>
            <a:prstDash val="solid"/>
          </a:ln>
        </p:spPr>
      </p:sp>
      <p:sp>
        <p:nvSpPr>
          <p:cNvPr id="16" name="sched-fix"/>
          <p:cNvSpPr>
            <a:spLocks noGrp="1"/>
          </p:cNvSpPr>
          <p:nvPr/>
        </p:nvSpPr>
        <p:spPr>
          <a:xfrm>
            <a:off x="400050" y="3733800"/>
            <a:ext cx="6172200" cy="1581150"/>
          </a:xfrm>
          <a:prstGeom prst="roundRect">
            <a:avLst>
              <a:gd name="adj" fmla="val 7229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sched-fix-title"/>
          <p:cNvSpPr>
            <a:spLocks noGrp="1"/>
          </p:cNvSpPr>
          <p:nvPr/>
        </p:nvSpPr>
        <p:spPr>
          <a:xfrm>
            <a:off x="628650" y="392430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Đã xử lý deadlock queue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sched-fix-detail"/>
          <p:cNvSpPr>
            <a:spLocks noGrp="1"/>
          </p:cNvSpPr>
          <p:nvPr/>
        </p:nvSpPr>
        <p:spPr>
          <a:xfrm>
            <a:off x="628650" y="4305300"/>
            <a:ext cx="561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20 files • 4 consumers • capacity 16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Requeue nội bộ dùng Channel.Writer.TryWrite().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Nếu queue đầy: clear schedule request; poll pass kế tiếp sẽ schedule lại.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ched-recovery"/>
          <p:cNvSpPr>
            <a:spLocks noGrp="1"/>
          </p:cNvSpPr>
          <p:nvPr/>
        </p:nvSpPr>
        <p:spPr>
          <a:xfrm>
            <a:off x="6934200" y="3733800"/>
            <a:ext cx="4838700" cy="1581150"/>
          </a:xfrm>
          <a:prstGeom prst="roundRect">
            <a:avLst>
              <a:gd name="adj" fmla="val 7229"/>
            </a:avLst>
          </a:prstGeom>
          <a:solidFill>
            <a:srgbClr val="FFF0D8"/>
          </a:solidFill>
          <a:ln w="9525">
            <a:solidFill>
              <a:srgbClr val="E7A63B"/>
            </a:solidFill>
            <a:prstDash val="solid"/>
          </a:ln>
        </p:spPr>
      </p:sp>
      <p:sp>
        <p:nvSpPr>
          <p:cNvPr id="20" name="sched-recovery-title"/>
          <p:cNvSpPr>
            <a:spLocks noGrp="1"/>
          </p:cNvSpPr>
          <p:nvPr/>
        </p:nvSpPr>
        <p:spPr>
          <a:xfrm>
            <a:off x="7143750" y="39243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Crash / restart recovery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1" name="sched-recovery-detail"/>
          <p:cNvSpPr>
            <a:spLocks noGrp="1"/>
          </p:cNvSpPr>
          <p:nvPr/>
        </p:nvSpPr>
        <p:spPr>
          <a:xfrm>
            <a:off x="7143750" y="4305300"/>
            <a:ext cx="4419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Queue là in-memory nên mất khi process chết.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Raw file + Mongo checkpoint là source of truth.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200" b="0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A4A"/>
                </a:solidFill>
                <a:latin typeface="Aptos"/>
                <a:ea typeface="Aptos"/>
                <a:cs typeface="Aptos"/>
              </a:rPr>
              <a:t>Persist chưa commit → restart đọc lại an toàn.</a:t>
            </a:r>
            <a:endParaRPr sz="1200" b="0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GracefulShutdownCoordinator dừng polling mới, chờ consumer trong shutdown timeout và chỉ giữ checkpoint đã xác nhận.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Observability và test evidence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Metrics, scopes, health state và test suites cùng nhìn vào một pipeline.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09/10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obs-telemetry"/>
          <p:cNvSpPr>
            <a:spLocks noGrp="1"/>
          </p:cNvSpPr>
          <p:nvPr/>
        </p:nvSpPr>
        <p:spPr>
          <a:xfrm>
            <a:off x="400050" y="1714500"/>
            <a:ext cx="3371850" cy="2781300"/>
          </a:xfrm>
          <a:prstGeom prst="roundRect">
            <a:avLst>
              <a:gd name="adj" fmla="val 4110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5" name="obs-telemetry-title"/>
          <p:cNvSpPr>
            <a:spLocks noGrp="1"/>
          </p:cNvSpPr>
          <p:nvPr/>
        </p:nvSpPr>
        <p:spPr>
          <a:xfrm>
            <a:off x="514350" y="18097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IngestionMetrics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obs-telemetry-detail"/>
          <p:cNvSpPr>
            <a:spLocks noGrp="1"/>
          </p:cNvSpPr>
          <p:nvPr/>
        </p:nvSpPr>
        <p:spPr>
          <a:xfrm>
            <a:off x="514350" y="2114550"/>
            <a:ext cx="31432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RecordFilesDiscovered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RecordBytesRead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RecordRecordsFramed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RecordParseResult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RecordCheckpointAdvance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RecordMongoRetry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RecordProgress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obs-logging"/>
          <p:cNvSpPr>
            <a:spLocks noGrp="1"/>
          </p:cNvSpPr>
          <p:nvPr/>
        </p:nvSpPr>
        <p:spPr>
          <a:xfrm>
            <a:off x="4410075" y="1714500"/>
            <a:ext cx="3371850" cy="2781300"/>
          </a:xfrm>
          <a:prstGeom prst="roundRect">
            <a:avLst>
              <a:gd name="adj" fmla="val 4110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obs-logging-title"/>
          <p:cNvSpPr>
            <a:spLocks noGrp="1"/>
          </p:cNvSpPr>
          <p:nvPr/>
        </p:nvSpPr>
        <p:spPr>
          <a:xfrm>
            <a:off x="4524375" y="1809750"/>
            <a:ext cx="3143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Structured logging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obs-logging-detail"/>
          <p:cNvSpPr>
            <a:spLocks noGrp="1"/>
          </p:cNvSpPr>
          <p:nvPr/>
        </p:nvSpPr>
        <p:spPr>
          <a:xfrm>
            <a:off x="4524375" y="2114550"/>
            <a:ext cx="31432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LoggingScopes.BeginFileScope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WorkerId • SourceId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FolderDate • FileId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RelativePath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OffsetStart / OffsetEnd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Debug khi state thay đổi;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trace cho idle polling.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obs-health"/>
          <p:cNvSpPr>
            <a:spLocks noGrp="1"/>
          </p:cNvSpPr>
          <p:nvPr/>
        </p:nvSpPr>
        <p:spPr>
          <a:xfrm>
            <a:off x="8420100" y="1714500"/>
            <a:ext cx="3352800" cy="2781300"/>
          </a:xfrm>
          <a:prstGeom prst="roundRect">
            <a:avLst>
              <a:gd name="adj" fmla="val 4110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obs-health-title"/>
          <p:cNvSpPr>
            <a:spLocks noGrp="1"/>
          </p:cNvSpPr>
          <p:nvPr/>
        </p:nvSpPr>
        <p:spPr>
          <a:xfrm>
            <a:off x="8534400" y="1809750"/>
            <a:ext cx="3124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Health checks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obs-health-detail"/>
          <p:cNvSpPr>
            <a:spLocks noGrp="1"/>
          </p:cNvSpPr>
          <p:nvPr/>
        </p:nvSpPr>
        <p:spPr>
          <a:xfrm>
            <a:off x="8534400" y="2114550"/>
            <a:ext cx="31242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MongoDbHealthCheck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SourcePathHealthCheck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IngestionProgressHealthCheck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IngestionHealthState: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live / stopped / degraded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endParaRPr sz="1050"/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Chưa expose HTTP endpoint.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st-evidence"/>
          <p:cNvSpPr>
            <a:spLocks noGrp="1"/>
          </p:cNvSpPr>
          <p:nvPr/>
        </p:nvSpPr>
        <p:spPr>
          <a:xfrm>
            <a:off x="400050" y="4914900"/>
            <a:ext cx="11372850" cy="1009650"/>
          </a:xfrm>
          <a:prstGeom prst="roundRect">
            <a:avLst>
              <a:gd name="adj" fmla="val 11321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test-num-0"/>
          <p:cNvSpPr>
            <a:spLocks noGrp="1"/>
          </p:cNvSpPr>
          <p:nvPr/>
        </p:nvSpPr>
        <p:spPr>
          <a:xfrm>
            <a:off x="685800" y="504825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42</a:t>
            </a:r>
            <a:endParaRPr sz="2100" b="1">
              <a:solidFill>
                <a:srgbClr val="5B45B6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test-label-0"/>
          <p:cNvSpPr>
            <a:spLocks noGrp="1"/>
          </p:cNvSpPr>
          <p:nvPr/>
        </p:nvSpPr>
        <p:spPr>
          <a:xfrm>
            <a:off x="1428750" y="51149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A4A"/>
                </a:solidFill>
                <a:latin typeface="Aptos"/>
                <a:ea typeface="Aptos"/>
                <a:cs typeface="Aptos"/>
              </a:rPr>
              <a:t>Unit</a:t>
            </a:r>
            <a:endParaRPr sz="1350" b="1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st-num-1"/>
          <p:cNvSpPr>
            <a:spLocks noGrp="1"/>
          </p:cNvSpPr>
          <p:nvPr/>
        </p:nvSpPr>
        <p:spPr>
          <a:xfrm>
            <a:off x="3486150" y="504825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3</a:t>
            </a:r>
            <a:endParaRPr sz="2100" b="1">
              <a:solidFill>
                <a:srgbClr val="5B45B6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7" name="test-label-1"/>
          <p:cNvSpPr>
            <a:spLocks noGrp="1"/>
          </p:cNvSpPr>
          <p:nvPr/>
        </p:nvSpPr>
        <p:spPr>
          <a:xfrm>
            <a:off x="4229100" y="51149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A4A"/>
                </a:solidFill>
                <a:latin typeface="Aptos"/>
                <a:ea typeface="Aptos"/>
                <a:cs typeface="Aptos"/>
              </a:rPr>
              <a:t>Integration</a:t>
            </a:r>
            <a:endParaRPr sz="1350" b="1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st-num-2"/>
          <p:cNvSpPr>
            <a:spLocks noGrp="1"/>
          </p:cNvSpPr>
          <p:nvPr/>
        </p:nvSpPr>
        <p:spPr>
          <a:xfrm>
            <a:off x="6286500" y="504825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100" b="1">
                <a:solidFill>
                  <a:srgbClr val="5B45B6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1</a:t>
            </a:r>
            <a:endParaRPr sz="2100" b="1">
              <a:solidFill>
                <a:srgbClr val="5B45B6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9" name="test-label-2"/>
          <p:cNvSpPr>
            <a:spLocks noGrp="1"/>
          </p:cNvSpPr>
          <p:nvPr/>
        </p:nvSpPr>
        <p:spPr>
          <a:xfrm>
            <a:off x="7029450" y="511492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B2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A4A"/>
                </a:solidFill>
                <a:latin typeface="Aptos"/>
                <a:ea typeface="Aptos"/>
                <a:cs typeface="Aptos"/>
              </a:rPr>
              <a:t>Architecture</a:t>
            </a:r>
            <a:endParaRPr sz="1350" b="1">
              <a:solidFill>
                <a:srgbClr val="2B2A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st-note"/>
          <p:cNvSpPr>
            <a:spLocks noGrp="1"/>
          </p:cNvSpPr>
          <p:nvPr/>
        </p:nvSpPr>
        <p:spPr>
          <a:xfrm>
            <a:off x="8763000" y="51149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Latest local verification recorded in the current-codebase handoff; live production/UAT is a separate evidence boundary.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Không log secret; startup summary chỉ log MongoConnectionStringConfigured=true/false.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lide-title"/>
          <p:cNvSpPr>
            <a:spLocks noGrp="1"/>
          </p:cNvSpPr>
          <p:nvPr/>
        </p:nvSpPr>
        <p:spPr>
          <a:xfrm>
            <a:off x="495300" y="2095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7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Mở rộng đúng boundary</a:t>
            </a:r>
            <a:endParaRPr sz="27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2" name="slide-subtitle"/>
          <p:cNvSpPr>
            <a:spLocks noGrp="1"/>
          </p:cNvSpPr>
          <p:nvPr/>
        </p:nvSpPr>
        <p:spPr>
          <a:xfrm>
            <a:off x="514350" y="7334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Bốn điểm mở rộng chính đã có interface/adapter boundary; các giới hạn hiện tại cần được nói rõ.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lide-version"/>
          <p:cNvSpPr>
            <a:spLocks noGrp="1"/>
          </p:cNvSpPr>
          <p:nvPr/>
        </p:nvSpPr>
        <p:spPr>
          <a:xfrm>
            <a:off x="10287000" y="314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1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B78"/>
                </a:solidFill>
                <a:latin typeface="Aptos"/>
                <a:ea typeface="Aptos"/>
                <a:cs typeface="Aptos"/>
              </a:rPr>
              <a:t>FLOW • 10/10</a:t>
            </a:r>
            <a:endParaRPr sz="975" b="1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ext-0"/>
          <p:cNvSpPr>
            <a:spLocks noGrp="1"/>
          </p:cNvSpPr>
          <p:nvPr/>
        </p:nvSpPr>
        <p:spPr>
          <a:xfrm>
            <a:off x="400050" y="161925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F1ECFA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5" name="ext-0-title"/>
          <p:cNvSpPr>
            <a:spLocks noGrp="1"/>
          </p:cNvSpPr>
          <p:nvPr/>
        </p:nvSpPr>
        <p:spPr>
          <a:xfrm>
            <a:off x="514350" y="1714500"/>
            <a:ext cx="516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Thêm source mode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6" name="ext-0-detail"/>
          <p:cNvSpPr>
            <a:spLocks noGrp="1"/>
          </p:cNvSpPr>
          <p:nvPr/>
        </p:nvSpPr>
        <p:spPr>
          <a:xfrm>
            <a:off x="514350" y="2019300"/>
            <a:ext cx="5162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RfidRawLogOptions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IRawLogSourceFileDiscovery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IRawLogSourceTailReader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đăng ký adapter trong ServiceCollectionExtensions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ext-1"/>
          <p:cNvSpPr>
            <a:spLocks noGrp="1"/>
          </p:cNvSpPr>
          <p:nvPr/>
        </p:nvSpPr>
        <p:spPr>
          <a:xfrm>
            <a:off x="6172200" y="161925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E6F5F2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8" name="ext-1-title"/>
          <p:cNvSpPr>
            <a:spLocks noGrp="1"/>
          </p:cNvSpPr>
          <p:nvPr/>
        </p:nvSpPr>
        <p:spPr>
          <a:xfrm>
            <a:off x="6286500" y="1714500"/>
            <a:ext cx="516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Thêm block / mapping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9" name="ext-1-detail"/>
          <p:cNvSpPr>
            <a:spLocks noGrp="1"/>
          </p:cNvSpPr>
          <p:nvPr/>
        </p:nvSpPr>
        <p:spPr>
          <a:xfrm>
            <a:off x="6286500" y="2019300"/>
            <a:ext cx="5162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BlockTokenizer / RfidRawRecordParser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ParsedRfidRawRecord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CanonicalDeviceEventMapper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parser tests + golden fixture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ext-2"/>
          <p:cNvSpPr>
            <a:spLocks noGrp="1"/>
          </p:cNvSpPr>
          <p:nvPr/>
        </p:nvSpPr>
        <p:spPr>
          <a:xfrm>
            <a:off x="400050" y="314325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FFF0D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ext-2-title"/>
          <p:cNvSpPr>
            <a:spLocks noGrp="1"/>
          </p:cNvSpPr>
          <p:nvPr/>
        </p:nvSpPr>
        <p:spPr>
          <a:xfrm>
            <a:off x="514350" y="3238500"/>
            <a:ext cx="516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Thêm database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2" name="ext-2-detail"/>
          <p:cNvSpPr>
            <a:spLocks noGrp="1"/>
          </p:cNvSpPr>
          <p:nvPr/>
        </p:nvSpPr>
        <p:spPr>
          <a:xfrm>
            <a:off x="514350" y="3543300"/>
            <a:ext cx="5162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Application persistence interface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Infrastructure store + mapper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index initializer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không đưa BSON vào Domain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ext-3"/>
          <p:cNvSpPr>
            <a:spLocks noGrp="1"/>
          </p:cNvSpPr>
          <p:nvPr/>
        </p:nvSpPr>
        <p:spPr>
          <a:xfrm>
            <a:off x="6172200" y="314325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E7ECF4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4" name="ext-3-title"/>
          <p:cNvSpPr>
            <a:spLocks noGrp="1"/>
          </p:cNvSpPr>
          <p:nvPr/>
        </p:nvSpPr>
        <p:spPr>
          <a:xfrm>
            <a:off x="6286500" y="3238500"/>
            <a:ext cx="5162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50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Đổi orchestration</a:t>
            </a:r>
            <a:endParaRPr sz="150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5" name="ext-3-detail"/>
          <p:cNvSpPr>
            <a:spLocks noGrp="1"/>
          </p:cNvSpPr>
          <p:nvPr/>
        </p:nvSpPr>
        <p:spPr>
          <a:xfrm>
            <a:off x="6286500" y="3543300"/>
            <a:ext cx="5162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FileTurnProcessor / FairFileScheduler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FileRegistry / GracefulShutdownCoordinator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phải giữ write → checkpoint invariant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limits"/>
          <p:cNvSpPr>
            <a:spLocks noGrp="1"/>
          </p:cNvSpPr>
          <p:nvPr/>
        </p:nvSpPr>
        <p:spPr>
          <a:xfrm>
            <a:off x="400050" y="4895850"/>
            <a:ext cx="11372850" cy="1066800"/>
          </a:xfrm>
          <a:prstGeom prst="roundRect">
            <a:avLst>
              <a:gd name="adj" fmla="val 10714"/>
            </a:avLst>
          </a:prstGeom>
          <a:solidFill>
            <a:srgbClr val="F3EFE8"/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7" name="limits-title"/>
          <p:cNvSpPr>
            <a:spLocks noGrp="1"/>
          </p:cNvSpPr>
          <p:nvPr/>
        </p:nvSpPr>
        <p:spPr>
          <a:xfrm>
            <a:off x="628650" y="50673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1650" b="1">
                <a:solidFill>
                  <a:srgbClr val="2B2A4A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Giới hạn cần nhớ</a:t>
            </a:r>
            <a:endParaRPr sz="1650" b="1">
              <a:solidFill>
                <a:srgbClr val="2B2A4A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18" name="limits-detail"/>
          <p:cNvSpPr>
            <a:spLocks noGrp="1"/>
          </p:cNvSpPr>
          <p:nvPr/>
        </p:nvSpPr>
        <p:spPr>
          <a:xfrm>
            <a:off x="3009900" y="5114925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Registry in-memory/no eviction  •  no durable queue  •  no HTTP health endpoint  •  no multi-worker lease  •  LookbackDays không phải archive backfill</a:t>
            </a:r>
            <a:endParaRPr sz="120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footer-note"/>
          <p:cNvSpPr>
            <a:spLocks noGrp="1"/>
          </p:cNvSpPr>
          <p:nvPr/>
        </p:nvSpPr>
        <p:spPr>
          <a:xfrm>
            <a:off x="495300" y="6457950"/>
            <a:ext cx="1120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F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B78"/>
                </a:solidFill>
                <a:latin typeface="Aptos"/>
                <a:ea typeface="Aptos"/>
                <a:cs typeface="Aptos"/>
              </a:rPr>
              <a:t>Đọc Current-Codebase.md trước khi sửa; cập nhật contract docs nếu thay đổi processing semantics hoặc document shape.</a:t>
            </a:r>
            <a:endParaRPr sz="1050" b="0">
              <a:solidFill>
                <a:srgbClr val="6F6B7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7977</Words>
  <Application>WPS Presentation</Application>
  <PresentationFormat>Converted Presentation</PresentationFormat>
  <Paragraphs>449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Georgia</vt:lpstr>
      <vt:lpstr>Aptos</vt:lpstr>
      <vt:lpstr>Segoe UI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taduc</cp:lastModifiedBy>
  <cp:revision>2</cp:revision>
  <dcterms:created xsi:type="dcterms:W3CDTF">2026-08-26T04:05:59Z</dcterms:created>
  <dcterms:modified xsi:type="dcterms:W3CDTF">2026-08-26T04:07:13Z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A8C30265020E45A088A7881DC87D7CFF_12</vt:lpwstr>
  </property>
  <property fmtid="{D5CDD505-2E9C-101B-9397-08002B2CF9AE}" pid="3" name="KSOProductBuildVer">
    <vt:lpwstr>1033-12.1.0.28032</vt:lpwstr>
  </property>
</Properties>
</file>