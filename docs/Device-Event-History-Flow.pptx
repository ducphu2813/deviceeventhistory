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ea9c3a5413248a3" /><Relationship Type="http://schemas.openxmlformats.org/officeDocument/2006/relationships/extended-properties" Target="/docProps/app.xml" Id="Rd21e61d20546434c" /><Relationship Type="http://schemas.openxmlformats.org/officeDocument/2006/relationships/officeDocument" Target="/ppt/presentation.xml" Id="Ra36494bb8a1c4d4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e2ed934fdb94b0a"/>
  </p:sldMasterIdLst>
  <p:notesMasterIdLst>
    <p:notesMasterId xmlns:r="http://schemas.openxmlformats.org/officeDocument/2006/relationships" r:id="R6853b88fe794406e"/>
  </p:notesMasterIdLst>
  <p:sldIdLst>
    <p:sldId xmlns:r="http://schemas.openxmlformats.org/officeDocument/2006/relationships" id="256" r:id="R176e53d9a41d446d"/>
    <p:sldId xmlns:r="http://schemas.openxmlformats.org/officeDocument/2006/relationships" id="257" r:id="R83abff91e9d9458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fe459bb47e24043" /><Relationship Type="http://schemas.openxmlformats.org/officeDocument/2006/relationships/slideMaster" Target="/ppt/slideMasters/slideMaster1.xml" Id="R6e2ed934fdb94b0a" /><Relationship Type="http://schemas.openxmlformats.org/officeDocument/2006/relationships/notesMaster" Target="/ppt/notesMasters/notesMaster1.xml" Id="R6853b88fe794406e" /><Relationship Type="http://schemas.openxmlformats.org/officeDocument/2006/relationships/presProps" Target="/ppt/presProps.xml" Id="R4783db0117f8495a" /><Relationship Type="http://schemas.openxmlformats.org/officeDocument/2006/relationships/tableStyles" Target="/ppt/tableStyles.xml" Id="R966a2535b9194194" /><Relationship Type="http://schemas.openxmlformats.org/officeDocument/2006/relationships/slide" Target="/ppt/slides/slide1.xml" Id="R176e53d9a41d446d" /><Relationship Type="http://schemas.openxmlformats.org/officeDocument/2006/relationships/slide" Target="/ppt/slides/slide2.xml" Id="R83abff91e9d945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8a3963e1bd144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889199e4ef4ce5" /><Relationship Type="http://schemas.openxmlformats.org/officeDocument/2006/relationships/notesMaster" Target="/ppt/notesMasters/notesMaster1.xml" Id="R48e6cc90458844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175cf6c0e44387" /><Relationship Type="http://schemas.openxmlformats.org/officeDocument/2006/relationships/notesMaster" Target="/ppt/notesMasters/notesMaster1.xml" Id="R5bc3bf770f4848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D:/texpo/server-phan-tich/docs/Understanding-Write-Read-Flow.md</a:t>
            </a:r>
          </a:p>
          <a:p xmlns:a="http://schemas.openxmlformats.org/drawingml/2006/main">
            <a:r>
              <a:t>- D:/texpo/rfid-monitoring/device-event-history/docs/2026-08-22-Db-Schema.md</a:t>
            </a:r>
          </a:p>
          <a:p xmlns:a="http://schemas.openxmlformats.org/drawingml/2006/main">
            <a:r>
              <a:t>- D:/texpo/server-phan-tich/G-ERP source inspection: RFID.Antenna raw-log flow and File_{FileId}.txt writer</a:t>
            </a:r>
          </a:p>
          <a:p xmlns:a="http://schemas.openxmlformats.org/drawingml/2006/main">
            <a:r>
              <a:t>- Visual direction: user-provided reference image in C:/Users/taduc/AppData/Local/Temp/codex-clipboard-8bb04192-0cd5-4c85-be33-96a24bcaa7a5.png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Scope: static architecture depiction. Live device, production file and MongoDB runtime validation were not performed.</a:t>
            </a:r>
          </a:p>
          <a:p xmlns:a="http://schemas.openxmlformats.org/drawingml/2006/main">
            <a:r>
              <a:t>
[Style update]
- Font: Georgia for headings; Aptos for supporting text.
- Palette: warm ivory, indigo, violet, coral, amber and teal.
[/Style update]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D:/texpo/server-phan-tich/G-ERP/Texpo.Stw/Texpo.Stw.RFID.Antenna/AntennaCenter.Start.SignalRClientPlay.cs</a:t>
            </a:r>
          </a:p>
          <a:p xmlns:a="http://schemas.openxmlformats.org/drawingml/2006/main">
            <a:r>
              <a:t>- D:/texpo/server-phan-tich/G-ERP/Texpo.Stw/Texpo.Stw.RFID.Antenna/AntennaCenter.Start.SignalRQueuePlay.cs</a:t>
            </a:r>
          </a:p>
          <a:p xmlns:a="http://schemas.openxmlformats.org/drawingml/2006/main">
            <a:r>
              <a:t>- D:/texpo/server-phan-tich/G-ERP/Texpo.Stw/Texpo.Stw.RFID.Antenna/Reader.cs</a:t>
            </a:r>
          </a:p>
          <a:p xmlns:a="http://schemas.openxmlformats.org/drawingml/2006/main">
            <a:r>
              <a:t>- D:/texpo/server-phan-tich/G-ERP/Texpo.Stw/Texpo.Stw.RFID.Analytics/AnalyticCenter.Start.SignalRClientPlay.cs</a:t>
            </a:r>
          </a:p>
          <a:p xmlns:a="http://schemas.openxmlformats.org/drawingml/2006/main">
            <a:r>
              <a:t>- D:/texpo/server-phan-tich/G-ERP/Texpo.Stw/Texpo.Stw.RFID.Analytics/AnalyticCenter.Worker.AQueue.PushItem.cs</a:t>
            </a:r>
          </a:p>
          <a:p xmlns:a="http://schemas.openxmlformats.org/drawingml/2006/main">
            <a:r>
              <a:t>- AppHub Monitoring contract from the read-only ERP SignalR audit: classic SignalR 2.4.3, Monitoring group and receive* callbacks.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Scope: static source flow. A successful SignalR connection does not prove live event delivery; payloads and callback delivery should be validated in the target environment.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115d6f3240412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5a205612f9248ae" /><Relationship Type="http://schemas.openxmlformats.org/officeDocument/2006/relationships/slideLayout" Target="/ppt/slideLayouts/slideLayout1.xml" Id="R471aaffab9a94a6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71aaffab9a94a6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67dbb5c2974cbe" /><Relationship Type="http://schemas.openxmlformats.org/officeDocument/2006/relationships/notesSlide" Target="/ppt/notesSlides/notesSlide1.xml" Id="R992941bfdd9345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64ccc795204c4e" /><Relationship Type="http://schemas.openxmlformats.org/officeDocument/2006/relationships/notesSlide" Target="/ppt/notesSlides/notesSlide2.xml" Id="R95f60e6da01b4da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4A521F-A0BD-401F-B67B-E134F195F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758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23B34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2B2A4A"/>
                </a:solidFill>
                <a:latin typeface="Georgia"/>
                <a:ea typeface="Georgia"/>
                <a:cs typeface="Georgia"/>
              </a:rPr>
              <a:t>Luồng dữ liệu từ thiết bị RFID đến MongoDB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144BE94-8EF2-4DA3-A9FE-F67652EB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70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F6B78"/>
                </a:solidFill>
                <a:latin typeface="Aptos"/>
                <a:ea typeface="Aptos"/>
                <a:cs typeface="Aptos"/>
              </a:rPr>
              <a:t>Nhận dữ liệu → ghi raw-log → Worker giải mã → lưu lịch sử và trạng thái có thể truy vấn</a:t>
            </a:r>
          </a:p>
        </p:txBody>
      </p:sp>
      <p:sp>
        <p:nvSpPr>
          <p:cNvPr id="3" name="slide-version">
            <a:extLst xmlns:a="http://schemas.openxmlformats.org/drawingml/2006/main">
              <a:ext uri="{FF2B5EF4-FFF2-40B4-BE49-F238E27FC236}">
                <a16:creationId xmlns:a16="http://schemas.microsoft.com/office/drawing/2014/main" id="{75969B1C-8141-47A1-9E10-47B02013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619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5706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F6B78"/>
                </a:solidFill>
                <a:latin typeface="Aptos"/>
                <a:ea typeface="Aptos"/>
                <a:cs typeface="Aptos"/>
              </a:rPr>
              <a:t>V1 • proposed architecture</a:t>
            </a:r>
          </a:p>
        </p:txBody>
      </p:sp>
      <p:sp>
        <p:nvSpPr>
          <p:cNvPr id="4" name="arrow-device-to-antenna">
            <a:extLst xmlns:a="http://schemas.openxmlformats.org/drawingml/2006/main">
              <a:ext uri="{FF2B5EF4-FFF2-40B4-BE49-F238E27FC236}">
                <a16:creationId xmlns:a16="http://schemas.microsoft.com/office/drawing/2014/main" id="{0B36175A-BF07-4252-9A78-4029B3A86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771775"/>
            <a:ext cx="4572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B2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arrow-antenna-to-worker">
            <a:extLst xmlns:a="http://schemas.openxmlformats.org/drawingml/2006/main">
              <a:ext uri="{FF2B5EF4-FFF2-40B4-BE49-F238E27FC236}">
                <a16:creationId xmlns:a16="http://schemas.microsoft.com/office/drawing/2014/main" id="{2562E6AD-309C-43E4-997F-31B2D3EF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771775"/>
            <a:ext cx="4572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B2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rrow-worker-to-mongodb">
            <a:extLst xmlns:a="http://schemas.openxmlformats.org/drawingml/2006/main">
              <a:ext uri="{FF2B5EF4-FFF2-40B4-BE49-F238E27FC236}">
                <a16:creationId xmlns:a16="http://schemas.microsoft.com/office/drawing/2014/main" id="{A94C5A14-D038-4F10-8E3E-99980BBC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71775"/>
            <a:ext cx="4572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B2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evice-source">
            <a:extLst xmlns:a="http://schemas.openxmlformats.org/drawingml/2006/main">
              <a:ext uri="{FF2B5EF4-FFF2-40B4-BE49-F238E27FC236}">
                <a16:creationId xmlns:a16="http://schemas.microsoft.com/office/drawing/2014/main" id="{983308EC-2B66-4A77-A387-7D1B4915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1981200" cy="16002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2B2A4A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device-source-title">
            <a:extLst xmlns:a="http://schemas.openxmlformats.org/drawingml/2006/main">
              <a:ext uri="{FF2B5EF4-FFF2-40B4-BE49-F238E27FC236}">
                <a16:creationId xmlns:a16="http://schemas.microsoft.com/office/drawing/2014/main" id="{F25D906E-C30B-43F7-AF47-89767304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560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Thiết bị vật lý</a:t>
            </a:r>
          </a:p>
        </p:txBody>
      </p:sp>
      <p:sp>
        <p:nvSpPr>
          <p:cNvPr id="9" name="device-source-subtitle">
            <a:extLst xmlns:a="http://schemas.openxmlformats.org/drawingml/2006/main">
              <a:ext uri="{FF2B5EF4-FFF2-40B4-BE49-F238E27FC236}">
                <a16:creationId xmlns:a16="http://schemas.microsoft.com/office/drawing/2014/main" id="{FFD031C8-A194-408B-ADD4-9B6F7FD1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167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CBE8D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4DCE7"/>
                </a:solidFill>
                <a:latin typeface="Aptos"/>
                <a:ea typeface="Aptos"/>
                <a:cs typeface="Aptos"/>
              </a:rPr>
              <a:t>RFID reader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CBE8D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4DCE7"/>
                </a:solidFill>
                <a:latin typeface="Aptos"/>
                <a:ea typeface="Aptos"/>
                <a:cs typeface="Aptos"/>
              </a:rPr>
              <a:t>Tag read • Connection • Sensor</a:t>
            </a:r>
          </a:p>
        </p:txBody>
      </p:sp>
      <p:sp>
        <p:nvSpPr>
          <p:cNvPr id="10" name="antenna-group">
            <a:extLst xmlns:a="http://schemas.openxmlformats.org/drawingml/2006/main">
              <a:ext uri="{FF2B5EF4-FFF2-40B4-BE49-F238E27FC236}">
                <a16:creationId xmlns:a16="http://schemas.microsoft.com/office/drawing/2014/main" id="{9A8547ED-F961-4906-B50F-7DFC734D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371600"/>
            <a:ext cx="2914650" cy="28956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3F0FA"/>
          </a:solidFill>
          <a:ln xmlns:a="http://schemas.openxmlformats.org/drawingml/2006/main" w="19050">
            <a:solidFill>
              <a:srgbClr val="7B68A3"/>
            </a:solidFill>
            <a:prstDash val="dash"/>
          </a:ln>
        </p:spPr>
      </p:sp>
      <p:sp>
        <p:nvSpPr>
          <p:cNvPr id="11" name="antenna-group-title">
            <a:extLst xmlns:a="http://schemas.openxmlformats.org/drawingml/2006/main">
              <a:ext uri="{FF2B5EF4-FFF2-40B4-BE49-F238E27FC236}">
                <a16:creationId xmlns:a16="http://schemas.microsoft.com/office/drawing/2014/main" id="{D3A96EB2-5EDB-45C3-9502-0E2D6078B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504950"/>
            <a:ext cx="2571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B6531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4C3D76"/>
                </a:solidFill>
                <a:latin typeface="Georgia"/>
                <a:ea typeface="Georgia"/>
                <a:cs typeface="Georgia"/>
              </a:rPr>
              <a:t>1. RFID.Antenna</a:t>
            </a:r>
          </a:p>
        </p:txBody>
      </p:sp>
      <p:sp>
        <p:nvSpPr>
          <p:cNvPr id="12" name="antenna-receive">
            <a:extLst xmlns:a="http://schemas.openxmlformats.org/drawingml/2006/main">
              <a:ext uri="{FF2B5EF4-FFF2-40B4-BE49-F238E27FC236}">
                <a16:creationId xmlns:a16="http://schemas.microsoft.com/office/drawing/2014/main" id="{323B0C32-8E80-419D-B32C-429A85B7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24050"/>
            <a:ext cx="24193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B46B5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antenna-receive-title">
            <a:extLst xmlns:a="http://schemas.openxmlformats.org/drawingml/2006/main">
              <a:ext uri="{FF2B5EF4-FFF2-40B4-BE49-F238E27FC236}">
                <a16:creationId xmlns:a16="http://schemas.microsoft.com/office/drawing/2014/main" id="{5DF52163-6250-46A4-932E-014762907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38350"/>
            <a:ext cx="22288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Nhận &amp; chuẩn hóa</a:t>
            </a:r>
          </a:p>
        </p:txBody>
      </p:sp>
      <p:sp>
        <p:nvSpPr>
          <p:cNvPr id="14" name="antenna-receive-subtitle">
            <a:extLst xmlns:a="http://schemas.openxmlformats.org/drawingml/2006/main">
              <a:ext uri="{FF2B5EF4-FFF2-40B4-BE49-F238E27FC236}">
                <a16:creationId xmlns:a16="http://schemas.microsoft.com/office/drawing/2014/main" id="{53D8FF6C-25FD-4703-B63E-FC686D72C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33625"/>
            <a:ext cx="2228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Reader.Receive • FileId • dedup</a:t>
            </a:r>
          </a:p>
        </p:txBody>
      </p:sp>
      <p:sp>
        <p:nvSpPr>
          <p:cNvPr id="15" name="antenna-write">
            <a:extLst xmlns:a="http://schemas.openxmlformats.org/drawingml/2006/main">
              <a:ext uri="{FF2B5EF4-FFF2-40B4-BE49-F238E27FC236}">
                <a16:creationId xmlns:a16="http://schemas.microsoft.com/office/drawing/2014/main" id="{93E1AAB5-39ED-4629-8C49-706A6DE3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57500"/>
            <a:ext cx="24193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D3628E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antenna-write-title">
            <a:extLst xmlns:a="http://schemas.openxmlformats.org/drawingml/2006/main">
              <a:ext uri="{FF2B5EF4-FFF2-40B4-BE49-F238E27FC236}">
                <a16:creationId xmlns:a16="http://schemas.microsoft.com/office/drawing/2014/main" id="{910585E6-37CE-49C9-A2A6-87D37846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971800"/>
            <a:ext cx="22288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Ghi raw-log</a:t>
            </a:r>
          </a:p>
        </p:txBody>
      </p:sp>
      <p:sp>
        <p:nvSpPr>
          <p:cNvPr id="17" name="antenna-write-subtitle">
            <a:extLst xmlns:a="http://schemas.openxmlformats.org/drawingml/2006/main">
              <a:ext uri="{FF2B5EF4-FFF2-40B4-BE49-F238E27FC236}">
                <a16:creationId xmlns:a16="http://schemas.microsoft.com/office/drawing/2014/main" id="{E2C0F2CA-A943-4C33-842A-DD17CBF3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67075"/>
            <a:ext cx="2228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File_{FileId}.txt • e(0)</a:t>
            </a:r>
          </a:p>
        </p:txBody>
      </p:sp>
      <p:sp>
        <p:nvSpPr>
          <p:cNvPr id="18" name="antenna-note">
            <a:extLst xmlns:a="http://schemas.openxmlformats.org/drawingml/2006/main">
              <a:ext uri="{FF2B5EF4-FFF2-40B4-BE49-F238E27FC236}">
                <a16:creationId xmlns:a16="http://schemas.microsoft.com/office/drawing/2014/main" id="{D37F09A0-AD11-4BDE-98FE-FCE55FE20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790950"/>
            <a:ext cx="24574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5570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F6B78"/>
                </a:solidFill>
                <a:latin typeface="Aptos"/>
                <a:ea typeface="Aptos"/>
                <a:cs typeface="Aptos"/>
              </a:rPr>
              <a:t>Raw data đã chuẩn hóa sơ bộ,</a:t>
            </a:r>
          </a:p>
          <a:p xmlns:a="http://schemas.openxmlformats.org/drawingml/2006/main">
            <a:pPr algn="ctr">
              <a:buNone/>
              <a:defRPr sz="975" b="0">
                <a:solidFill>
                  <a:srgbClr val="5570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F6B78"/>
                </a:solidFill>
                <a:latin typeface="Aptos"/>
                <a:ea typeface="Aptos"/>
                <a:cs typeface="Aptos"/>
              </a:rPr>
              <a:t>chưa qua logic nghiệp vụ</a:t>
            </a:r>
          </a:p>
        </p:txBody>
      </p:sp>
      <p:sp>
        <p:nvSpPr>
          <p:cNvPr id="19" name="worker-group">
            <a:extLst xmlns:a="http://schemas.openxmlformats.org/drawingml/2006/main">
              <a:ext uri="{FF2B5EF4-FFF2-40B4-BE49-F238E27FC236}">
                <a16:creationId xmlns:a16="http://schemas.microsoft.com/office/drawing/2014/main" id="{D66612C5-9CA2-469A-9102-E6C8B9E1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371600"/>
            <a:ext cx="2914650" cy="28956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3F0FA"/>
          </a:solidFill>
          <a:ln xmlns:a="http://schemas.openxmlformats.org/drawingml/2006/main" w="19050">
            <a:solidFill>
              <a:srgbClr val="7B68A3"/>
            </a:solidFill>
            <a:prstDash val="dash"/>
          </a:ln>
        </p:spPr>
      </p:sp>
      <p:sp>
        <p:nvSpPr>
          <p:cNvPr id="20" name="worker-group-title">
            <a:extLst xmlns:a="http://schemas.openxmlformats.org/drawingml/2006/main">
              <a:ext uri="{FF2B5EF4-FFF2-40B4-BE49-F238E27FC236}">
                <a16:creationId xmlns:a16="http://schemas.microsoft.com/office/drawing/2014/main" id="{7B10575F-C642-47A5-A419-00D7CD1C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504950"/>
            <a:ext cx="2609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B6531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4C3D76"/>
                </a:solidFill>
                <a:latin typeface="Georgia"/>
                <a:ea typeface="Georgia"/>
                <a:cs typeface="Georgia"/>
              </a:rPr>
              <a:t>2. Device Event Worker</a:t>
            </a:r>
          </a:p>
        </p:txBody>
      </p:sp>
      <p:sp>
        <p:nvSpPr>
          <p:cNvPr id="21" name="worker-parse">
            <a:extLst xmlns:a="http://schemas.openxmlformats.org/drawingml/2006/main">
              <a:ext uri="{FF2B5EF4-FFF2-40B4-BE49-F238E27FC236}">
                <a16:creationId xmlns:a16="http://schemas.microsoft.com/office/drawing/2014/main" id="{2EA46E88-E869-4604-AC41-D5CAE38A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24050"/>
            <a:ext cx="24193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E8C8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worker-parse-title">
            <a:extLst xmlns:a="http://schemas.openxmlformats.org/drawingml/2006/main">
              <a:ext uri="{FF2B5EF4-FFF2-40B4-BE49-F238E27FC236}">
                <a16:creationId xmlns:a16="http://schemas.microsoft.com/office/drawing/2014/main" id="{A5316982-FBCB-41AD-B505-2DF188E86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38350"/>
            <a:ext cx="22288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Đọc &amp; giải mã</a:t>
            </a:r>
          </a:p>
        </p:txBody>
      </p:sp>
      <p:sp>
        <p:nvSpPr>
          <p:cNvPr id="23" name="worker-parse-subtitle">
            <a:extLst xmlns:a="http://schemas.openxmlformats.org/drawingml/2006/main">
              <a:ext uri="{FF2B5EF4-FFF2-40B4-BE49-F238E27FC236}">
                <a16:creationId xmlns:a16="http://schemas.microsoft.com/office/drawing/2014/main" id="{ABBC676E-7799-4B58-BFAB-E5051C617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33625"/>
            <a:ext cx="2228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Record hoàn chỉnh • parser</a:t>
            </a:r>
          </a:p>
        </p:txBody>
      </p:sp>
      <p:sp>
        <p:nvSpPr>
          <p:cNvPr id="24" name="worker-safety">
            <a:extLst xmlns:a="http://schemas.openxmlformats.org/drawingml/2006/main">
              <a:ext uri="{FF2B5EF4-FFF2-40B4-BE49-F238E27FC236}">
                <a16:creationId xmlns:a16="http://schemas.microsoft.com/office/drawing/2014/main" id="{4CE5A15F-10E2-4CB3-96E2-949D89E8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57500"/>
            <a:ext cx="24193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9A23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worker-safety-title">
            <a:extLst xmlns:a="http://schemas.openxmlformats.org/drawingml/2006/main">
              <a:ext uri="{FF2B5EF4-FFF2-40B4-BE49-F238E27FC236}">
                <a16:creationId xmlns:a16="http://schemas.microsoft.com/office/drawing/2014/main" id="{AC9D09B3-C24C-4E1B-86B3-4D8B5D6F6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71800"/>
            <a:ext cx="22288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2B2A4A"/>
                </a:solidFill>
                <a:latin typeface="Georgia"/>
                <a:ea typeface="Georgia"/>
                <a:cs typeface="Georgia"/>
              </a:rPr>
              <a:t>Bảo đảm an toàn</a:t>
            </a:r>
          </a:p>
        </p:txBody>
      </p:sp>
      <p:sp>
        <p:nvSpPr>
          <p:cNvPr id="26" name="worker-safety-subtitle">
            <a:extLst xmlns:a="http://schemas.openxmlformats.org/drawingml/2006/main">
              <a:ext uri="{FF2B5EF4-FFF2-40B4-BE49-F238E27FC236}">
                <a16:creationId xmlns:a16="http://schemas.microsoft.com/office/drawing/2014/main" id="{494A1BF3-4C41-4515-A6C7-8852758C8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67075"/>
            <a:ext cx="2228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B2A4A"/>
                </a:solidFill>
                <a:latin typeface="Aptos"/>
                <a:ea typeface="Aptos"/>
                <a:cs typeface="Aptos"/>
              </a:rPr>
              <a:t>Checkpoint • idempotency • retry</a:t>
            </a:r>
          </a:p>
        </p:txBody>
      </p:sp>
      <p:sp>
        <p:nvSpPr>
          <p:cNvPr id="27" name="worker-note">
            <a:extLst xmlns:a="http://schemas.openxmlformats.org/drawingml/2006/main">
              <a:ext uri="{FF2B5EF4-FFF2-40B4-BE49-F238E27FC236}">
                <a16:creationId xmlns:a16="http://schemas.microsoft.com/office/drawing/2014/main" id="{9C8021FF-2A34-4BB5-A5F7-AAC72D640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790950"/>
            <a:ext cx="24574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5570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F6B78"/>
                </a:solidFill>
                <a:latin typeface="Aptos"/>
                <a:ea typeface="Aptos"/>
                <a:cs typeface="Aptos"/>
              </a:rPr>
              <a:t>Giữ raw payload + parsed facts;</a:t>
            </a:r>
          </a:p>
          <a:p xmlns:a="http://schemas.openxmlformats.org/drawingml/2006/main">
            <a:pPr algn="ctr">
              <a:buNone/>
              <a:defRPr sz="975" b="0">
                <a:solidFill>
                  <a:srgbClr val="5570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F6B78"/>
                </a:solidFill>
                <a:latin typeface="Aptos"/>
                <a:ea typeface="Aptos"/>
                <a:cs typeface="Aptos"/>
              </a:rPr>
              <a:t>đẩy lỗi sang ingestion_failures</a:t>
            </a:r>
          </a:p>
        </p:txBody>
      </p:sp>
      <p:sp>
        <p:nvSpPr>
          <p:cNvPr id="28" name="mongodb-group">
            <a:extLst xmlns:a="http://schemas.openxmlformats.org/drawingml/2006/main">
              <a:ext uri="{FF2B5EF4-FFF2-40B4-BE49-F238E27FC236}">
                <a16:creationId xmlns:a16="http://schemas.microsoft.com/office/drawing/2014/main" id="{DFD9EE4E-CA23-43F5-BE33-268E46930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371600"/>
            <a:ext cx="1885950" cy="2895600"/>
          </a:xfrm>
          <a:prstGeom xmlns:a="http://schemas.openxmlformats.org/drawingml/2006/main" prst="roundRect">
            <a:avLst>
              <a:gd name="adj" fmla="val 8081"/>
            </a:avLst>
          </a:prstGeom>
          <a:solidFill xmlns:a="http://schemas.openxmlformats.org/drawingml/2006/main">
            <a:srgbClr val="F2F1F8"/>
          </a:solidFill>
          <a:ln xmlns:a="http://schemas.openxmlformats.org/drawingml/2006/main" w="9525">
            <a:solidFill>
              <a:srgbClr val="BBB5CD"/>
            </a:solidFill>
            <a:prstDash val="solid"/>
          </a:ln>
        </p:spPr>
      </p:sp>
      <p:sp>
        <p:nvSpPr>
          <p:cNvPr id="29" name="mongodb-group-title">
            <a:extLst xmlns:a="http://schemas.openxmlformats.org/drawingml/2006/main">
              <a:ext uri="{FF2B5EF4-FFF2-40B4-BE49-F238E27FC236}">
                <a16:creationId xmlns:a16="http://schemas.microsoft.com/office/drawing/2014/main" id="{18C49779-B4EB-4EA3-AA08-6E5E5AEB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504950"/>
            <a:ext cx="16573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B6531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4C3D76"/>
                </a:solidFill>
                <a:latin typeface="Georgia"/>
                <a:ea typeface="Georgia"/>
                <a:cs typeface="Georgia"/>
              </a:rPr>
              <a:t>3. MongoDB</a:t>
            </a:r>
          </a:p>
        </p:txBody>
      </p:sp>
      <p:sp>
        <p:nvSpPr>
          <p:cNvPr id="30" name="mongodb-history">
            <a:extLst xmlns:a="http://schemas.openxmlformats.org/drawingml/2006/main">
              <a:ext uri="{FF2B5EF4-FFF2-40B4-BE49-F238E27FC236}">
                <a16:creationId xmlns:a16="http://schemas.microsoft.com/office/drawing/2014/main" id="{2FFA297F-B21C-4DBF-B000-F9A4D58C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1924050"/>
            <a:ext cx="1581150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5B46B5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mongodb-history-title">
            <a:extLst xmlns:a="http://schemas.openxmlformats.org/drawingml/2006/main">
              <a:ext uri="{FF2B5EF4-FFF2-40B4-BE49-F238E27FC236}">
                <a16:creationId xmlns:a16="http://schemas.microsoft.com/office/drawing/2014/main" id="{30133BC2-8A20-481E-8945-802295F9A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38350"/>
            <a:ext cx="1390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History</a:t>
            </a:r>
          </a:p>
        </p:txBody>
      </p:sp>
      <p:sp>
        <p:nvSpPr>
          <p:cNvPr id="32" name="mongodb-history-subtitle">
            <a:extLst xmlns:a="http://schemas.openxmlformats.org/drawingml/2006/main">
              <a:ext uri="{FF2B5EF4-FFF2-40B4-BE49-F238E27FC236}">
                <a16:creationId xmlns:a16="http://schemas.microsoft.com/office/drawing/2014/main" id="{C1BA4CAB-8816-4AE8-ABE0-EC8656EA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333625"/>
            <a:ext cx="13906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raw + facts</a:t>
            </a:r>
          </a:p>
        </p:txBody>
      </p:sp>
      <p:sp>
        <p:nvSpPr>
          <p:cNvPr id="33" name="mongodb-failures">
            <a:extLst xmlns:a="http://schemas.openxmlformats.org/drawingml/2006/main">
              <a:ext uri="{FF2B5EF4-FFF2-40B4-BE49-F238E27FC236}">
                <a16:creationId xmlns:a16="http://schemas.microsoft.com/office/drawing/2014/main" id="{41C57B60-3C71-482A-831A-1DCB212BD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686050"/>
            <a:ext cx="1581150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E36D5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4" name="mongodb-failures-title">
            <a:extLst xmlns:a="http://schemas.openxmlformats.org/drawingml/2006/main">
              <a:ext uri="{FF2B5EF4-FFF2-40B4-BE49-F238E27FC236}">
                <a16:creationId xmlns:a16="http://schemas.microsoft.com/office/drawing/2014/main" id="{11E30C63-AB13-41BB-93A4-35C8ACF2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800350"/>
            <a:ext cx="1390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23B34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2B2A4A"/>
                </a:solidFill>
                <a:latin typeface="Georgia"/>
                <a:ea typeface="Georgia"/>
                <a:cs typeface="Georgia"/>
              </a:rPr>
              <a:t>Failures</a:t>
            </a:r>
          </a:p>
        </p:txBody>
      </p:sp>
      <p:sp>
        <p:nvSpPr>
          <p:cNvPr id="35" name="mongodb-failures-subtitle">
            <a:extLst xmlns:a="http://schemas.openxmlformats.org/drawingml/2006/main">
              <a:ext uri="{FF2B5EF4-FFF2-40B4-BE49-F238E27FC236}">
                <a16:creationId xmlns:a16="http://schemas.microsoft.com/office/drawing/2014/main" id="{D3AD5443-E3AF-4DA7-99A5-D5E94C3E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095625"/>
            <a:ext cx="13906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23B3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B2A4A"/>
                </a:solidFill>
                <a:latin typeface="Aptos"/>
                <a:ea typeface="Aptos"/>
                <a:cs typeface="Aptos"/>
              </a:rPr>
              <a:t>trace lỗi</a:t>
            </a:r>
          </a:p>
        </p:txBody>
      </p:sp>
      <p:sp>
        <p:nvSpPr>
          <p:cNvPr id="36" name="mongodb-projections">
            <a:extLst xmlns:a="http://schemas.openxmlformats.org/drawingml/2006/main">
              <a:ext uri="{FF2B5EF4-FFF2-40B4-BE49-F238E27FC236}">
                <a16:creationId xmlns:a16="http://schemas.microsoft.com/office/drawing/2014/main" id="{10F8F144-FA31-4793-898A-591A9AF7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448050"/>
            <a:ext cx="1581150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E8C8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mongodb-projections-title">
            <a:extLst xmlns:a="http://schemas.openxmlformats.org/drawingml/2006/main">
              <a:ext uri="{FF2B5EF4-FFF2-40B4-BE49-F238E27FC236}">
                <a16:creationId xmlns:a16="http://schemas.microsoft.com/office/drawing/2014/main" id="{ED8D7F23-CCD2-47C9-9765-B00FB4B5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562350"/>
            <a:ext cx="1390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Projections</a:t>
            </a:r>
          </a:p>
        </p:txBody>
      </p:sp>
      <p:sp>
        <p:nvSpPr>
          <p:cNvPr id="38" name="mongodb-projections-subtitle">
            <a:extLst xmlns:a="http://schemas.openxmlformats.org/drawingml/2006/main">
              <a:ext uri="{FF2B5EF4-FFF2-40B4-BE49-F238E27FC236}">
                <a16:creationId xmlns:a16="http://schemas.microsoft.com/office/drawing/2014/main" id="{D90C1308-F232-4F72-A357-A96BB491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857625"/>
            <a:ext cx="13906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state • stats</a:t>
            </a:r>
          </a:p>
        </p:txBody>
      </p:sp>
      <p:sp>
        <p:nvSpPr>
          <p:cNvPr id="39" name="output-ribbon">
            <a:extLst xmlns:a="http://schemas.openxmlformats.org/drawingml/2006/main">
              <a:ext uri="{FF2B5EF4-FFF2-40B4-BE49-F238E27FC236}">
                <a16:creationId xmlns:a16="http://schemas.microsoft.com/office/drawing/2014/main" id="{E3B34275-C9B9-4B3E-AD32-E893FC65A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00600"/>
            <a:ext cx="11372850" cy="933450"/>
          </a:xfrm>
          <a:prstGeom xmlns:a="http://schemas.openxmlformats.org/drawingml/2006/main" prst="roundRect">
            <a:avLst>
              <a:gd name="adj" fmla="val 16327"/>
            </a:avLst>
          </a:prstGeom>
          <a:solidFill xmlns:a="http://schemas.openxmlformats.org/drawingml/2006/main">
            <a:srgbClr val="F2EDE6"/>
          </a:solidFill>
          <a:ln xmlns:a="http://schemas.openxmlformats.org/drawingml/2006/main" w="9525">
            <a:solidFill>
              <a:srgbClr val="D7E4DC"/>
            </a:solidFill>
            <a:prstDash val="solid"/>
          </a:ln>
        </p:spPr>
      </p:sp>
      <p:sp>
        <p:nvSpPr>
          <p:cNvPr id="40" name="output-ribbon-title">
            <a:extLst xmlns:a="http://schemas.openxmlformats.org/drawingml/2006/main">
              <a:ext uri="{FF2B5EF4-FFF2-40B4-BE49-F238E27FC236}">
                <a16:creationId xmlns:a16="http://schemas.microsoft.com/office/drawing/2014/main" id="{2B8F68E5-8B20-47C5-93A3-2BCD3797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53000"/>
            <a:ext cx="2095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23B3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2A4A"/>
                </a:solidFill>
                <a:latin typeface="Aptos"/>
                <a:ea typeface="Aptos"/>
                <a:cs typeface="Aptos"/>
              </a:rPr>
              <a:t>Dữ liệu sau đó phục vụ:</a:t>
            </a:r>
          </a:p>
        </p:txBody>
      </p:sp>
      <p:sp>
        <p:nvSpPr>
          <p:cNvPr id="41" name="output-timeline">
            <a:extLst xmlns:a="http://schemas.openxmlformats.org/drawingml/2006/main">
              <a:ext uri="{FF2B5EF4-FFF2-40B4-BE49-F238E27FC236}">
                <a16:creationId xmlns:a16="http://schemas.microsoft.com/office/drawing/2014/main" id="{5AA04B6A-1917-4800-9313-25135B17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933950"/>
            <a:ext cx="20383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EE8FA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2" name="output-timeline-title">
            <a:extLst xmlns:a="http://schemas.openxmlformats.org/drawingml/2006/main">
              <a:ext uri="{FF2B5EF4-FFF2-40B4-BE49-F238E27FC236}">
                <a16:creationId xmlns:a16="http://schemas.microsoft.com/office/drawing/2014/main" id="{33953829-DA22-4EC8-BC15-809841D4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048250"/>
            <a:ext cx="18478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23B34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2B2A4A"/>
                </a:solidFill>
                <a:latin typeface="Georgia"/>
                <a:ea typeface="Georgia"/>
                <a:cs typeface="Georgia"/>
              </a:rPr>
              <a:t>Event timeline</a:t>
            </a:r>
          </a:p>
        </p:txBody>
      </p:sp>
      <p:sp>
        <p:nvSpPr>
          <p:cNvPr id="43" name="output-timeline-subtitle">
            <a:extLst xmlns:a="http://schemas.openxmlformats.org/drawingml/2006/main">
              <a:ext uri="{FF2B5EF4-FFF2-40B4-BE49-F238E27FC236}">
                <a16:creationId xmlns:a16="http://schemas.microsoft.com/office/drawing/2014/main" id="{9ABA1DE0-8952-48CD-AD0F-E91A2F982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43525"/>
            <a:ext cx="18478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476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23B3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B2A4A"/>
                </a:solidFill>
                <a:latin typeface="Aptos"/>
                <a:ea typeface="Aptos"/>
                <a:cs typeface="Aptos"/>
              </a:rPr>
              <a:t>lọc theo thời gian</a:t>
            </a:r>
          </a:p>
        </p:txBody>
      </p:sp>
      <p:sp>
        <p:nvSpPr>
          <p:cNvPr id="44" name="output-device">
            <a:extLst xmlns:a="http://schemas.openxmlformats.org/drawingml/2006/main">
              <a:ext uri="{FF2B5EF4-FFF2-40B4-BE49-F238E27FC236}">
                <a16:creationId xmlns:a16="http://schemas.microsoft.com/office/drawing/2014/main" id="{9313EAA8-F1D2-48D8-BE19-648509B4F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933950"/>
            <a:ext cx="20383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5F4F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5" name="output-device-title">
            <a:extLst xmlns:a="http://schemas.openxmlformats.org/drawingml/2006/main">
              <a:ext uri="{FF2B5EF4-FFF2-40B4-BE49-F238E27FC236}">
                <a16:creationId xmlns:a16="http://schemas.microsoft.com/office/drawing/2014/main" id="{BE204BBA-4330-46F5-BDDD-FAA5887B4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048250"/>
            <a:ext cx="18478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23B34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2B2A4A"/>
                </a:solidFill>
                <a:latin typeface="Georgia"/>
                <a:ea typeface="Georgia"/>
                <a:cs typeface="Georgia"/>
              </a:rPr>
              <a:t>Device state</a:t>
            </a:r>
          </a:p>
        </p:txBody>
      </p:sp>
      <p:sp>
        <p:nvSpPr>
          <p:cNvPr id="46" name="output-device-subtitle">
            <a:extLst xmlns:a="http://schemas.openxmlformats.org/drawingml/2006/main">
              <a:ext uri="{FF2B5EF4-FFF2-40B4-BE49-F238E27FC236}">
                <a16:creationId xmlns:a16="http://schemas.microsoft.com/office/drawing/2014/main" id="{B059E772-528B-4EDC-AB84-12EED319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343525"/>
            <a:ext cx="18478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476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23B3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B2A4A"/>
                </a:solidFill>
                <a:latin typeface="Aptos"/>
                <a:ea typeface="Aptos"/>
                <a:cs typeface="Aptos"/>
              </a:rPr>
              <a:t>monitoring hiện tại</a:t>
            </a:r>
          </a:p>
        </p:txBody>
      </p:sp>
      <p:sp>
        <p:nvSpPr>
          <p:cNvPr id="47" name="output-trace">
            <a:extLst xmlns:a="http://schemas.openxmlformats.org/drawingml/2006/main">
              <a:ext uri="{FF2B5EF4-FFF2-40B4-BE49-F238E27FC236}">
                <a16:creationId xmlns:a16="http://schemas.microsoft.com/office/drawing/2014/main" id="{92CCCFD9-5CF3-4E69-85CA-CAABC9567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933950"/>
            <a:ext cx="20383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8" name="output-trace-title">
            <a:extLst xmlns:a="http://schemas.openxmlformats.org/drawingml/2006/main">
              <a:ext uri="{FF2B5EF4-FFF2-40B4-BE49-F238E27FC236}">
                <a16:creationId xmlns:a16="http://schemas.microsoft.com/office/drawing/2014/main" id="{7CA80823-A9FA-4279-AC6D-D40E4272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048250"/>
            <a:ext cx="18478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23B34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2B2A4A"/>
                </a:solidFill>
                <a:latin typeface="Georgia"/>
                <a:ea typeface="Georgia"/>
                <a:cs typeface="Georgia"/>
              </a:rPr>
              <a:t>Trace lỗi</a:t>
            </a:r>
          </a:p>
        </p:txBody>
      </p:sp>
      <p:sp>
        <p:nvSpPr>
          <p:cNvPr id="49" name="output-trace-subtitle">
            <a:extLst xmlns:a="http://schemas.openxmlformats.org/drawingml/2006/main">
              <a:ext uri="{FF2B5EF4-FFF2-40B4-BE49-F238E27FC236}">
                <a16:creationId xmlns:a16="http://schemas.microsoft.com/office/drawing/2014/main" id="{0FDF6F52-ECFB-44F2-AEEC-C1969D19B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343525"/>
            <a:ext cx="18478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476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23B3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B2A4A"/>
                </a:solidFill>
                <a:latin typeface="Aptos"/>
                <a:ea typeface="Aptos"/>
                <a:cs typeface="Aptos"/>
              </a:rPr>
              <a:t>raw record + failure</a:t>
            </a:r>
          </a:p>
        </p:txBody>
      </p:sp>
      <p:sp>
        <p:nvSpPr>
          <p:cNvPr id="50" name="output-stats">
            <a:extLst xmlns:a="http://schemas.openxmlformats.org/drawingml/2006/main">
              <a:ext uri="{FF2B5EF4-FFF2-40B4-BE49-F238E27FC236}">
                <a16:creationId xmlns:a16="http://schemas.microsoft.com/office/drawing/2014/main" id="{FEF8EDEF-29DD-4813-86EB-80674B1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933950"/>
            <a:ext cx="19812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7ECF4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1" name="output-stats-title">
            <a:extLst xmlns:a="http://schemas.openxmlformats.org/drawingml/2006/main">
              <a:ext uri="{FF2B5EF4-FFF2-40B4-BE49-F238E27FC236}">
                <a16:creationId xmlns:a16="http://schemas.microsoft.com/office/drawing/2014/main" id="{BFE67AB2-27C2-4CB8-B4EB-FEA015D3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048250"/>
            <a:ext cx="1790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23B34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2B2A4A"/>
                </a:solidFill>
                <a:latin typeface="Georgia"/>
                <a:ea typeface="Georgia"/>
                <a:cs typeface="Georgia"/>
              </a:rPr>
              <a:t>Production stats</a:t>
            </a:r>
          </a:p>
        </p:txBody>
      </p:sp>
      <p:sp>
        <p:nvSpPr>
          <p:cNvPr id="52" name="output-stats-subtitle">
            <a:extLst xmlns:a="http://schemas.openxmlformats.org/drawingml/2006/main">
              <a:ext uri="{FF2B5EF4-FFF2-40B4-BE49-F238E27FC236}">
                <a16:creationId xmlns:a16="http://schemas.microsoft.com/office/drawing/2014/main" id="{0E42CF06-BF75-4486-A766-53E525B5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343525"/>
            <a:ext cx="17907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476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23B3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B2A4A"/>
                </a:solidFill>
                <a:latin typeface="Aptos"/>
                <a:ea typeface="Aptos"/>
                <a:cs typeface="Aptos"/>
              </a:rPr>
              <a:t>daily / process</a:t>
            </a:r>
          </a:p>
        </p:txBody>
      </p:sp>
      <p:sp>
        <p:nvSpPr>
          <p:cNvPr id="53" name="footer-note">
            <a:extLst xmlns:a="http://schemas.openxmlformats.org/drawingml/2006/main">
              <a:ext uri="{FF2B5EF4-FFF2-40B4-BE49-F238E27FC236}">
                <a16:creationId xmlns:a16="http://schemas.microsoft.com/office/drawing/2014/main" id="{37D96C27-E444-485E-8555-332D9B6F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057900"/>
            <a:ext cx="1123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570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F6B78"/>
                </a:solidFill>
                <a:latin typeface="Aptos"/>
                <a:ea typeface="Aptos"/>
                <a:cs typeface="Aptos"/>
              </a:rPr>
              <a:t>Nguyên tắc: history là dữ liệu gốc bất biến; state và statistics là projection có thể dựng lại.</a:t>
            </a:r>
          </a:p>
        </p:txBody>
      </p:sp>
    </p:spTree>
    <p:extLst>
      <p:ext uri="{BB962C8B-B14F-4D97-AF65-F5344CB8AC3E}">
        <p14:creationId xmlns:p14="http://schemas.microsoft.com/office/powerpoint/2010/main" val="11270310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signalr-title">
            <a:extLst xmlns:a="http://schemas.openxmlformats.org/drawingml/2006/main">
              <a:ext uri="{FF2B5EF4-FFF2-40B4-BE49-F238E27FC236}">
                <a16:creationId xmlns:a16="http://schemas.microsoft.com/office/drawing/2014/main" id="{9865647F-84FC-47DE-B1EC-FE9BE68C1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B2A4A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2B2A4A"/>
                </a:solidFill>
                <a:latin typeface="Georgia"/>
                <a:ea typeface="Georgia"/>
                <a:cs typeface="Georgia"/>
              </a:rPr>
              <a:t>Realtime về AppHub ERP qua nhóm Monitoring</a:t>
            </a:r>
          </a:p>
        </p:txBody>
      </p:sp>
      <p:sp>
        <p:nvSpPr>
          <p:cNvPr id="2" name="signalr-subtitle">
            <a:extLst xmlns:a="http://schemas.openxmlformats.org/drawingml/2006/main">
              <a:ext uri="{FF2B5EF4-FFF2-40B4-BE49-F238E27FC236}">
                <a16:creationId xmlns:a16="http://schemas.microsoft.com/office/drawing/2014/main" id="{EC33D370-53E1-4FAF-9167-75B2F1AF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F6B7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F6B78"/>
                </a:solidFill>
                <a:latin typeface="Aptos"/>
                <a:ea typeface="Aptos"/>
                <a:cs typeface="Aptos"/>
              </a:rPr>
              <a:t>Hai nguồn phát event → AppHub classic SignalR 2.4.3 → Monitoring nhận callback realtime</a:t>
            </a:r>
          </a:p>
        </p:txBody>
      </p:sp>
      <p:sp>
        <p:nvSpPr>
          <p:cNvPr id="3" name="signalr-version">
            <a:extLst xmlns:a="http://schemas.openxmlformats.org/drawingml/2006/main">
              <a:ext uri="{FF2B5EF4-FFF2-40B4-BE49-F238E27FC236}">
                <a16:creationId xmlns:a16="http://schemas.microsoft.com/office/drawing/2014/main" id="{38A51BFB-E243-4E2A-9223-7BF252FD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619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B7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F6B78"/>
                </a:solidFill>
                <a:latin typeface="Aptos"/>
                <a:ea typeface="Aptos"/>
                <a:cs typeface="Aptos"/>
              </a:rPr>
              <a:t>SLIDE 2 • REALTIME CONTRACT</a:t>
            </a:r>
          </a:p>
        </p:txBody>
      </p:sp>
      <p:sp>
        <p:nvSpPr>
          <p:cNvPr id="4" name="sig-arrow-antenna">
            <a:extLst xmlns:a="http://schemas.openxmlformats.org/drawingml/2006/main">
              <a:ext uri="{FF2B5EF4-FFF2-40B4-BE49-F238E27FC236}">
                <a16:creationId xmlns:a16="http://schemas.microsoft.com/office/drawing/2014/main" id="{3BC97FEE-95D2-4EA3-A9B4-525F7475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47900"/>
            <a:ext cx="5715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B2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ig-arrow-analytics">
            <a:extLst xmlns:a="http://schemas.openxmlformats.org/drawingml/2006/main">
              <a:ext uri="{FF2B5EF4-FFF2-40B4-BE49-F238E27FC236}">
                <a16:creationId xmlns:a16="http://schemas.microsoft.com/office/drawing/2014/main" id="{6CD9775A-1746-4887-B342-0C6557C8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343400"/>
            <a:ext cx="5715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B2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ig-arrow-hub-monitoring">
            <a:extLst xmlns:a="http://schemas.openxmlformats.org/drawingml/2006/main">
              <a:ext uri="{FF2B5EF4-FFF2-40B4-BE49-F238E27FC236}">
                <a16:creationId xmlns:a16="http://schemas.microsoft.com/office/drawing/2014/main" id="{7566FC62-CCA7-43C1-B944-65657AF2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00375"/>
            <a:ext cx="704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B2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ig-antenna-group">
            <a:extLst xmlns:a="http://schemas.openxmlformats.org/drawingml/2006/main">
              <a:ext uri="{FF2B5EF4-FFF2-40B4-BE49-F238E27FC236}">
                <a16:creationId xmlns:a16="http://schemas.microsoft.com/office/drawing/2014/main" id="{07A40A9D-0CB7-47A2-B7E9-4B9D5284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2857500" cy="1905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3F0FA"/>
          </a:solidFill>
          <a:ln xmlns:a="http://schemas.openxmlformats.org/drawingml/2006/main" w="19050">
            <a:solidFill>
              <a:srgbClr val="7B68A3"/>
            </a:solidFill>
            <a:prstDash val="dash"/>
          </a:ln>
        </p:spPr>
      </p:sp>
      <p:sp>
        <p:nvSpPr>
          <p:cNvPr id="8" name="sig-antenna-title">
            <a:extLst xmlns:a="http://schemas.openxmlformats.org/drawingml/2006/main">
              <a:ext uri="{FF2B5EF4-FFF2-40B4-BE49-F238E27FC236}">
                <a16:creationId xmlns:a16="http://schemas.microsoft.com/office/drawing/2014/main" id="{5D70A49A-1F64-4633-8E2D-BCFBEE60E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4C3D76"/>
                </a:solidFill>
                <a:latin typeface="Georgia"/>
                <a:ea typeface="Georgia"/>
                <a:cs typeface="Georgia"/>
              </a:defRPr>
            </a:pPr>
            <a:r>
              <a:rPr sz="1725" b="1">
                <a:solidFill>
                  <a:srgbClr val="4C3D76"/>
                </a:solidFill>
                <a:latin typeface="Georgia"/>
                <a:ea typeface="Georgia"/>
                <a:cs typeface="Georgia"/>
              </a:rPr>
              <a:t>RFID.Antenna</a:t>
            </a:r>
          </a:p>
        </p:txBody>
      </p:sp>
      <p:sp>
        <p:nvSpPr>
          <p:cNvPr id="9" name="sig-antenna-caption">
            <a:extLst xmlns:a="http://schemas.openxmlformats.org/drawingml/2006/main">
              <a:ext uri="{FF2B5EF4-FFF2-40B4-BE49-F238E27FC236}">
                <a16:creationId xmlns:a16="http://schemas.microsoft.com/office/drawing/2014/main" id="{48289EB9-B465-402C-A474-CA5B00A7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57375"/>
            <a:ext cx="2514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F6B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F6B78"/>
                </a:solidFill>
                <a:latin typeface="Aptos"/>
                <a:ea typeface="Aptos"/>
                <a:cs typeface="Aptos"/>
              </a:rPr>
              <a:t>Thiết bị và reader realtime</a:t>
            </a:r>
          </a:p>
        </p:txBody>
      </p:sp>
      <p:sp>
        <p:nvSpPr>
          <p:cNvPr id="10" name="sig-antenna-read">
            <a:extLst xmlns:a="http://schemas.openxmlformats.org/drawingml/2006/main">
              <a:ext uri="{FF2B5EF4-FFF2-40B4-BE49-F238E27FC236}">
                <a16:creationId xmlns:a16="http://schemas.microsoft.com/office/drawing/2014/main" id="{7C0EFA88-1BC4-48C8-8D33-C98F3C003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19300"/>
            <a:ext cx="24765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5B46B5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sig-antenna-read-title">
            <a:extLst xmlns:a="http://schemas.openxmlformats.org/drawingml/2006/main">
              <a:ext uri="{FF2B5EF4-FFF2-40B4-BE49-F238E27FC236}">
                <a16:creationId xmlns:a16="http://schemas.microsoft.com/office/drawing/2014/main" id="{2D899BCC-C225-4619-9C8A-5774001B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Device read</a:t>
            </a:r>
          </a:p>
        </p:txBody>
      </p:sp>
      <p:sp>
        <p:nvSpPr>
          <p:cNvPr id="12" name="sig-antenna-read-subtitle">
            <a:extLst xmlns:a="http://schemas.openxmlformats.org/drawingml/2006/main">
              <a:ext uri="{FF2B5EF4-FFF2-40B4-BE49-F238E27FC236}">
                <a16:creationId xmlns:a16="http://schemas.microsoft.com/office/drawing/2014/main" id="{7F164AE9-9F89-4F53-99CC-A5C2B194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717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PushDeviceReadTag</a:t>
            </a:r>
          </a:p>
        </p:txBody>
      </p:sp>
      <p:sp>
        <p:nvSpPr>
          <p:cNvPr id="13" name="sig-antenna-state">
            <a:extLst xmlns:a="http://schemas.openxmlformats.org/drawingml/2006/main">
              <a:ext uri="{FF2B5EF4-FFF2-40B4-BE49-F238E27FC236}">
                <a16:creationId xmlns:a16="http://schemas.microsoft.com/office/drawing/2014/main" id="{7D328D0E-2C01-430D-8366-76A579CD0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86050"/>
            <a:ext cx="24765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3628E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sig-antenna-state-title">
            <a:extLst xmlns:a="http://schemas.openxmlformats.org/drawingml/2006/main">
              <a:ext uri="{FF2B5EF4-FFF2-40B4-BE49-F238E27FC236}">
                <a16:creationId xmlns:a16="http://schemas.microsoft.com/office/drawing/2014/main" id="{6FD3A0E8-E38D-4C02-8374-934DF892F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Device state</a:t>
            </a:r>
          </a:p>
        </p:txBody>
      </p:sp>
      <p:sp>
        <p:nvSpPr>
          <p:cNvPr id="15" name="sig-antenna-state-subtitle">
            <a:extLst xmlns:a="http://schemas.openxmlformats.org/drawingml/2006/main">
              <a:ext uri="{FF2B5EF4-FFF2-40B4-BE49-F238E27FC236}">
                <a16:creationId xmlns:a16="http://schemas.microsoft.com/office/drawing/2014/main" id="{09919970-5DB2-472C-9DC6-9608BF85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3847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6611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PushDeviceOnline • Connected • Light/Sensor</a:t>
            </a:r>
          </a:p>
        </p:txBody>
      </p:sp>
      <p:sp>
        <p:nvSpPr>
          <p:cNvPr id="16" name="sig-analytics-group">
            <a:extLst xmlns:a="http://schemas.openxmlformats.org/drawingml/2006/main">
              <a:ext uri="{FF2B5EF4-FFF2-40B4-BE49-F238E27FC236}">
                <a16:creationId xmlns:a16="http://schemas.microsoft.com/office/drawing/2014/main" id="{62FB9A68-7A15-42E2-BDE9-08CE4651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0"/>
            <a:ext cx="2857500" cy="1905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5"/>
          </a:solidFill>
          <a:ln xmlns:a="http://schemas.openxmlformats.org/drawingml/2006/main" w="19050">
            <a:solidFill>
              <a:srgbClr val="1E8C8C"/>
            </a:solidFill>
            <a:prstDash val="dash"/>
          </a:ln>
        </p:spPr>
      </p:sp>
      <p:sp>
        <p:nvSpPr>
          <p:cNvPr id="17" name="sig-analytics-title">
            <a:extLst xmlns:a="http://schemas.openxmlformats.org/drawingml/2006/main">
              <a:ext uri="{FF2B5EF4-FFF2-40B4-BE49-F238E27FC236}">
                <a16:creationId xmlns:a16="http://schemas.microsoft.com/office/drawing/2014/main" id="{14F98BD3-74FD-4C4A-809D-35BC3496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8140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6B69"/>
                </a:solidFill>
                <a:latin typeface="Georgia"/>
                <a:ea typeface="Georgia"/>
                <a:cs typeface="Georgia"/>
              </a:defRPr>
            </a:pPr>
            <a:r>
              <a:rPr sz="1725" b="1">
                <a:solidFill>
                  <a:srgbClr val="176B69"/>
                </a:solidFill>
                <a:latin typeface="Georgia"/>
                <a:ea typeface="Georgia"/>
                <a:cs typeface="Georgia"/>
              </a:rPr>
              <a:t>RFID.Analytics</a:t>
            </a:r>
          </a:p>
        </p:txBody>
      </p:sp>
      <p:sp>
        <p:nvSpPr>
          <p:cNvPr id="18" name="sig-analytics-caption">
            <a:extLst xmlns:a="http://schemas.openxmlformats.org/drawingml/2006/main">
              <a:ext uri="{FF2B5EF4-FFF2-40B4-BE49-F238E27FC236}">
                <a16:creationId xmlns:a16="http://schemas.microsoft.com/office/drawing/2014/main" id="{6E73103B-691B-445C-93F7-FCA9C800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2514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F6B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F6B78"/>
                </a:solidFill>
                <a:latin typeface="Aptos"/>
                <a:ea typeface="Aptos"/>
                <a:cs typeface="Aptos"/>
              </a:rPr>
              <a:t>Sau khi đọc và chạy logic process</a:t>
            </a:r>
          </a:p>
        </p:txBody>
      </p:sp>
      <p:sp>
        <p:nvSpPr>
          <p:cNvPr id="19" name="sig-analytics-tag">
            <a:extLst xmlns:a="http://schemas.openxmlformats.org/drawingml/2006/main">
              <a:ext uri="{FF2B5EF4-FFF2-40B4-BE49-F238E27FC236}">
                <a16:creationId xmlns:a16="http://schemas.microsoft.com/office/drawing/2014/main" id="{6ECF8194-A56B-4705-951F-9B04126A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00500"/>
            <a:ext cx="24765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E8C8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sig-analytics-tag-title">
            <a:extLst xmlns:a="http://schemas.openxmlformats.org/drawingml/2006/main">
              <a:ext uri="{FF2B5EF4-FFF2-40B4-BE49-F238E27FC236}">
                <a16:creationId xmlns:a16="http://schemas.microsoft.com/office/drawing/2014/main" id="{540014C3-F7F5-475E-9CAF-CF6D90ED5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Tag / process</a:t>
            </a:r>
          </a:p>
        </p:txBody>
      </p:sp>
      <p:sp>
        <p:nvSpPr>
          <p:cNvPr id="21" name="sig-analytics-tag-subtitle">
            <a:extLst xmlns:a="http://schemas.openxmlformats.org/drawingml/2006/main">
              <a:ext uri="{FF2B5EF4-FFF2-40B4-BE49-F238E27FC236}">
                <a16:creationId xmlns:a16="http://schemas.microsoft.com/office/drawing/2014/main" id="{B7FB43A0-002A-433C-8C40-55955370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529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PushTag • PushTagChanged</a:t>
            </a:r>
          </a:p>
        </p:txBody>
      </p:sp>
      <p:sp>
        <p:nvSpPr>
          <p:cNvPr id="22" name="sig-analytics-gate">
            <a:extLst xmlns:a="http://schemas.openxmlformats.org/drawingml/2006/main">
              <a:ext uri="{FF2B5EF4-FFF2-40B4-BE49-F238E27FC236}">
                <a16:creationId xmlns:a16="http://schemas.microsoft.com/office/drawing/2014/main" id="{A6E89AB2-D4FD-435F-9C74-49CF65B4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48200"/>
            <a:ext cx="24765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9A23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sig-analytics-gate-title">
            <a:extLst xmlns:a="http://schemas.openxmlformats.org/drawingml/2006/main">
              <a:ext uri="{FF2B5EF4-FFF2-40B4-BE49-F238E27FC236}">
                <a16:creationId xmlns:a16="http://schemas.microsoft.com/office/drawing/2014/main" id="{A0E60E83-9D7D-4E65-BF0A-EFDCF8E3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B2A4A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2B2A4A"/>
                </a:solidFill>
                <a:latin typeface="Georgia"/>
                <a:ea typeface="Georgia"/>
                <a:cs typeface="Georgia"/>
              </a:rPr>
              <a:t>Gate / carton</a:t>
            </a:r>
          </a:p>
        </p:txBody>
      </p:sp>
      <p:sp>
        <p:nvSpPr>
          <p:cNvPr id="24" name="sig-analytics-gate-subtitle">
            <a:extLst xmlns:a="http://schemas.openxmlformats.org/drawingml/2006/main">
              <a:ext uri="{FF2B5EF4-FFF2-40B4-BE49-F238E27FC236}">
                <a16:creationId xmlns:a16="http://schemas.microsoft.com/office/drawing/2014/main" id="{00D79BE3-7CD7-4E58-9AAC-6323FC25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B2A4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B2A4A"/>
                </a:solidFill>
                <a:latin typeface="Aptos"/>
                <a:ea typeface="Aptos"/>
                <a:cs typeface="Aptos"/>
              </a:rPr>
              <a:t>PushCartonToGate • Gate updates</a:t>
            </a:r>
          </a:p>
        </p:txBody>
      </p:sp>
      <p:sp>
        <p:nvSpPr>
          <p:cNvPr id="25" name="sig-apphub-group">
            <a:extLst xmlns:a="http://schemas.openxmlformats.org/drawingml/2006/main">
              <a:ext uri="{FF2B5EF4-FFF2-40B4-BE49-F238E27FC236}">
                <a16:creationId xmlns:a16="http://schemas.microsoft.com/office/drawing/2014/main" id="{602A74B8-D9B7-41D3-90F7-BF4720983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428750"/>
            <a:ext cx="2857500" cy="3333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EDF8"/>
          </a:solidFill>
          <a:ln xmlns:a="http://schemas.openxmlformats.org/drawingml/2006/main" w="9525">
            <a:solidFill>
              <a:srgbClr val="A99BC5"/>
            </a:solidFill>
            <a:prstDash val="solid"/>
          </a:ln>
        </p:spPr>
      </p:sp>
      <p:sp>
        <p:nvSpPr>
          <p:cNvPr id="26" name="sig-apphub-title">
            <a:extLst xmlns:a="http://schemas.openxmlformats.org/drawingml/2006/main">
              <a:ext uri="{FF2B5EF4-FFF2-40B4-BE49-F238E27FC236}">
                <a16:creationId xmlns:a16="http://schemas.microsoft.com/office/drawing/2014/main" id="{399CD54F-8926-4E3A-B896-AA8FB20BF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00200"/>
            <a:ext cx="2400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B2A4A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2B2A4A"/>
                </a:solidFill>
                <a:latin typeface="Georgia"/>
                <a:ea typeface="Georgia"/>
                <a:cs typeface="Georgia"/>
              </a:rPr>
              <a:t>AppHub ERP</a:t>
            </a:r>
          </a:p>
        </p:txBody>
      </p:sp>
      <p:sp>
        <p:nvSpPr>
          <p:cNvPr id="27" name="sig-apphub-caption">
            <a:extLst xmlns:a="http://schemas.openxmlformats.org/drawingml/2006/main">
              <a:ext uri="{FF2B5EF4-FFF2-40B4-BE49-F238E27FC236}">
                <a16:creationId xmlns:a16="http://schemas.microsoft.com/office/drawing/2014/main" id="{7D5FC6D4-0AF2-40F3-AFE7-64195240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43100"/>
            <a:ext cx="2400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F6B7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F6B78"/>
                </a:solidFill>
                <a:latin typeface="Aptos"/>
                <a:ea typeface="Aptos"/>
                <a:cs typeface="Aptos"/>
              </a:rPr>
              <a:t>Cổng SignalR trung tâm</a:t>
            </a:r>
          </a:p>
        </p:txBody>
      </p:sp>
      <p:sp>
        <p:nvSpPr>
          <p:cNvPr id="28" name="sig-apphub-connection">
            <a:extLst xmlns:a="http://schemas.openxmlformats.org/drawingml/2006/main">
              <a:ext uri="{FF2B5EF4-FFF2-40B4-BE49-F238E27FC236}">
                <a16:creationId xmlns:a16="http://schemas.microsoft.com/office/drawing/2014/main" id="{D176B72D-3BF1-431A-85D4-5D297320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00300"/>
            <a:ext cx="2286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5B46B5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sig-apphub-connection-title">
            <a:extLst xmlns:a="http://schemas.openxmlformats.org/drawingml/2006/main">
              <a:ext uri="{FF2B5EF4-FFF2-40B4-BE49-F238E27FC236}">
                <a16:creationId xmlns:a16="http://schemas.microsoft.com/office/drawing/2014/main" id="{362AC88F-B142-4799-878F-55B2A7B2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765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2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Classic SignalR 2.4.3</a:t>
            </a:r>
          </a:p>
        </p:txBody>
      </p:sp>
      <p:sp>
        <p:nvSpPr>
          <p:cNvPr id="30" name="sig-apphub-connection-subtitle">
            <a:extLst xmlns:a="http://schemas.openxmlformats.org/drawingml/2006/main">
              <a:ext uri="{FF2B5EF4-FFF2-40B4-BE49-F238E27FC236}">
                <a16:creationId xmlns:a16="http://schemas.microsoft.com/office/drawing/2014/main" id="{0080A971-D3CE-4623-BE8B-D40D60D9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5272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Hub: AppHub • sessionType=0</a:t>
            </a:r>
          </a:p>
        </p:txBody>
      </p:sp>
      <p:sp>
        <p:nvSpPr>
          <p:cNvPr id="31" name="sig-apphub-broadcast">
            <a:extLst xmlns:a="http://schemas.openxmlformats.org/drawingml/2006/main">
              <a:ext uri="{FF2B5EF4-FFF2-40B4-BE49-F238E27FC236}">
                <a16:creationId xmlns:a16="http://schemas.microsoft.com/office/drawing/2014/main" id="{3259B794-39AA-4068-9273-CF758FAFC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95650"/>
            <a:ext cx="2286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2B2A4A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sig-apphub-broadcast-title">
            <a:extLst xmlns:a="http://schemas.openxmlformats.org/drawingml/2006/main">
              <a:ext uri="{FF2B5EF4-FFF2-40B4-BE49-F238E27FC236}">
                <a16:creationId xmlns:a16="http://schemas.microsoft.com/office/drawing/2014/main" id="{F7E6B111-8673-48E2-83B0-7CFEE155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71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Route / broadcast</a:t>
            </a:r>
          </a:p>
        </p:txBody>
      </p:sp>
      <p:sp>
        <p:nvSpPr>
          <p:cNvPr id="33" name="sig-apphub-broadcast-subtitle">
            <a:extLst xmlns:a="http://schemas.openxmlformats.org/drawingml/2006/main">
              <a:ext uri="{FF2B5EF4-FFF2-40B4-BE49-F238E27FC236}">
                <a16:creationId xmlns:a16="http://schemas.microsoft.com/office/drawing/2014/main" id="{75C7C00C-E278-4066-A49D-C29AA4AFA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48075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Push methods → Monitoring callbacks</a:t>
            </a:r>
          </a:p>
        </p:txBody>
      </p:sp>
      <p:sp>
        <p:nvSpPr>
          <p:cNvPr id="34" name="sig-monitoring-group">
            <a:extLst xmlns:a="http://schemas.openxmlformats.org/drawingml/2006/main">
              <a:ext uri="{FF2B5EF4-FFF2-40B4-BE49-F238E27FC236}">
                <a16:creationId xmlns:a16="http://schemas.microsoft.com/office/drawing/2014/main" id="{28A9163D-D4E0-415A-BFDE-F29EDFA78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28750"/>
            <a:ext cx="3676650" cy="333375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FFF7EE"/>
          </a:solidFill>
          <a:ln xmlns:a="http://schemas.openxmlformats.org/drawingml/2006/main" w="9525">
            <a:solidFill>
              <a:srgbClr val="D9B98D"/>
            </a:solidFill>
            <a:prstDash val="solid"/>
          </a:ln>
        </p:spPr>
      </p:sp>
      <p:sp>
        <p:nvSpPr>
          <p:cNvPr id="35" name="sig-monitoring-title">
            <a:extLst xmlns:a="http://schemas.openxmlformats.org/drawingml/2006/main">
              <a:ext uri="{FF2B5EF4-FFF2-40B4-BE49-F238E27FC236}">
                <a16:creationId xmlns:a16="http://schemas.microsoft.com/office/drawing/2014/main" id="{0B83ED17-7820-4434-9902-C38CEF9E1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600200"/>
            <a:ext cx="3219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7D4C22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7D4C22"/>
                </a:solidFill>
                <a:latin typeface="Georgia"/>
                <a:ea typeface="Georgia"/>
                <a:cs typeface="Georgia"/>
              </a:rPr>
              <a:t>Monitoring group</a:t>
            </a:r>
          </a:p>
        </p:txBody>
      </p:sp>
      <p:sp>
        <p:nvSpPr>
          <p:cNvPr id="36" name="sig-monitoring-caption">
            <a:extLst xmlns:a="http://schemas.openxmlformats.org/drawingml/2006/main">
              <a:ext uri="{FF2B5EF4-FFF2-40B4-BE49-F238E27FC236}">
                <a16:creationId xmlns:a16="http://schemas.microsoft.com/office/drawing/2014/main" id="{420A7F70-25E5-4A2D-A139-75E4F726B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943100"/>
            <a:ext cx="3219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F6B7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F6B78"/>
                </a:solidFill>
                <a:latin typeface="Aptos"/>
                <a:ea typeface="Aptos"/>
                <a:cs typeface="Aptos"/>
              </a:rPr>
              <a:t>ERP App / monitoring clients</a:t>
            </a:r>
          </a:p>
        </p:txBody>
      </p:sp>
      <p:sp>
        <p:nvSpPr>
          <p:cNvPr id="37" name="sig-monitoring-device">
            <a:extLst xmlns:a="http://schemas.openxmlformats.org/drawingml/2006/main">
              <a:ext uri="{FF2B5EF4-FFF2-40B4-BE49-F238E27FC236}">
                <a16:creationId xmlns:a16="http://schemas.microsoft.com/office/drawing/2014/main" id="{C4A0697D-AAEF-4D1B-94C9-308F75FC4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62200"/>
            <a:ext cx="32194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5B46B5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8" name="sig-monitoring-device-title">
            <a:extLst xmlns:a="http://schemas.openxmlformats.org/drawingml/2006/main">
              <a:ext uri="{FF2B5EF4-FFF2-40B4-BE49-F238E27FC236}">
                <a16:creationId xmlns:a16="http://schemas.microsoft.com/office/drawing/2014/main" id="{AC365BB6-A86B-496A-B9F3-B69036EC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38400"/>
            <a:ext cx="3028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2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Device callbacks</a:t>
            </a:r>
          </a:p>
        </p:txBody>
      </p:sp>
      <p:sp>
        <p:nvSpPr>
          <p:cNvPr id="39" name="sig-monitoring-device-subtitle">
            <a:extLst xmlns:a="http://schemas.openxmlformats.org/drawingml/2006/main">
              <a:ext uri="{FF2B5EF4-FFF2-40B4-BE49-F238E27FC236}">
                <a16:creationId xmlns:a16="http://schemas.microsoft.com/office/drawing/2014/main" id="{D8D8F896-F441-45D5-AECB-0AF21AC8C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14625"/>
            <a:ext cx="3028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receiveDeviceReadTag • Online</a:t>
            </a:r>
          </a:p>
        </p:txBody>
      </p:sp>
      <p:sp>
        <p:nvSpPr>
          <p:cNvPr id="40" name="sig-monitoring-state">
            <a:extLst xmlns:a="http://schemas.openxmlformats.org/drawingml/2006/main">
              <a:ext uri="{FF2B5EF4-FFF2-40B4-BE49-F238E27FC236}">
                <a16:creationId xmlns:a16="http://schemas.microsoft.com/office/drawing/2014/main" id="{4124DA91-516B-41D5-AC68-1E72FCBFD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124200"/>
            <a:ext cx="32194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D3628E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1" name="sig-monitoring-state-title">
            <a:extLst xmlns:a="http://schemas.openxmlformats.org/drawingml/2006/main">
              <a:ext uri="{FF2B5EF4-FFF2-40B4-BE49-F238E27FC236}">
                <a16:creationId xmlns:a16="http://schemas.microsoft.com/office/drawing/2014/main" id="{CDE7539C-0693-4605-9D31-FC87E3FA5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00400"/>
            <a:ext cx="3028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2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State callbacks</a:t>
            </a:r>
          </a:p>
        </p:txBody>
      </p:sp>
      <p:sp>
        <p:nvSpPr>
          <p:cNvPr id="42" name="sig-monitoring-state-subtitle">
            <a:extLst xmlns:a="http://schemas.openxmlformats.org/drawingml/2006/main">
              <a:ext uri="{FF2B5EF4-FFF2-40B4-BE49-F238E27FC236}">
                <a16:creationId xmlns:a16="http://schemas.microsoft.com/office/drawing/2014/main" id="{5F211E0E-5794-40F9-9746-DCBB7344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76625"/>
            <a:ext cx="3028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Connected • Green/Red • Sensor</a:t>
            </a:r>
          </a:p>
        </p:txBody>
      </p:sp>
      <p:sp>
        <p:nvSpPr>
          <p:cNvPr id="43" name="sig-monitoring-process">
            <a:extLst xmlns:a="http://schemas.openxmlformats.org/drawingml/2006/main">
              <a:ext uri="{FF2B5EF4-FFF2-40B4-BE49-F238E27FC236}">
                <a16:creationId xmlns:a16="http://schemas.microsoft.com/office/drawing/2014/main" id="{8E7313AF-6FC5-4F58-A10B-6851822CC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886200"/>
            <a:ext cx="32194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1E8C8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4" name="sig-monitoring-process-title">
            <a:extLst xmlns:a="http://schemas.openxmlformats.org/drawingml/2006/main">
              <a:ext uri="{FF2B5EF4-FFF2-40B4-BE49-F238E27FC236}">
                <a16:creationId xmlns:a16="http://schemas.microsoft.com/office/drawing/2014/main" id="{DB217972-C81B-446E-B3E8-4DDEFB3F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62400"/>
            <a:ext cx="3028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2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Process callbacks</a:t>
            </a:r>
          </a:p>
        </p:txBody>
      </p:sp>
      <p:sp>
        <p:nvSpPr>
          <p:cNvPr id="45" name="sig-monitoring-process-subtitle">
            <a:extLst xmlns:a="http://schemas.openxmlformats.org/drawingml/2006/main">
              <a:ext uri="{FF2B5EF4-FFF2-40B4-BE49-F238E27FC236}">
                <a16:creationId xmlns:a16="http://schemas.microsoft.com/office/drawing/2014/main" id="{06C8B6A3-682B-419C-A413-B29C7EA92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38625"/>
            <a:ext cx="3028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Tag • carton • gate updates</a:t>
            </a:r>
          </a:p>
        </p:txBody>
      </p:sp>
      <p:sp>
        <p:nvSpPr>
          <p:cNvPr id="46" name="sig-output-ribbon">
            <a:extLst xmlns:a="http://schemas.openxmlformats.org/drawingml/2006/main">
              <a:ext uri="{FF2B5EF4-FFF2-40B4-BE49-F238E27FC236}">
                <a16:creationId xmlns:a16="http://schemas.microsoft.com/office/drawing/2014/main" id="{FA86DF40-FCAC-4A41-82CA-A7317E2B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67350"/>
            <a:ext cx="1137285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2EDE6"/>
          </a:solidFill>
          <a:ln xmlns:a="http://schemas.openxmlformats.org/drawingml/2006/main" w="9525">
            <a:solidFill>
              <a:srgbClr val="D9CFC5"/>
            </a:solidFill>
            <a:prstDash val="solid"/>
          </a:ln>
        </p:spPr>
      </p:sp>
      <p:sp>
        <p:nvSpPr>
          <p:cNvPr id="47" name="sig-output-title">
            <a:extLst xmlns:a="http://schemas.openxmlformats.org/drawingml/2006/main">
              <a:ext uri="{FF2B5EF4-FFF2-40B4-BE49-F238E27FC236}">
                <a16:creationId xmlns:a16="http://schemas.microsoft.com/office/drawing/2014/main" id="{BFF30DEB-CCE0-44F2-8778-B3233A50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81650"/>
            <a:ext cx="2724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2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2A4A"/>
                </a:solidFill>
                <a:latin typeface="Aptos"/>
                <a:ea typeface="Aptos"/>
                <a:cs typeface="Aptos"/>
              </a:rPr>
              <a:t>Monitoring dùng dữ liệu realtime để:</a:t>
            </a:r>
          </a:p>
        </p:txBody>
      </p:sp>
      <p:sp>
        <p:nvSpPr>
          <p:cNvPr id="48" name="sig-output-live">
            <a:extLst xmlns:a="http://schemas.openxmlformats.org/drawingml/2006/main">
              <a:ext uri="{FF2B5EF4-FFF2-40B4-BE49-F238E27FC236}">
                <a16:creationId xmlns:a16="http://schemas.microsoft.com/office/drawing/2014/main" id="{58695085-8C32-47E5-AA25-2A0E713A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534025"/>
            <a:ext cx="23431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EE8FA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9" name="sig-output-live-title">
            <a:extLst xmlns:a="http://schemas.openxmlformats.org/drawingml/2006/main">
              <a:ext uri="{FF2B5EF4-FFF2-40B4-BE49-F238E27FC236}">
                <a16:creationId xmlns:a16="http://schemas.microsoft.com/office/drawing/2014/main" id="{E582F2ED-E03B-4503-85C8-370F2FE12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10225"/>
            <a:ext cx="2152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B2A4A"/>
                </a:solidFill>
                <a:latin typeface="Georgia"/>
                <a:ea typeface="Georgia"/>
                <a:cs typeface="Georgia"/>
              </a:defRPr>
            </a:pPr>
            <a:r>
              <a:rPr sz="1275" b="1">
                <a:solidFill>
                  <a:srgbClr val="2B2A4A"/>
                </a:solidFill>
                <a:latin typeface="Georgia"/>
                <a:ea typeface="Georgia"/>
                <a:cs typeface="Georgia"/>
              </a:rPr>
              <a:t>Hiển thị live</a:t>
            </a:r>
          </a:p>
        </p:txBody>
      </p:sp>
      <p:sp>
        <p:nvSpPr>
          <p:cNvPr id="50" name="sig-output-live-subtitle">
            <a:extLst xmlns:a="http://schemas.openxmlformats.org/drawingml/2006/main">
              <a:ext uri="{FF2B5EF4-FFF2-40B4-BE49-F238E27FC236}">
                <a16:creationId xmlns:a16="http://schemas.microsoft.com/office/drawing/2014/main" id="{997A837D-53B4-4E48-B825-FE13CD30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86450"/>
            <a:ext cx="21526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2B2A4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2B2A4A"/>
                </a:solidFill>
                <a:latin typeface="Aptos"/>
                <a:ea typeface="Aptos"/>
                <a:cs typeface="Aptos"/>
              </a:rPr>
              <a:t>device / tag</a:t>
            </a:r>
          </a:p>
        </p:txBody>
      </p:sp>
      <p:sp>
        <p:nvSpPr>
          <p:cNvPr id="51" name="sig-output-state">
            <a:extLst xmlns:a="http://schemas.openxmlformats.org/drawingml/2006/main">
              <a:ext uri="{FF2B5EF4-FFF2-40B4-BE49-F238E27FC236}">
                <a16:creationId xmlns:a16="http://schemas.microsoft.com/office/drawing/2014/main" id="{7774ECE7-1494-4826-8DAE-A7E3191D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534025"/>
            <a:ext cx="23431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5F4F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2" name="sig-output-state-title">
            <a:extLst xmlns:a="http://schemas.openxmlformats.org/drawingml/2006/main">
              <a:ext uri="{FF2B5EF4-FFF2-40B4-BE49-F238E27FC236}">
                <a16:creationId xmlns:a16="http://schemas.microsoft.com/office/drawing/2014/main" id="{6535AA42-FF90-464B-BD5C-344BB332C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610225"/>
            <a:ext cx="2152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B2A4A"/>
                </a:solidFill>
                <a:latin typeface="Georgia"/>
                <a:ea typeface="Georgia"/>
                <a:cs typeface="Georgia"/>
              </a:defRPr>
            </a:pPr>
            <a:r>
              <a:rPr sz="1275" b="1">
                <a:solidFill>
                  <a:srgbClr val="2B2A4A"/>
                </a:solidFill>
                <a:latin typeface="Georgia"/>
                <a:ea typeface="Georgia"/>
                <a:cs typeface="Georgia"/>
              </a:rPr>
              <a:t>Theo dõi state</a:t>
            </a:r>
          </a:p>
        </p:txBody>
      </p:sp>
      <p:sp>
        <p:nvSpPr>
          <p:cNvPr id="53" name="sig-output-state-subtitle">
            <a:extLst xmlns:a="http://schemas.openxmlformats.org/drawingml/2006/main">
              <a:ext uri="{FF2B5EF4-FFF2-40B4-BE49-F238E27FC236}">
                <a16:creationId xmlns:a16="http://schemas.microsoft.com/office/drawing/2014/main" id="{A4295BA0-50F8-4FBA-AF50-E07AC3BD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886450"/>
            <a:ext cx="21526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2B2A4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2B2A4A"/>
                </a:solidFill>
                <a:latin typeface="Aptos"/>
                <a:ea typeface="Aptos"/>
                <a:cs typeface="Aptos"/>
              </a:rPr>
              <a:t>online / light / sensor</a:t>
            </a:r>
          </a:p>
        </p:txBody>
      </p:sp>
      <p:sp>
        <p:nvSpPr>
          <p:cNvPr id="54" name="sig-output-process">
            <a:extLst xmlns:a="http://schemas.openxmlformats.org/drawingml/2006/main">
              <a:ext uri="{FF2B5EF4-FFF2-40B4-BE49-F238E27FC236}">
                <a16:creationId xmlns:a16="http://schemas.microsoft.com/office/drawing/2014/main" id="{4DDEF316-79FA-469C-9A42-FE533A38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534025"/>
            <a:ext cx="2952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5" name="sig-output-process-title">
            <a:extLst xmlns:a="http://schemas.openxmlformats.org/drawingml/2006/main">
              <a:ext uri="{FF2B5EF4-FFF2-40B4-BE49-F238E27FC236}">
                <a16:creationId xmlns:a16="http://schemas.microsoft.com/office/drawing/2014/main" id="{4F5BF089-E167-44AD-AD40-06028921C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610225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B2A4A"/>
                </a:solidFill>
                <a:latin typeface="Georgia"/>
                <a:ea typeface="Georgia"/>
                <a:cs typeface="Georgia"/>
              </a:defRPr>
            </a:pPr>
            <a:r>
              <a:rPr sz="1275" b="1">
                <a:solidFill>
                  <a:srgbClr val="2B2A4A"/>
                </a:solidFill>
                <a:latin typeface="Georgia"/>
                <a:ea typeface="Georgia"/>
                <a:cs typeface="Georgia"/>
              </a:rPr>
              <a:t>Cập nhật tiến độ</a:t>
            </a:r>
          </a:p>
        </p:txBody>
      </p:sp>
      <p:sp>
        <p:nvSpPr>
          <p:cNvPr id="56" name="sig-output-process-subtitle">
            <a:extLst xmlns:a="http://schemas.openxmlformats.org/drawingml/2006/main">
              <a:ext uri="{FF2B5EF4-FFF2-40B4-BE49-F238E27FC236}">
                <a16:creationId xmlns:a16="http://schemas.microsoft.com/office/drawing/2014/main" id="{89F86AA5-334F-45B6-A318-3636E36B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886450"/>
            <a:ext cx="2762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2B2A4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2B2A4A"/>
                </a:solidFill>
                <a:latin typeface="Aptos"/>
                <a:ea typeface="Aptos"/>
                <a:cs typeface="Aptos"/>
              </a:rPr>
              <a:t>process / carton / gate</a:t>
            </a:r>
          </a:p>
        </p:txBody>
      </p:sp>
      <p:sp>
        <p:nvSpPr>
          <p:cNvPr id="57" name="sig-footer">
            <a:extLst xmlns:a="http://schemas.openxmlformats.org/drawingml/2006/main">
              <a:ext uri="{FF2B5EF4-FFF2-40B4-BE49-F238E27FC236}">
                <a16:creationId xmlns:a16="http://schemas.microsoft.com/office/drawing/2014/main" id="{8706854F-B37F-4C0F-998D-FA4A770C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381750"/>
            <a:ext cx="1123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F6B7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F6B78"/>
                </a:solidFill>
                <a:latin typeface="Aptos"/>
                <a:ea typeface="Aptos"/>
                <a:cs typeface="Aptos"/>
              </a:rPr>
              <a:t>SignalR là kênh realtime; raw-log và MongoDB mới là nơi phục vụ history, audit và truy vết dài hạn.</a:t>
            </a:r>
          </a:p>
        </p:txBody>
      </p:sp>
    </p:spTree>
    <p:extLst>
      <p:ext uri="{BB962C8B-B14F-4D97-AF65-F5344CB8AC3E}">
        <p14:creationId xmlns:p14="http://schemas.microsoft.com/office/powerpoint/2010/main" val="7251846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2026-08-23T02:17:19.7300000Z</dcterms:created>
  <dcterms:modified xsi:type="dcterms:W3CDTF">2026-08-23T02:17:19.7300000Z</dcterms:modified>
</coreProperties>
</file>